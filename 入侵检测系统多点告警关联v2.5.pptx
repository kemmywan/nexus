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2" r:id="rId1"/>
  </p:sldMasterIdLst>
  <p:notesMasterIdLst>
    <p:notesMasterId r:id="rId32"/>
  </p:notesMasterIdLst>
  <p:handoutMasterIdLst>
    <p:handoutMasterId r:id="rId33"/>
  </p:handoutMasterIdLst>
  <p:sldIdLst>
    <p:sldId id="259" r:id="rId2"/>
    <p:sldId id="285" r:id="rId3"/>
    <p:sldId id="318" r:id="rId4"/>
    <p:sldId id="287" r:id="rId5"/>
    <p:sldId id="311" r:id="rId6"/>
    <p:sldId id="288" r:id="rId7"/>
    <p:sldId id="312" r:id="rId8"/>
    <p:sldId id="320" r:id="rId9"/>
    <p:sldId id="291" r:id="rId10"/>
    <p:sldId id="293" r:id="rId11"/>
    <p:sldId id="292" r:id="rId12"/>
    <p:sldId id="313" r:id="rId13"/>
    <p:sldId id="314" r:id="rId14"/>
    <p:sldId id="294" r:id="rId15"/>
    <p:sldId id="295" r:id="rId16"/>
    <p:sldId id="315" r:id="rId17"/>
    <p:sldId id="316" r:id="rId18"/>
    <p:sldId id="296" r:id="rId19"/>
    <p:sldId id="297" r:id="rId20"/>
    <p:sldId id="321" r:id="rId21"/>
    <p:sldId id="298" r:id="rId22"/>
    <p:sldId id="301" r:id="rId23"/>
    <p:sldId id="322" r:id="rId24"/>
    <p:sldId id="323" r:id="rId25"/>
    <p:sldId id="303" r:id="rId26"/>
    <p:sldId id="305" r:id="rId27"/>
    <p:sldId id="306" r:id="rId28"/>
    <p:sldId id="324" r:id="rId29"/>
    <p:sldId id="308" r:id="rId30"/>
    <p:sldId id="282"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6EAA"/>
    <a:srgbClr val="7FB1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74" autoAdjust="0"/>
    <p:restoredTop sz="65274" autoAdjust="0"/>
  </p:normalViewPr>
  <p:slideViewPr>
    <p:cSldViewPr snapToGrid="0">
      <p:cViewPr varScale="1">
        <p:scale>
          <a:sx n="72" d="100"/>
          <a:sy n="72" d="100"/>
        </p:scale>
        <p:origin x="1000" y="48"/>
      </p:cViewPr>
      <p:guideLst/>
    </p:cSldViewPr>
  </p:slideViewPr>
  <p:notesTextViewPr>
    <p:cViewPr>
      <p:scale>
        <a:sx n="3" d="2"/>
        <a:sy n="3" d="2"/>
      </p:scale>
      <p:origin x="0" y="0"/>
    </p:cViewPr>
  </p:notesTextViewPr>
  <p:notesViewPr>
    <p:cSldViewPr snapToGrid="0">
      <p:cViewPr varScale="1">
        <p:scale>
          <a:sx n="60" d="100"/>
          <a:sy n="60" d="100"/>
        </p:scale>
        <p:origin x="1496" y="5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2C1FBA-CF23-45CA-A289-03E32D160964}" type="datetimeFigureOut">
              <a:rPr lang="zh-CN" altLang="en-US" smtClean="0"/>
              <a:t>2025/10/9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F2B0C5-C56D-47E9-BCFE-D990A940F17B}" type="slidenum">
              <a:rPr lang="zh-CN" altLang="en-US" smtClean="0"/>
              <a:t>‹#›</a:t>
            </a:fld>
            <a:endParaRPr lang="zh-CN" altLang="en-US"/>
          </a:p>
        </p:txBody>
      </p:sp>
    </p:spTree>
    <p:extLst>
      <p:ext uri="{BB962C8B-B14F-4D97-AF65-F5344CB8AC3E}">
        <p14:creationId xmlns:p14="http://schemas.microsoft.com/office/powerpoint/2010/main" val="2713700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966BD8-0FC1-456F-BDC6-7D0CA8E36566}" type="datetimeFigureOut">
              <a:rPr lang="zh-CN" altLang="en-US" smtClean="0"/>
              <a:t>2025/10/9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CFC841-E2E1-4802-8701-94EA307E94B0}" type="slidenum">
              <a:rPr lang="zh-CN" altLang="en-US" smtClean="0"/>
              <a:t>‹#›</a:t>
            </a:fld>
            <a:endParaRPr lang="zh-CN" altLang="en-US"/>
          </a:p>
        </p:txBody>
      </p:sp>
    </p:spTree>
    <p:extLst>
      <p:ext uri="{BB962C8B-B14F-4D97-AF65-F5344CB8AC3E}">
        <p14:creationId xmlns:p14="http://schemas.microsoft.com/office/powerpoint/2010/main" val="2014598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在当今的安全场景中，许多针对多种系统的攻击日趋复杂化，尤其是高级可持续性威胁</a:t>
            </a:r>
            <a:r>
              <a:rPr lang="en-US" altLang="zh-CN" sz="1200" kern="1200" dirty="0">
                <a:solidFill>
                  <a:schemeClr val="tx1"/>
                </a:solidFill>
                <a:effectLst/>
                <a:latin typeface="+mn-lt"/>
                <a:ea typeface="+mn-ea"/>
                <a:cs typeface="+mn-cs"/>
              </a:rPr>
              <a:t>(Advanced Persistent Threats, APTs)[1]</a:t>
            </a:r>
            <a:r>
              <a:rPr lang="zh-CN" altLang="zh-CN" sz="1200" kern="1200" dirty="0">
                <a:solidFill>
                  <a:schemeClr val="tx1"/>
                </a:solidFill>
                <a:effectLst/>
                <a:latin typeface="+mn-lt"/>
                <a:ea typeface="+mn-ea"/>
                <a:cs typeface="+mn-cs"/>
              </a:rPr>
              <a:t>，如何将其完整高效地从海量的安全日志和数据中识别出来是安全检测的题中之义，而对其进行攻击链路重构不仅能有效为安全系统修补提供重要信息，也对后续攻击的研究有着十分重要的意义。</a:t>
            </a:r>
          </a:p>
          <a:p>
            <a:r>
              <a:rPr lang="zh-CN" altLang="zh-CN" sz="1200" kern="1200" dirty="0">
                <a:solidFill>
                  <a:schemeClr val="tx1"/>
                </a:solidFill>
                <a:effectLst/>
                <a:latin typeface="+mn-lt"/>
                <a:ea typeface="+mn-ea"/>
                <a:cs typeface="+mn-cs"/>
              </a:rPr>
              <a:t>在大部分企业系统中，在系统、网络、服务器和代理等等多种场景下的安全事件记录机制都已经相当完善，而如何充分利用这些收集到的安全日志进行有效的异常检测一直是研究的重点课题。近些年研究人员已提出多种新的方法推动该领域的发展，但这些最新的解决方案往往针对特定的单一日志类型（如系统日志</a:t>
            </a:r>
            <a:r>
              <a:rPr lang="en-US" altLang="zh-CN" sz="1200" kern="1200" dirty="0">
                <a:solidFill>
                  <a:schemeClr val="tx1"/>
                </a:solidFill>
                <a:effectLst/>
                <a:latin typeface="+mn-lt"/>
                <a:ea typeface="+mn-ea"/>
                <a:cs typeface="+mn-cs"/>
              </a:rPr>
              <a:t>[2-7]</a:t>
            </a:r>
            <a:r>
              <a:rPr lang="zh-CN" altLang="zh-CN" sz="1200" kern="1200" dirty="0">
                <a:solidFill>
                  <a:schemeClr val="tx1"/>
                </a:solidFill>
                <a:effectLst/>
                <a:latin typeface="+mn-lt"/>
                <a:ea typeface="+mn-ea"/>
                <a:cs typeface="+mn-cs"/>
              </a:rPr>
              <a:t>或网络日志</a:t>
            </a:r>
            <a:r>
              <a:rPr lang="en-US" altLang="zh-CN" sz="1200" kern="1200" dirty="0">
                <a:solidFill>
                  <a:schemeClr val="tx1"/>
                </a:solidFill>
                <a:effectLst/>
                <a:latin typeface="+mn-lt"/>
                <a:ea typeface="+mn-ea"/>
                <a:cs typeface="+mn-cs"/>
              </a:rPr>
              <a:t>[8-10]</a:t>
            </a:r>
            <a:r>
              <a:rPr lang="zh-CN" altLang="zh-CN" sz="1200" kern="1200" dirty="0">
                <a:solidFill>
                  <a:schemeClr val="tx1"/>
                </a:solidFill>
                <a:effectLst/>
                <a:latin typeface="+mn-lt"/>
                <a:ea typeface="+mn-ea"/>
                <a:cs typeface="+mn-cs"/>
              </a:rPr>
              <a:t>）进行异常检测，无法针对来自不同日志类型的异常进行因果关联分析。</a:t>
            </a:r>
          </a:p>
          <a:p>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4</a:t>
            </a:fld>
            <a:endParaRPr lang="zh-CN" altLang="en-US"/>
          </a:p>
        </p:txBody>
      </p:sp>
    </p:spTree>
    <p:extLst>
      <p:ext uri="{BB962C8B-B14F-4D97-AF65-F5344CB8AC3E}">
        <p14:creationId xmlns:p14="http://schemas.microsoft.com/office/powerpoint/2010/main" val="1907556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目前绝大多数异常检测框架都基于溯源图数据模型</a:t>
            </a:r>
            <a:r>
              <a:rPr lang="en-US" altLang="zh-CN" sz="1200" kern="1200" dirty="0">
                <a:solidFill>
                  <a:schemeClr val="tx1"/>
                </a:solidFill>
                <a:effectLst/>
                <a:latin typeface="+mn-lt"/>
                <a:ea typeface="+mn-ea"/>
                <a:cs typeface="+mn-cs"/>
              </a:rPr>
              <a:t>[11]</a:t>
            </a:r>
            <a:r>
              <a:rPr lang="zh-CN" altLang="zh-CN" sz="1200" kern="1200" dirty="0">
                <a:solidFill>
                  <a:schemeClr val="tx1"/>
                </a:solidFill>
                <a:effectLst/>
                <a:latin typeface="+mn-lt"/>
                <a:ea typeface="+mn-ea"/>
                <a:cs typeface="+mn-cs"/>
              </a:rPr>
              <a:t>，在溯源图上的图论方法已经成为许多现代异常检测与攻击溯源框架的基础架构，这使得跨复杂系统对安全相关事件的关联和分析成为可能。溯源图方法将日志涉及的实体与实体间的交互等抽象化为溯源图中的点和边，随后应用传统图论方法或图神经网络等多种工具对其进行进一步剖析利用。如</a:t>
            </a:r>
            <a:r>
              <a:rPr lang="en-US" altLang="zh-CN" sz="1200" kern="1200" dirty="0" err="1">
                <a:solidFill>
                  <a:schemeClr val="tx1"/>
                </a:solidFill>
                <a:effectLst/>
                <a:latin typeface="+mn-lt"/>
                <a:ea typeface="+mn-ea"/>
                <a:cs typeface="+mn-cs"/>
              </a:rPr>
              <a:t>Nodlink</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将异常检测和攻击链路重构过程建模为斯坦纳树问题，并求解出简洁的攻击链路；</a:t>
            </a:r>
            <a:r>
              <a:rPr lang="en-US" altLang="zh-CN" sz="1200" kern="1200" dirty="0">
                <a:solidFill>
                  <a:schemeClr val="tx1"/>
                </a:solidFill>
                <a:effectLst/>
                <a:latin typeface="+mn-lt"/>
                <a:ea typeface="+mn-ea"/>
                <a:cs typeface="+mn-cs"/>
              </a:rPr>
              <a:t>MAGIC[5]</a:t>
            </a:r>
            <a:r>
              <a:rPr lang="zh-CN" altLang="zh-CN" sz="1200" kern="1200" dirty="0">
                <a:solidFill>
                  <a:schemeClr val="tx1"/>
                </a:solidFill>
                <a:effectLst/>
                <a:latin typeface="+mn-lt"/>
                <a:ea typeface="+mn-ea"/>
                <a:cs typeface="+mn-cs"/>
              </a:rPr>
              <a:t>等方法利用图上的机器学习模型来进行异常检测。这些方法为我们提供了很好的启发，综合这些方法的优势，我们考虑将分别针对系统日志与网络日志的检测进行汇总，在汇总后的溯源图上进行节点的异常关联，用图的连通性来描述攻击实体间的关联度，从而进行完整的多源攻击检测。</a:t>
            </a:r>
          </a:p>
          <a:p>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5</a:t>
            </a:fld>
            <a:endParaRPr lang="zh-CN" altLang="en-US"/>
          </a:p>
        </p:txBody>
      </p:sp>
    </p:spTree>
    <p:extLst>
      <p:ext uri="{BB962C8B-B14F-4D97-AF65-F5344CB8AC3E}">
        <p14:creationId xmlns:p14="http://schemas.microsoft.com/office/powerpoint/2010/main" val="312520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针对利用多源日志多点关联来捕捉检测这样的跨域攻击这一课题，我们展开多方面调研和实验。多源日志的关联存在许多难点。比如不同日志收集方法导致的日志格式的不同，将会使得在对日志的解析过程中不得不考虑不同标签的相通性以及其背后的实际意义，以及其不同的语义丰富度和命名规则会为后续的模型训练效果以及检测算法设计有不可忽略的影响。同时异源日志的检测算法也需要针对其特点进行不同的设计，这意味着适用于系统日志的异常检测框架很大可能无法直接迁移至网络日志，反之同理。在</a:t>
            </a:r>
            <a:r>
              <a:rPr lang="en-US" altLang="zh-CN" sz="1200" kern="1200" dirty="0">
                <a:solidFill>
                  <a:schemeClr val="tx1"/>
                </a:solidFill>
                <a:effectLst/>
                <a:latin typeface="+mn-lt"/>
                <a:ea typeface="+mn-ea"/>
                <a:cs typeface="+mn-cs"/>
              </a:rPr>
              <a:t>PRP</a:t>
            </a:r>
            <a:r>
              <a:rPr lang="zh-CN" altLang="zh-CN" sz="1200" kern="1200" dirty="0">
                <a:solidFill>
                  <a:schemeClr val="tx1"/>
                </a:solidFill>
                <a:effectLst/>
                <a:latin typeface="+mn-lt"/>
                <a:ea typeface="+mn-ea"/>
                <a:cs typeface="+mn-cs"/>
              </a:rPr>
              <a:t>初期曾经考虑过这样一种思路：将网络实体节点与系统实体节点进行关联，随后根据日志条目对节点间的边进行编码，最后在一张溯源图上实现多源的异常检测与攻击链路重构。然而后续调研中发现两者的节点关联逻辑上存在难度，并且其日志条目中的语义差距过大，简单的合并会损坏其中原本蕴含的信息，因此后续转向其他尝试方向。</a:t>
            </a:r>
          </a:p>
          <a:p>
            <a:r>
              <a:rPr lang="zh-CN" altLang="zh-CN" sz="1200" kern="1200" dirty="0">
                <a:solidFill>
                  <a:schemeClr val="tx1"/>
                </a:solidFill>
                <a:effectLst/>
                <a:latin typeface="+mn-lt"/>
                <a:ea typeface="+mn-ea"/>
                <a:cs typeface="+mn-cs"/>
              </a:rPr>
              <a:t>目前绝大多数异常检测框架都基于溯源图数据模型</a:t>
            </a:r>
            <a:r>
              <a:rPr lang="en-US" altLang="zh-CN" sz="1200" kern="1200" dirty="0">
                <a:solidFill>
                  <a:schemeClr val="tx1"/>
                </a:solidFill>
                <a:effectLst/>
                <a:latin typeface="+mn-lt"/>
                <a:ea typeface="+mn-ea"/>
                <a:cs typeface="+mn-cs"/>
              </a:rPr>
              <a:t>[11]</a:t>
            </a:r>
            <a:r>
              <a:rPr lang="zh-CN" altLang="zh-CN" sz="1200" kern="1200" dirty="0">
                <a:solidFill>
                  <a:schemeClr val="tx1"/>
                </a:solidFill>
                <a:effectLst/>
                <a:latin typeface="+mn-lt"/>
                <a:ea typeface="+mn-ea"/>
                <a:cs typeface="+mn-cs"/>
              </a:rPr>
              <a:t>，在溯源图上的图论方法已经成为许多现代异常检测与攻击溯源框架的基础架构，这使得跨复杂系统对安全相关事件的关联和分析成为可能。溯源图方法将日志涉及的实体与实体间的交互等抽象化为溯源图中的点和边，随后应用传统图论方法或图神经网络等多种工具对其进行进一步剖析利用。如</a:t>
            </a:r>
            <a:r>
              <a:rPr lang="en-US" altLang="zh-CN" sz="1200" kern="1200" dirty="0" err="1">
                <a:solidFill>
                  <a:schemeClr val="tx1"/>
                </a:solidFill>
                <a:effectLst/>
                <a:latin typeface="+mn-lt"/>
                <a:ea typeface="+mn-ea"/>
                <a:cs typeface="+mn-cs"/>
              </a:rPr>
              <a:t>Nodlink</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将异常检测和攻击链路重构过程建模为斯坦纳树问题，并求解出简洁的攻击链路；</a:t>
            </a:r>
            <a:r>
              <a:rPr lang="en-US" altLang="zh-CN" sz="1200" kern="1200" dirty="0">
                <a:solidFill>
                  <a:schemeClr val="tx1"/>
                </a:solidFill>
                <a:effectLst/>
                <a:latin typeface="+mn-lt"/>
                <a:ea typeface="+mn-ea"/>
                <a:cs typeface="+mn-cs"/>
              </a:rPr>
              <a:t>MAGIC[5]</a:t>
            </a:r>
            <a:r>
              <a:rPr lang="zh-CN" altLang="zh-CN" sz="1200" kern="1200" dirty="0">
                <a:solidFill>
                  <a:schemeClr val="tx1"/>
                </a:solidFill>
                <a:effectLst/>
                <a:latin typeface="+mn-lt"/>
                <a:ea typeface="+mn-ea"/>
                <a:cs typeface="+mn-cs"/>
              </a:rPr>
              <a:t>等方法利用图上的机器学习模型来进行异常检测。这些方法为我们提供了很好的启发，综合这些方法的优势，我们考虑将分别针对系统日志与网络日志的检测进行汇总，在汇总后的溯源图上进行节点的异常关联，用图的连通性来描述攻击实体间的关联度，从而进行完整的多源攻击检测。</a:t>
            </a:r>
          </a:p>
          <a:p>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6</a:t>
            </a:fld>
            <a:endParaRPr lang="zh-CN" altLang="en-US"/>
          </a:p>
        </p:txBody>
      </p:sp>
    </p:spTree>
    <p:extLst>
      <p:ext uri="{BB962C8B-B14F-4D97-AF65-F5344CB8AC3E}">
        <p14:creationId xmlns:p14="http://schemas.microsoft.com/office/powerpoint/2010/main" val="7776992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在本</a:t>
            </a:r>
            <a:r>
              <a:rPr lang="en-US" altLang="zh-CN" sz="1200" kern="1200" dirty="0">
                <a:solidFill>
                  <a:schemeClr val="tx1"/>
                </a:solidFill>
                <a:effectLst/>
                <a:latin typeface="+mn-lt"/>
                <a:ea typeface="+mn-ea"/>
                <a:cs typeface="+mn-cs"/>
              </a:rPr>
              <a:t>PRP</a:t>
            </a:r>
            <a:r>
              <a:rPr lang="zh-CN" altLang="zh-CN" sz="1200" kern="1200" dirty="0">
                <a:solidFill>
                  <a:schemeClr val="tx1"/>
                </a:solidFill>
                <a:effectLst/>
                <a:latin typeface="+mn-lt"/>
                <a:ea typeface="+mn-ea"/>
                <a:cs typeface="+mn-cs"/>
              </a:rPr>
              <a:t>中，我们围绕多源检测这一目的进行了多方面的框架调研，从不同的检测框架中收集到了许多实用且有效的设计与评估信息。如基于系统日志的</a:t>
            </a:r>
            <a:r>
              <a:rPr lang="en-US" altLang="zh-CN" sz="1200" kern="1200" dirty="0">
                <a:solidFill>
                  <a:schemeClr val="tx1"/>
                </a:solidFill>
                <a:effectLst/>
                <a:latin typeface="+mn-lt"/>
                <a:ea typeface="+mn-ea"/>
                <a:cs typeface="+mn-cs"/>
              </a:rPr>
              <a:t>Flash[4]</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ground truth</a:t>
            </a:r>
            <a:r>
              <a:rPr lang="zh-CN" altLang="zh-CN" sz="1200" kern="1200" dirty="0">
                <a:solidFill>
                  <a:schemeClr val="tx1"/>
                </a:solidFill>
                <a:effectLst/>
                <a:latin typeface="+mn-lt"/>
                <a:ea typeface="+mn-ea"/>
                <a:cs typeface="+mn-cs"/>
              </a:rPr>
              <a:t>及其评估思路，在我们框架的多个步骤中均有体现和应用；而</a:t>
            </a:r>
            <a:r>
              <a:rPr lang="en-US" altLang="zh-CN" sz="1200" kern="1200" dirty="0">
                <a:solidFill>
                  <a:schemeClr val="tx1"/>
                </a:solidFill>
                <a:effectLst/>
                <a:latin typeface="+mn-lt"/>
                <a:ea typeface="+mn-ea"/>
                <a:cs typeface="+mn-cs"/>
              </a:rPr>
              <a:t>Argus[10]</a:t>
            </a:r>
            <a:r>
              <a:rPr lang="zh-CN" altLang="zh-CN" sz="1200" kern="1200" dirty="0">
                <a:solidFill>
                  <a:schemeClr val="tx1"/>
                </a:solidFill>
                <a:effectLst/>
                <a:latin typeface="+mn-lt"/>
                <a:ea typeface="+mn-ea"/>
                <a:cs typeface="+mn-cs"/>
              </a:rPr>
              <a:t>作为针对网络流量日志的检测框架，经过实验，我们发现其在溯源图构建等方面有许多有效而简洁的设计，并在</a:t>
            </a:r>
            <a:r>
              <a:rPr lang="en-US" altLang="zh-CN" sz="1200" kern="1200" dirty="0">
                <a:solidFill>
                  <a:schemeClr val="tx1"/>
                </a:solidFill>
                <a:effectLst/>
                <a:latin typeface="+mn-lt"/>
                <a:ea typeface="+mn-ea"/>
                <a:cs typeface="+mn-cs"/>
              </a:rPr>
              <a:t>OPTC</a:t>
            </a:r>
            <a:r>
              <a:rPr lang="zh-CN" altLang="zh-CN" sz="1200" kern="1200" dirty="0">
                <a:solidFill>
                  <a:schemeClr val="tx1"/>
                </a:solidFill>
                <a:effectLst/>
                <a:latin typeface="+mn-lt"/>
                <a:ea typeface="+mn-ea"/>
                <a:cs typeface="+mn-cs"/>
              </a:rPr>
              <a:t>数据集</a:t>
            </a:r>
            <a:r>
              <a:rPr lang="en-US" altLang="zh-CN" sz="1200" kern="1200" dirty="0">
                <a:solidFill>
                  <a:schemeClr val="tx1"/>
                </a:solidFill>
                <a:effectLst/>
                <a:latin typeface="+mn-lt"/>
                <a:ea typeface="+mn-ea"/>
                <a:cs typeface="+mn-cs"/>
              </a:rPr>
              <a:t>[12]</a:t>
            </a:r>
            <a:r>
              <a:rPr lang="zh-CN" altLang="zh-CN" sz="1200" kern="1200" dirty="0">
                <a:solidFill>
                  <a:schemeClr val="tx1"/>
                </a:solidFill>
                <a:effectLst/>
                <a:latin typeface="+mn-lt"/>
                <a:ea typeface="+mn-ea"/>
                <a:cs typeface="+mn-cs"/>
              </a:rPr>
              <a:t>上能够起到不错的效果。</a:t>
            </a:r>
          </a:p>
          <a:p>
            <a:r>
              <a:rPr lang="zh-CN" altLang="zh-CN" sz="1200" kern="1200" dirty="0">
                <a:solidFill>
                  <a:schemeClr val="tx1"/>
                </a:solidFill>
                <a:effectLst/>
                <a:latin typeface="+mn-lt"/>
                <a:ea typeface="+mn-ea"/>
                <a:cs typeface="+mn-cs"/>
              </a:rPr>
              <a:t>经过半年的学习、研究、实践，我们提出最终的</a:t>
            </a:r>
            <a:r>
              <a:rPr lang="en-US" altLang="zh-CN" sz="1200" kern="1200" dirty="0">
                <a:solidFill>
                  <a:schemeClr val="tx1"/>
                </a:solidFill>
                <a:effectLst/>
                <a:latin typeface="+mn-lt"/>
                <a:ea typeface="+mn-ea"/>
                <a:cs typeface="+mn-cs"/>
              </a:rPr>
              <a:t>Nexus</a:t>
            </a:r>
            <a:r>
              <a:rPr lang="zh-CN" altLang="zh-CN" sz="1200" kern="1200" dirty="0">
                <a:solidFill>
                  <a:schemeClr val="tx1"/>
                </a:solidFill>
                <a:effectLst/>
                <a:latin typeface="+mn-lt"/>
                <a:ea typeface="+mn-ea"/>
                <a:cs typeface="+mn-cs"/>
              </a:rPr>
              <a:t>模型，其框架设计主要由三部分组成：基于</a:t>
            </a:r>
            <a:r>
              <a:rPr lang="en-US" altLang="zh-CN" sz="1200" kern="1200" dirty="0">
                <a:solidFill>
                  <a:schemeClr val="tx1"/>
                </a:solidFill>
                <a:effectLst/>
                <a:latin typeface="+mn-lt"/>
                <a:ea typeface="+mn-ea"/>
                <a:cs typeface="+mn-cs"/>
              </a:rPr>
              <a:t>MAGIC[5]</a:t>
            </a:r>
            <a:r>
              <a:rPr lang="zh-CN" altLang="zh-CN" sz="1200" kern="1200" dirty="0">
                <a:solidFill>
                  <a:schemeClr val="tx1"/>
                </a:solidFill>
                <a:effectLst/>
                <a:latin typeface="+mn-lt"/>
                <a:ea typeface="+mn-ea"/>
                <a:cs typeface="+mn-cs"/>
              </a:rPr>
              <a:t>的轻量级系统日志异常检测模块；基于</a:t>
            </a:r>
            <a:r>
              <a:rPr lang="en-US" altLang="zh-CN" sz="1200" kern="1200" dirty="0" err="1">
                <a:solidFill>
                  <a:schemeClr val="tx1"/>
                </a:solidFill>
                <a:effectLst/>
                <a:latin typeface="+mn-lt"/>
                <a:ea typeface="+mn-ea"/>
                <a:cs typeface="+mn-cs"/>
              </a:rPr>
              <a:t>FastText</a:t>
            </a:r>
            <a:r>
              <a:rPr lang="en-US" altLang="zh-CN" sz="1200" kern="1200" dirty="0">
                <a:solidFill>
                  <a:schemeClr val="tx1"/>
                </a:solidFill>
                <a:effectLst/>
                <a:latin typeface="+mn-lt"/>
                <a:ea typeface="+mn-ea"/>
                <a:cs typeface="+mn-cs"/>
              </a:rPr>
              <a:t>[13]</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VAE[14]</a:t>
            </a:r>
            <a:r>
              <a:rPr lang="zh-CN" altLang="zh-CN" sz="1200" kern="1200" dirty="0">
                <a:solidFill>
                  <a:schemeClr val="tx1"/>
                </a:solidFill>
                <a:effectLst/>
                <a:latin typeface="+mn-lt"/>
                <a:ea typeface="+mn-ea"/>
                <a:cs typeface="+mn-cs"/>
              </a:rPr>
              <a:t>的网络日志异常检测模块；以及攻击链路重构模块，其将前两者得到的结果进行溯源重构与关联评估。实验结果表明，我们的模型相比于仅基于单一日志类型的异常检测和攻击链路重构模型，最终的检测和重构结果具有更高的准确度和可靠性，同时也能够为进一步研究提供具有实用价值的攻击链路信息。</a:t>
            </a:r>
          </a:p>
        </p:txBody>
      </p:sp>
      <p:sp>
        <p:nvSpPr>
          <p:cNvPr id="4" name="灯片编号占位符 3"/>
          <p:cNvSpPr>
            <a:spLocks noGrp="1"/>
          </p:cNvSpPr>
          <p:nvPr>
            <p:ph type="sldNum" sz="quarter" idx="5"/>
          </p:nvPr>
        </p:nvSpPr>
        <p:spPr/>
        <p:txBody>
          <a:bodyPr/>
          <a:lstStyle/>
          <a:p>
            <a:fld id="{E3CFC841-E2E1-4802-8701-94EA307E94B0}" type="slidenum">
              <a:rPr lang="zh-CN" altLang="en-US" smtClean="0"/>
              <a:t>7</a:t>
            </a:fld>
            <a:endParaRPr lang="zh-CN" altLang="en-US"/>
          </a:p>
        </p:txBody>
      </p:sp>
    </p:spTree>
    <p:extLst>
      <p:ext uri="{BB962C8B-B14F-4D97-AF65-F5344CB8AC3E}">
        <p14:creationId xmlns:p14="http://schemas.microsoft.com/office/powerpoint/2010/main" val="3380394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为实现基于系统日志和网络日志的多源告警关联分析，我们的方法包含三个模块：系统日志异常检测模块</a:t>
            </a:r>
            <a:r>
              <a:rPr lang="en-US" altLang="zh-CN" sz="1200" kern="1200" dirty="0">
                <a:solidFill>
                  <a:schemeClr val="tx1"/>
                </a:solidFill>
                <a:effectLst/>
                <a:latin typeface="+mn-lt"/>
                <a:ea typeface="+mn-ea"/>
                <a:cs typeface="+mn-cs"/>
              </a:rPr>
              <a:t>(host-detect</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2.2</a:t>
            </a:r>
            <a:r>
              <a:rPr lang="zh-CN" altLang="zh-CN" sz="1200" kern="1200" dirty="0">
                <a:solidFill>
                  <a:schemeClr val="tx1"/>
                </a:solidFill>
                <a:effectLst/>
                <a:latin typeface="+mn-lt"/>
                <a:ea typeface="+mn-ea"/>
                <a:cs typeface="+mn-cs"/>
              </a:rPr>
              <a:t>节</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、网络日志异常检测模块</a:t>
            </a:r>
            <a:r>
              <a:rPr lang="en-US" altLang="zh-CN" sz="1200" kern="1200" dirty="0">
                <a:solidFill>
                  <a:schemeClr val="tx1"/>
                </a:solidFill>
                <a:effectLst/>
                <a:latin typeface="+mn-lt"/>
                <a:ea typeface="+mn-ea"/>
                <a:cs typeface="+mn-cs"/>
              </a:rPr>
              <a:t>(net-detect</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2.3</a:t>
            </a:r>
            <a:r>
              <a:rPr lang="zh-CN" altLang="zh-CN" sz="1200" kern="1200" dirty="0">
                <a:solidFill>
                  <a:schemeClr val="tx1"/>
                </a:solidFill>
                <a:effectLst/>
                <a:latin typeface="+mn-lt"/>
                <a:ea typeface="+mn-ea"/>
                <a:cs typeface="+mn-cs"/>
              </a:rPr>
              <a:t>节</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、攻击路径重构模块</a:t>
            </a:r>
            <a:r>
              <a:rPr lang="en-US" altLang="zh-CN" sz="1200" kern="1200" dirty="0">
                <a:solidFill>
                  <a:schemeClr val="tx1"/>
                </a:solidFill>
                <a:effectLst/>
                <a:latin typeface="+mn-lt"/>
                <a:ea typeface="+mn-ea"/>
                <a:cs typeface="+mn-cs"/>
              </a:rPr>
              <a:t>(investigate</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2.4</a:t>
            </a:r>
            <a:r>
              <a:rPr lang="zh-CN" altLang="zh-CN" sz="1200" kern="1200" dirty="0">
                <a:solidFill>
                  <a:schemeClr val="tx1"/>
                </a:solidFill>
                <a:effectLst/>
                <a:latin typeface="+mn-lt"/>
                <a:ea typeface="+mn-ea"/>
                <a:cs typeface="+mn-cs"/>
              </a:rPr>
              <a:t>节和</a:t>
            </a:r>
            <a:r>
              <a:rPr lang="en-US" altLang="zh-CN" sz="1200" kern="1200" dirty="0">
                <a:solidFill>
                  <a:schemeClr val="tx1"/>
                </a:solidFill>
                <a:effectLst/>
                <a:latin typeface="+mn-lt"/>
                <a:ea typeface="+mn-ea"/>
                <a:cs typeface="+mn-cs"/>
              </a:rPr>
              <a:t>2.5</a:t>
            </a:r>
            <a:r>
              <a:rPr lang="zh-CN" altLang="zh-CN" sz="1200" kern="1200" dirty="0">
                <a:solidFill>
                  <a:schemeClr val="tx1"/>
                </a:solidFill>
                <a:effectLst/>
                <a:latin typeface="+mn-lt"/>
                <a:ea typeface="+mn-ea"/>
                <a:cs typeface="+mn-cs"/>
              </a:rPr>
              <a:t>节</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首先，将原始日志数据建模为溯源图，并利用对应的异常检测模型对系统日志和网络日志分别做异常检测，得到一系列告警节点。然后，通过日志的时间戳信息关联两种日志的告警节点，得到一个包含两种日志的告警节点信息的溯源图；最后，将攻击路径重构建模为斯坦纳树问题，以告警节点为终端，求解出其在溯源图中的斯坦纳树作为攻击路径。</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中</a:t>
            </a:r>
            <a:r>
              <a:rPr lang="en-US" altLang="zh-CN" sz="1200" kern="1200" dirty="0">
                <a:solidFill>
                  <a:schemeClr val="tx1"/>
                </a:solidFill>
                <a:effectLst/>
                <a:latin typeface="+mn-lt"/>
                <a:ea typeface="+mn-ea"/>
                <a:cs typeface="+mn-cs"/>
              </a:rPr>
              <a:t>HOST_LOG</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NET_LOG</a:t>
            </a:r>
            <a:r>
              <a:rPr lang="zh-CN" altLang="zh-CN" sz="1200" kern="1200" dirty="0">
                <a:solidFill>
                  <a:schemeClr val="tx1"/>
                </a:solidFill>
                <a:effectLst/>
                <a:latin typeface="+mn-lt"/>
                <a:ea typeface="+mn-ea"/>
                <a:cs typeface="+mn-cs"/>
              </a:rPr>
              <a:t>分别表示用于训练与测试的系统日志和网络日志，分别经由</a:t>
            </a:r>
            <a:r>
              <a:rPr lang="en-US" altLang="zh-CN" sz="1200" kern="1200" dirty="0">
                <a:solidFill>
                  <a:schemeClr val="tx1"/>
                </a:solidFill>
                <a:effectLst/>
                <a:latin typeface="+mn-lt"/>
                <a:ea typeface="+mn-ea"/>
                <a:cs typeface="+mn-cs"/>
              </a:rPr>
              <a:t>host-detect</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net-detect</a:t>
            </a:r>
            <a:r>
              <a:rPr lang="zh-CN" altLang="zh-CN" sz="1200" kern="1200" dirty="0">
                <a:solidFill>
                  <a:schemeClr val="tx1"/>
                </a:solidFill>
                <a:effectLst/>
                <a:latin typeface="+mn-lt"/>
                <a:ea typeface="+mn-ea"/>
                <a:cs typeface="+mn-cs"/>
              </a:rPr>
              <a:t>模块处理，产出异常日志条目的标记结果</a:t>
            </a:r>
            <a:r>
              <a:rPr lang="en-US" altLang="zh-CN" sz="1200" kern="1200" dirty="0">
                <a:solidFill>
                  <a:schemeClr val="tx1"/>
                </a:solidFill>
                <a:effectLst/>
                <a:latin typeface="+mn-lt"/>
                <a:ea typeface="+mn-ea"/>
                <a:cs typeface="+mn-cs"/>
              </a:rPr>
              <a:t>HOST_ALARMS</a:t>
            </a:r>
            <a:r>
              <a:rPr lang="zh-CN" altLang="zh-CN" sz="1200" kern="1200" dirty="0">
                <a:solidFill>
                  <a:schemeClr val="tx1"/>
                </a:solidFill>
                <a:effectLst/>
                <a:latin typeface="+mn-lt"/>
                <a:ea typeface="+mn-ea"/>
                <a:cs typeface="+mn-cs"/>
              </a:rPr>
              <a:t>和异常网络节点所关联的系统事件列表</a:t>
            </a:r>
            <a:r>
              <a:rPr lang="en-US" altLang="zh-CN" sz="1200" kern="1200" dirty="0">
                <a:solidFill>
                  <a:schemeClr val="tx1"/>
                </a:solidFill>
                <a:effectLst/>
                <a:latin typeface="+mn-lt"/>
                <a:ea typeface="+mn-ea"/>
                <a:cs typeface="+mn-cs"/>
              </a:rPr>
              <a:t>NET_ALARMS</a:t>
            </a:r>
            <a:r>
              <a:rPr lang="zh-CN" altLang="zh-CN" sz="1200" kern="1200" dirty="0">
                <a:solidFill>
                  <a:schemeClr val="tx1"/>
                </a:solidFill>
                <a:effectLst/>
                <a:latin typeface="+mn-lt"/>
                <a:ea typeface="+mn-ea"/>
                <a:cs typeface="+mn-cs"/>
              </a:rPr>
              <a:t>。这两者在</a:t>
            </a:r>
            <a:r>
              <a:rPr lang="en-US" altLang="zh-CN" sz="1200" kern="1200" dirty="0">
                <a:solidFill>
                  <a:schemeClr val="tx1"/>
                </a:solidFill>
                <a:effectLst/>
                <a:latin typeface="+mn-lt"/>
                <a:ea typeface="+mn-ea"/>
                <a:cs typeface="+mn-cs"/>
              </a:rPr>
              <a:t>investigate</a:t>
            </a:r>
            <a:r>
              <a:rPr lang="zh-CN" altLang="zh-CN" sz="1200" kern="1200" dirty="0">
                <a:solidFill>
                  <a:schemeClr val="tx1"/>
                </a:solidFill>
                <a:effectLst/>
                <a:latin typeface="+mn-lt"/>
                <a:ea typeface="+mn-ea"/>
                <a:cs typeface="+mn-cs"/>
              </a:rPr>
              <a:t>环节中进一步处理，最后得到最终的攻击链路标记结果</a:t>
            </a:r>
            <a:r>
              <a:rPr lang="en-US" altLang="zh-CN" sz="1200" kern="1200" dirty="0">
                <a:solidFill>
                  <a:schemeClr val="tx1"/>
                </a:solidFill>
                <a:effectLst/>
                <a:latin typeface="+mn-lt"/>
                <a:ea typeface="+mn-ea"/>
                <a:cs typeface="+mn-cs"/>
              </a:rPr>
              <a:t>FINAL_ALARMS</a:t>
            </a:r>
            <a:r>
              <a:rPr lang="zh-CN" altLang="zh-CN" sz="120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9</a:t>
            </a:fld>
            <a:endParaRPr lang="zh-CN" altLang="en-US"/>
          </a:p>
        </p:txBody>
      </p:sp>
    </p:spTree>
    <p:extLst>
      <p:ext uri="{BB962C8B-B14F-4D97-AF65-F5344CB8AC3E}">
        <p14:creationId xmlns:p14="http://schemas.microsoft.com/office/powerpoint/2010/main" val="1597877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我们在</a:t>
            </a:r>
            <a:r>
              <a:rPr lang="en-US" altLang="zh-CN" sz="1200" kern="1200" dirty="0">
                <a:solidFill>
                  <a:schemeClr val="tx1"/>
                </a:solidFill>
                <a:effectLst/>
                <a:latin typeface="+mn-lt"/>
                <a:ea typeface="+mn-ea"/>
                <a:cs typeface="+mn-cs"/>
              </a:rPr>
              <a:t>MAGIC[5]</a:t>
            </a:r>
            <a:r>
              <a:rPr lang="zh-CN" altLang="zh-CN" sz="1200" kern="1200" dirty="0">
                <a:solidFill>
                  <a:schemeClr val="tx1"/>
                </a:solidFill>
                <a:effectLst/>
                <a:latin typeface="+mn-lt"/>
                <a:ea typeface="+mn-ea"/>
                <a:cs typeface="+mn-cs"/>
              </a:rPr>
              <a:t>的基础上实现了系统日志的异常检测模型，其主要分为三个步骤，即溯源图构建、图表示学习和异常检测。我们对良性日志和含有异常条目的日志分别构建溯源图，然后在良性日志的溯源图上训练图表示模型，提取出良性溯源图的特征。利用这个模型，在含有异常条目的日志的溯源图中计算节点的异常分数，并进一步找出异常节点。</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中，原始的系统日志数据</a:t>
            </a:r>
            <a:r>
              <a:rPr lang="en-US" altLang="zh-CN" sz="1200" kern="1200" dirty="0">
                <a:solidFill>
                  <a:schemeClr val="tx1"/>
                </a:solidFill>
                <a:effectLst/>
                <a:latin typeface="+mn-lt"/>
                <a:ea typeface="+mn-ea"/>
                <a:cs typeface="+mn-cs"/>
              </a:rPr>
              <a:t>HOST_LOG</a:t>
            </a:r>
            <a:r>
              <a:rPr lang="zh-CN" altLang="zh-CN" sz="1200" kern="1200" dirty="0">
                <a:solidFill>
                  <a:schemeClr val="tx1"/>
                </a:solidFill>
                <a:effectLst/>
                <a:latin typeface="+mn-lt"/>
                <a:ea typeface="+mn-ea"/>
                <a:cs typeface="+mn-cs"/>
              </a:rPr>
              <a:t>首先经过溯源图构建</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Graph_construct</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生成溯源图</a:t>
            </a:r>
            <a:r>
              <a:rPr lang="en-US" altLang="zh-CN" sz="1200" kern="1200" dirty="0">
                <a:solidFill>
                  <a:schemeClr val="tx1"/>
                </a:solidFill>
                <a:effectLst/>
                <a:latin typeface="+mn-lt"/>
                <a:ea typeface="+mn-ea"/>
                <a:cs typeface="+mn-cs"/>
              </a:rPr>
              <a:t>PROV_GRAPH</a:t>
            </a:r>
            <a:r>
              <a:rPr lang="zh-CN" altLang="zh-CN" sz="1200" kern="1200" dirty="0">
                <a:solidFill>
                  <a:schemeClr val="tx1"/>
                </a:solidFill>
                <a:effectLst/>
                <a:latin typeface="+mn-lt"/>
                <a:ea typeface="+mn-ea"/>
                <a:cs typeface="+mn-cs"/>
              </a:rPr>
              <a:t>，随后采用结合图注意力网络的图掩码自编码器</a:t>
            </a:r>
            <a:r>
              <a:rPr lang="en-US" altLang="zh-CN" sz="1200" kern="1200" dirty="0">
                <a:solidFill>
                  <a:schemeClr val="tx1"/>
                </a:solidFill>
                <a:effectLst/>
                <a:latin typeface="+mn-lt"/>
                <a:ea typeface="+mn-ea"/>
                <a:cs typeface="+mn-cs"/>
              </a:rPr>
              <a:t>(GMAE+GAT)</a:t>
            </a:r>
            <a:r>
              <a:rPr lang="zh-CN" altLang="zh-CN" sz="1200" kern="1200" dirty="0">
                <a:solidFill>
                  <a:schemeClr val="tx1"/>
                </a:solidFill>
                <a:effectLst/>
                <a:latin typeface="+mn-lt"/>
                <a:ea typeface="+mn-ea"/>
                <a:cs typeface="+mn-cs"/>
              </a:rPr>
              <a:t>对溯源图进行图表示学习，得到每个节点的嵌入表示</a:t>
            </a:r>
            <a:r>
              <a:rPr lang="en-US" altLang="zh-CN" sz="1200" kern="1200" dirty="0">
                <a:solidFill>
                  <a:schemeClr val="tx1"/>
                </a:solidFill>
                <a:effectLst/>
                <a:latin typeface="+mn-lt"/>
                <a:ea typeface="+mn-ea"/>
                <a:cs typeface="+mn-cs"/>
              </a:rPr>
              <a:t>NODE_FEATURES</a:t>
            </a:r>
            <a:r>
              <a:rPr lang="zh-CN" altLang="zh-CN" sz="1200" kern="1200" dirty="0">
                <a:solidFill>
                  <a:schemeClr val="tx1"/>
                </a:solidFill>
                <a:effectLst/>
                <a:latin typeface="+mn-lt"/>
                <a:ea typeface="+mn-ea"/>
                <a:cs typeface="+mn-cs"/>
              </a:rPr>
              <a:t>，最后在结合了</a:t>
            </a:r>
            <a:r>
              <a:rPr lang="en-US" altLang="zh-CN" sz="1200" kern="1200" dirty="0">
                <a:solidFill>
                  <a:schemeClr val="tx1"/>
                </a:solidFill>
                <a:effectLst/>
                <a:latin typeface="+mn-lt"/>
                <a:ea typeface="+mn-ea"/>
                <a:cs typeface="+mn-cs"/>
              </a:rPr>
              <a:t>k-</a:t>
            </a:r>
            <a:r>
              <a:rPr lang="zh-CN" altLang="zh-CN" sz="1200" kern="1200" dirty="0">
                <a:solidFill>
                  <a:schemeClr val="tx1"/>
                </a:solidFill>
                <a:effectLst/>
                <a:latin typeface="+mn-lt"/>
                <a:ea typeface="+mn-ea"/>
                <a:cs typeface="+mn-cs"/>
              </a:rPr>
              <a:t>近邻算法的异常检测模块</a:t>
            </a:r>
            <a:r>
              <a:rPr lang="en-US" altLang="zh-CN" sz="1200" kern="1200" dirty="0">
                <a:solidFill>
                  <a:schemeClr val="tx1"/>
                </a:solidFill>
                <a:effectLst/>
                <a:latin typeface="+mn-lt"/>
                <a:ea typeface="+mn-ea"/>
                <a:cs typeface="+mn-cs"/>
              </a:rPr>
              <a:t>(KNN Detection)</a:t>
            </a:r>
            <a:r>
              <a:rPr lang="zh-CN" altLang="zh-CN" sz="1200" kern="1200" dirty="0">
                <a:solidFill>
                  <a:schemeClr val="tx1"/>
                </a:solidFill>
                <a:effectLst/>
                <a:latin typeface="+mn-lt"/>
                <a:ea typeface="+mn-ea"/>
                <a:cs typeface="+mn-cs"/>
              </a:rPr>
              <a:t>中进一步考察得到系统日志告警节点</a:t>
            </a:r>
            <a:r>
              <a:rPr lang="en-US" altLang="zh-CN" sz="1200" kern="1200" dirty="0">
                <a:solidFill>
                  <a:schemeClr val="tx1"/>
                </a:solidFill>
                <a:effectLst/>
                <a:latin typeface="+mn-lt"/>
                <a:ea typeface="+mn-ea"/>
                <a:cs typeface="+mn-cs"/>
              </a:rPr>
              <a:t>HOST_ALARMS</a:t>
            </a:r>
            <a:r>
              <a:rPr lang="zh-CN" altLang="zh-CN" sz="120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10</a:t>
            </a:fld>
            <a:endParaRPr lang="zh-CN" altLang="en-US"/>
          </a:p>
        </p:txBody>
      </p:sp>
    </p:spTree>
    <p:extLst>
      <p:ext uri="{BB962C8B-B14F-4D97-AF65-F5344CB8AC3E}">
        <p14:creationId xmlns:p14="http://schemas.microsoft.com/office/powerpoint/2010/main" val="14813173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首先，我们解析原始日志，从中提取出事件的主体、客体以及主客体之间的交互，由此构建出最初的溯源图，其中系统实体作为节点、系统交互作为边。在此基础上，我们根据日志提供的关于系统实体和系统交互的类别信息，通过独热编码</a:t>
            </a:r>
            <a:r>
              <a:rPr lang="en-US" altLang="zh-CN" sz="1200" kern="1200" dirty="0">
                <a:solidFill>
                  <a:schemeClr val="tx1"/>
                </a:solidFill>
                <a:effectLst/>
                <a:latin typeface="+mn-lt"/>
                <a:ea typeface="+mn-ea"/>
                <a:cs typeface="+mn-cs"/>
              </a:rPr>
              <a:t>(One-Hot Encoding)</a:t>
            </a:r>
            <a:r>
              <a:rPr lang="zh-CN" altLang="zh-CN" sz="1200" kern="1200" dirty="0">
                <a:solidFill>
                  <a:schemeClr val="tx1"/>
                </a:solidFill>
                <a:effectLst/>
                <a:latin typeface="+mn-lt"/>
                <a:ea typeface="+mn-ea"/>
                <a:cs typeface="+mn-cs"/>
              </a:rPr>
              <a:t>将类别嵌入为一个固定维数的向量，并将其作为权值赋给溯源图中的节点和边。现在我们从原始日志中得到了一个带点权和边权的有向多重溯源图，其中点权和边权分别为节点和边对应的类别信息的编码向量。</a:t>
            </a:r>
          </a:p>
          <a:p>
            <a:r>
              <a:rPr lang="zh-CN" altLang="zh-CN" sz="1200" kern="1200" dirty="0">
                <a:solidFill>
                  <a:schemeClr val="tx1"/>
                </a:solidFill>
                <a:effectLst/>
                <a:latin typeface="+mn-lt"/>
                <a:ea typeface="+mn-ea"/>
                <a:cs typeface="+mn-cs"/>
              </a:rPr>
              <a:t>为了得到图表示模型的期望输入，我们需要将有多重边的溯源图简化为一个简单图，即：对起点和终点均相同的多条边进行合并。合并分为两步进行：第一步，对边权相同的各边只保留一条；第二步，对剩下的边的边权取平均值，得到最终的边权。</a:t>
            </a:r>
            <a:endParaRPr lang="de-DE"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altLang="zh-CN" sz="1200" kern="1200" dirty="0">
                <a:solidFill>
                  <a:schemeClr val="tx1"/>
                </a:solidFill>
                <a:effectLst/>
                <a:latin typeface="+mn-lt"/>
                <a:ea typeface="+mn-ea"/>
                <a:cs typeface="+mn-cs"/>
              </a:rPr>
              <a:t>Jia, Z., Xiong, Y., Nan, Y., Zhang, Y., Zhao, J., &amp; Wen, M. (2024). </a:t>
            </a:r>
            <a:r>
              <a:rPr lang="en-US" altLang="zh-CN" sz="1200" kern="1200" dirty="0">
                <a:solidFill>
                  <a:schemeClr val="tx1"/>
                </a:solidFill>
                <a:effectLst/>
                <a:latin typeface="+mn-lt"/>
                <a:ea typeface="+mn-ea"/>
                <a:cs typeface="+mn-cs"/>
              </a:rPr>
              <a:t>{MAGIC}: Detecting advanced persistent threats via masked graph representation learning. In 33rd USENIX Security Symposium (USENIX Security 24) (pp. 5197-5214).</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11</a:t>
            </a:fld>
            <a:endParaRPr lang="zh-CN" altLang="en-US"/>
          </a:p>
        </p:txBody>
      </p:sp>
    </p:spTree>
    <p:extLst>
      <p:ext uri="{BB962C8B-B14F-4D97-AF65-F5344CB8AC3E}">
        <p14:creationId xmlns:p14="http://schemas.microsoft.com/office/powerpoint/2010/main" val="15394131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在这一步骤中，我们采用</a:t>
            </a:r>
            <a:r>
              <a:rPr lang="en-US" altLang="zh-CN" sz="1200" kern="1200" dirty="0">
                <a:solidFill>
                  <a:schemeClr val="tx1"/>
                </a:solidFill>
                <a:effectLst/>
                <a:latin typeface="+mn-lt"/>
                <a:ea typeface="+mn-ea"/>
                <a:cs typeface="+mn-cs"/>
              </a:rPr>
              <a:t>MAGIC</a:t>
            </a:r>
            <a:r>
              <a:rPr lang="zh-CN" altLang="zh-CN" sz="1200" kern="1200" dirty="0">
                <a:solidFill>
                  <a:schemeClr val="tx1"/>
                </a:solidFill>
                <a:effectLst/>
                <a:latin typeface="+mn-lt"/>
                <a:ea typeface="+mn-ea"/>
                <a:cs typeface="+mn-cs"/>
              </a:rPr>
              <a:t>框架的图掩码自编码器</a:t>
            </a:r>
            <a:r>
              <a:rPr lang="en-US" altLang="zh-CN" sz="1200" kern="1200" dirty="0">
                <a:solidFill>
                  <a:schemeClr val="tx1"/>
                </a:solidFill>
                <a:effectLst/>
                <a:latin typeface="+mn-lt"/>
                <a:ea typeface="+mn-ea"/>
                <a:cs typeface="+mn-cs"/>
              </a:rPr>
              <a:t>(Graph Masked Auto-Encoder, GMAE)[15]</a:t>
            </a:r>
            <a:r>
              <a:rPr lang="zh-CN" altLang="zh-CN" sz="1200" kern="1200" dirty="0">
                <a:solidFill>
                  <a:schemeClr val="tx1"/>
                </a:solidFill>
                <a:effectLst/>
                <a:latin typeface="+mn-lt"/>
                <a:ea typeface="+mn-ea"/>
                <a:cs typeface="+mn-cs"/>
              </a:rPr>
              <a:t>来进行溯源图的图表示学习。该方法基于传统的通过节点掩码与重建的训练机制来学习图表示的</a:t>
            </a:r>
            <a:r>
              <a:rPr lang="en-US" altLang="zh-CN" sz="1200" kern="1200" dirty="0">
                <a:solidFill>
                  <a:schemeClr val="tx1"/>
                </a:solidFill>
                <a:effectLst/>
                <a:latin typeface="+mn-lt"/>
                <a:ea typeface="+mn-ea"/>
                <a:cs typeface="+mn-cs"/>
              </a:rPr>
              <a:t>GMAE</a:t>
            </a:r>
            <a:r>
              <a:rPr lang="zh-CN" altLang="zh-CN" sz="1200" kern="1200" dirty="0">
                <a:solidFill>
                  <a:schemeClr val="tx1"/>
                </a:solidFill>
                <a:effectLst/>
                <a:latin typeface="+mn-lt"/>
                <a:ea typeface="+mn-ea"/>
                <a:cs typeface="+mn-cs"/>
              </a:rPr>
              <a:t>，引入图注意力网络</a:t>
            </a:r>
            <a:r>
              <a:rPr lang="en-US" altLang="zh-CN" sz="1200" kern="1200" dirty="0">
                <a:solidFill>
                  <a:schemeClr val="tx1"/>
                </a:solidFill>
                <a:effectLst/>
                <a:latin typeface="+mn-lt"/>
                <a:ea typeface="+mn-ea"/>
                <a:cs typeface="+mn-cs"/>
              </a:rPr>
              <a:t>(Graph Attention Network, GAT)[16]</a:t>
            </a:r>
            <a:r>
              <a:rPr lang="zh-CN" altLang="zh-CN" sz="1200" kern="1200" dirty="0">
                <a:solidFill>
                  <a:schemeClr val="tx1"/>
                </a:solidFill>
                <a:effectLst/>
                <a:latin typeface="+mn-lt"/>
                <a:ea typeface="+mn-ea"/>
                <a:cs typeface="+mn-cs"/>
              </a:rPr>
              <a:t>来刻画溯源图中节点的邻接、多跳关系。</a:t>
            </a:r>
          </a:p>
          <a:p>
            <a:r>
              <a:rPr lang="en-US" altLang="zh-CN" sz="1200" kern="1200" dirty="0">
                <a:solidFill>
                  <a:schemeClr val="tx1"/>
                </a:solidFill>
                <a:effectLst/>
                <a:latin typeface="+mn-lt"/>
                <a:ea typeface="+mn-ea"/>
                <a:cs typeface="+mn-cs"/>
              </a:rPr>
              <a:t>GMAE</a:t>
            </a:r>
            <a:r>
              <a:rPr lang="zh-CN" altLang="zh-CN" sz="1200" kern="1200" dirty="0">
                <a:solidFill>
                  <a:schemeClr val="tx1"/>
                </a:solidFill>
                <a:effectLst/>
                <a:latin typeface="+mn-lt"/>
                <a:ea typeface="+mn-ea"/>
                <a:cs typeface="+mn-cs"/>
              </a:rPr>
              <a:t>在良性溯源图上训练，得到一个图编码器。将</a:t>
            </a:r>
            <a:r>
              <a:rPr lang="en-US" altLang="zh-CN" sz="1200" kern="1200" dirty="0">
                <a:solidFill>
                  <a:schemeClr val="tx1"/>
                </a:solidFill>
                <a:effectLst/>
                <a:latin typeface="+mn-lt"/>
                <a:ea typeface="+mn-ea"/>
                <a:cs typeface="+mn-cs"/>
              </a:rPr>
              <a:t>2.2.1</a:t>
            </a:r>
            <a:r>
              <a:rPr lang="zh-CN" altLang="zh-CN" sz="1200" kern="1200" dirty="0">
                <a:solidFill>
                  <a:schemeClr val="tx1"/>
                </a:solidFill>
                <a:effectLst/>
                <a:latin typeface="+mn-lt"/>
                <a:ea typeface="+mn-ea"/>
                <a:cs typeface="+mn-cs"/>
              </a:rPr>
              <a:t>中处理好的溯源图作为输入，训练好的图编码器可以根据每个节点的点权、邻接和多跳关系及其边权得到该节点的嵌入表示。</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Hou, Z., Liu, X., Cen, Y., Dong, Y., Yang, H., Wang, C., &amp; Tang, J. (2022, August). </a:t>
            </a:r>
            <a:r>
              <a:rPr lang="en-US" altLang="zh-CN" sz="1200" kern="1200" dirty="0" err="1">
                <a:solidFill>
                  <a:schemeClr val="tx1"/>
                </a:solidFill>
                <a:effectLst/>
                <a:latin typeface="+mn-lt"/>
                <a:ea typeface="+mn-ea"/>
                <a:cs typeface="+mn-cs"/>
              </a:rPr>
              <a:t>Graphmae</a:t>
            </a:r>
            <a:r>
              <a:rPr lang="en-US" altLang="zh-CN" sz="1200" kern="1200" dirty="0">
                <a:solidFill>
                  <a:schemeClr val="tx1"/>
                </a:solidFill>
                <a:effectLst/>
                <a:latin typeface="+mn-lt"/>
                <a:ea typeface="+mn-ea"/>
                <a:cs typeface="+mn-cs"/>
              </a:rPr>
              <a:t>: Self-supervised masked graph autoencoders. In </a:t>
            </a:r>
            <a:r>
              <a:rPr lang="en-US" altLang="zh-CN" sz="1200" i="1" kern="1200" dirty="0">
                <a:solidFill>
                  <a:schemeClr val="tx1"/>
                </a:solidFill>
                <a:effectLst/>
                <a:latin typeface="+mn-lt"/>
                <a:ea typeface="+mn-ea"/>
                <a:cs typeface="+mn-cs"/>
              </a:rPr>
              <a:t>Proceedings of the 28th ACM SIGKDD conference on knowledge discovery and data mining</a:t>
            </a:r>
            <a:r>
              <a:rPr lang="en-US" altLang="zh-CN" sz="1200" kern="1200" dirty="0">
                <a:solidFill>
                  <a:schemeClr val="tx1"/>
                </a:solidFill>
                <a:effectLst/>
                <a:latin typeface="+mn-lt"/>
                <a:ea typeface="+mn-ea"/>
                <a:cs typeface="+mn-cs"/>
              </a:rPr>
              <a:t> (pp. 594-604).</a:t>
            </a: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err="1">
                <a:solidFill>
                  <a:schemeClr val="tx1"/>
                </a:solidFill>
                <a:effectLst/>
                <a:latin typeface="+mn-lt"/>
                <a:ea typeface="+mn-ea"/>
                <a:cs typeface="+mn-cs"/>
              </a:rPr>
              <a:t>Velickovic</a:t>
            </a:r>
            <a:r>
              <a:rPr lang="en-US" altLang="zh-CN" sz="1200" kern="1200" dirty="0">
                <a:solidFill>
                  <a:schemeClr val="tx1"/>
                </a:solidFill>
                <a:effectLst/>
                <a:latin typeface="+mn-lt"/>
                <a:ea typeface="+mn-ea"/>
                <a:cs typeface="+mn-cs"/>
              </a:rPr>
              <a:t>, P., </a:t>
            </a:r>
            <a:r>
              <a:rPr lang="en-US" altLang="zh-CN" sz="1200" kern="1200" dirty="0" err="1">
                <a:solidFill>
                  <a:schemeClr val="tx1"/>
                </a:solidFill>
                <a:effectLst/>
                <a:latin typeface="+mn-lt"/>
                <a:ea typeface="+mn-ea"/>
                <a:cs typeface="+mn-cs"/>
              </a:rPr>
              <a:t>Cucurull</a:t>
            </a:r>
            <a:r>
              <a:rPr lang="en-US" altLang="zh-CN" sz="1200" kern="1200" dirty="0">
                <a:solidFill>
                  <a:schemeClr val="tx1"/>
                </a:solidFill>
                <a:effectLst/>
                <a:latin typeface="+mn-lt"/>
                <a:ea typeface="+mn-ea"/>
                <a:cs typeface="+mn-cs"/>
              </a:rPr>
              <a:t>, G., Casanova, A., Romero, A., Lio, P., &amp; Bengio, Y. (2017). Graph attention networks. </a:t>
            </a:r>
            <a:r>
              <a:rPr lang="en-US" altLang="zh-CN" sz="1200" i="1" kern="1200" dirty="0">
                <a:solidFill>
                  <a:schemeClr val="tx1"/>
                </a:solidFill>
                <a:effectLst/>
                <a:latin typeface="+mn-lt"/>
                <a:ea typeface="+mn-ea"/>
                <a:cs typeface="+mn-cs"/>
              </a:rPr>
              <a:t>stat</a:t>
            </a:r>
            <a:r>
              <a:rPr lang="en-US" altLang="zh-CN" sz="1200"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1050</a:t>
            </a:r>
            <a:r>
              <a:rPr lang="en-US" altLang="zh-CN" sz="1200" kern="1200" dirty="0">
                <a:solidFill>
                  <a:schemeClr val="tx1"/>
                </a:solidFill>
                <a:effectLst/>
                <a:latin typeface="+mn-lt"/>
                <a:ea typeface="+mn-ea"/>
                <a:cs typeface="+mn-cs"/>
              </a:rPr>
              <a:t>(20), 10-48550.</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12</a:t>
            </a:fld>
            <a:endParaRPr lang="zh-CN" altLang="en-US"/>
          </a:p>
        </p:txBody>
      </p:sp>
    </p:spTree>
    <p:extLst>
      <p:ext uri="{BB962C8B-B14F-4D97-AF65-F5344CB8AC3E}">
        <p14:creationId xmlns:p14="http://schemas.microsoft.com/office/powerpoint/2010/main" val="26587011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基于图表示模型得到的溯源图中每个节点的嵌入表示，我们需要对节点对应的系统实体做异常检测，即：判断系统实体的行为属于良性或恶行。良性行为和恶性行为在溯源图中对应的节点和边具有不同的特征，这些不同的特征经过图表示模型得到的嵌入会形成不同的聚类，因此，在已有良性溯源图的图表示模型的基础上，我们只需要对节点的嵌入表示进行离群点分析，找到所谓的离群点，便能确定异常节点。</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首先，我们将良性溯源图的节点嵌入值组织成一颗</a:t>
                </a:r>
                <a:r>
                  <a:rPr lang="en-US" altLang="zh-CN" sz="1200" kern="1200" dirty="0">
                    <a:solidFill>
                      <a:schemeClr val="tx1"/>
                    </a:solidFill>
                    <a:effectLst/>
                    <a:latin typeface="+mn-lt"/>
                    <a:ea typeface="+mn-ea"/>
                    <a:cs typeface="+mn-cs"/>
                  </a:rPr>
                  <a:t>k-d</a:t>
                </a:r>
                <a:r>
                  <a:rPr lang="zh-CN" altLang="zh-CN" sz="1200" kern="1200" dirty="0">
                    <a:solidFill>
                      <a:schemeClr val="tx1"/>
                    </a:solidFill>
                    <a:effectLst/>
                    <a:latin typeface="+mn-lt"/>
                    <a:ea typeface="+mn-ea"/>
                    <a:cs typeface="+mn-cs"/>
                  </a:rPr>
                  <a:t>树</a:t>
                </a:r>
                <a:r>
                  <a:rPr lang="en-US" altLang="zh-CN" sz="1200" kern="1200" dirty="0">
                    <a:solidFill>
                      <a:schemeClr val="tx1"/>
                    </a:solidFill>
                    <a:effectLst/>
                    <a:latin typeface="+mn-lt"/>
                    <a:ea typeface="+mn-ea"/>
                    <a:cs typeface="+mn-cs"/>
                  </a:rPr>
                  <a:t>[17]</a:t>
                </a:r>
                <a:r>
                  <a:rPr lang="zh-CN" altLang="zh-CN" sz="1200" kern="1200" dirty="0">
                    <a:solidFill>
                      <a:schemeClr val="tx1"/>
                    </a:solidFill>
                    <a:effectLst/>
                    <a:latin typeface="+mn-lt"/>
                    <a:ea typeface="+mn-ea"/>
                    <a:cs typeface="+mn-cs"/>
                  </a:rPr>
                  <a:t>。对于训练集的良性节点，在</a:t>
                </a:r>
                <a:r>
                  <a:rPr lang="en-US" altLang="zh-CN" sz="1200" kern="1200" dirty="0">
                    <a:solidFill>
                      <a:schemeClr val="tx1"/>
                    </a:solidFill>
                    <a:effectLst/>
                    <a:latin typeface="+mn-lt"/>
                    <a:ea typeface="+mn-ea"/>
                    <a:cs typeface="+mn-cs"/>
                  </a:rPr>
                  <a:t>k-d</a:t>
                </a:r>
                <a:r>
                  <a:rPr lang="zh-CN" altLang="zh-CN" sz="1200" kern="1200" dirty="0">
                    <a:solidFill>
                      <a:schemeClr val="tx1"/>
                    </a:solidFill>
                    <a:effectLst/>
                    <a:latin typeface="+mn-lt"/>
                    <a:ea typeface="+mn-ea"/>
                    <a:cs typeface="+mn-cs"/>
                  </a:rPr>
                  <a:t>树中进行</a:t>
                </a:r>
                <a:r>
                  <a:rPr lang="en-US" altLang="zh-CN" sz="1200" kern="1200" dirty="0">
                    <a:solidFill>
                      <a:schemeClr val="tx1"/>
                    </a:solidFill>
                    <a:effectLst/>
                    <a:latin typeface="+mn-lt"/>
                    <a:ea typeface="+mn-ea"/>
                    <a:cs typeface="+mn-cs"/>
                  </a:rPr>
                  <a:t>k-</a:t>
                </a:r>
                <a:r>
                  <a:rPr lang="zh-CN" altLang="zh-CN" sz="1200" kern="1200" dirty="0">
                    <a:solidFill>
                      <a:schemeClr val="tx1"/>
                    </a:solidFill>
                    <a:effectLst/>
                    <a:latin typeface="+mn-lt"/>
                    <a:ea typeface="+mn-ea"/>
                    <a:cs typeface="+mn-cs"/>
                  </a:rPr>
                  <a:t>邻近搜索，即找到距离节点嵌入值最近的</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𝑘</m:t>
                    </m:r>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个邻居，计算其到</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𝑘</m:t>
                    </m:r>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个最近邻居的距离，然后将所有良性节点的</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𝑘</m:t>
                    </m:r>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个距离取平均值。形式化地，若用</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𝐵</m:t>
                    </m:r>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表示良性节点嵌入值的集合，</a:t>
                </a:r>
                <a14:m>
                  <m:oMath xmlns:m="http://schemas.openxmlformats.org/officeDocument/2006/math">
                    <m:r>
                      <m:rPr>
                        <m:nor/>
                      </m:rPr>
                      <a:rPr lang="en-US" altLang="zh-CN" sz="1200" kern="1200">
                        <a:solidFill>
                          <a:schemeClr val="tx1"/>
                        </a:solidFill>
                        <a:effectLst/>
                        <a:latin typeface="+mn-lt"/>
                        <a:ea typeface="+mn-ea"/>
                        <a:cs typeface="+mn-cs"/>
                      </a:rPr>
                      <m:t>KNN</m:t>
                    </m:r>
                    <m:d>
                      <m:dPr>
                        <m:ctrlPr>
                          <a:rPr lang="zh-CN" altLang="zh-CN" sz="1200" i="1" u="sng"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𝑥</m:t>
                        </m:r>
                      </m:e>
                    </m:d>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表示嵌入值</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𝑥</m:t>
                    </m:r>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的</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𝑘</m:t>
                    </m:r>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个邻居的集合，那么有</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其中</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𝑑</m:t>
                    </m:r>
                    <m:d>
                      <m:dPr>
                        <m:ctrlPr>
                          <a:rPr lang="zh-CN" altLang="zh-CN" sz="1200" i="1" u="sng"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𝑥</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𝑦</m:t>
                        </m:r>
                      </m:e>
                    </m:d>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表示嵌入值</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𝑥</m:t>
                    </m:r>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和</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𝑦</m:t>
                    </m:r>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之间的距离度量，在这里我们选择向量的欧氏距离，即</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然后，对于待检测节点，我们用同样的方法得到它与</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𝑘</m:t>
                    </m:r>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个最近邻居的距离，并计算其平均值，即</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我们通过异常分数来衡量一个节点的“离群”程度，定义一个节点</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𝑢</m:t>
                    </m:r>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的异常分数</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𝑎𝑛𝑜𝑚𝑎𝑙</m:t>
                    </m:r>
                    <m:sSub>
                      <m:sSubPr>
                        <m:ctrlPr>
                          <a:rPr lang="zh-CN" altLang="zh-CN" sz="1200" i="1" u="sng"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𝑦</m:t>
                        </m:r>
                      </m:e>
                      <m:sub>
                        <m:r>
                          <a:rPr lang="en-US" altLang="zh-CN" sz="1200" i="1" kern="1200">
                            <a:solidFill>
                              <a:schemeClr val="tx1"/>
                            </a:solidFill>
                            <a:effectLst/>
                            <a:latin typeface="Cambria Math" panose="02040503050406030204" pitchFamily="18" charset="0"/>
                            <a:ea typeface="+mn-ea"/>
                            <a:cs typeface="+mn-cs"/>
                          </a:rPr>
                          <m:t>𝑢</m:t>
                        </m:r>
                      </m:sub>
                    </m:sSub>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为</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由定义不难看出，异常分数越大，节点偏离良性节点聚类的程度就越大。如果异常分数大于设定的系统告警阈值</a:t>
                </a:r>
                <a14:m>
                  <m:oMath xmlns:m="http://schemas.openxmlformats.org/officeDocument/2006/math">
                    <m:r>
                      <a:rPr lang="zh-CN"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m:rPr>
                            <m:nor/>
                          </m:rPr>
                          <a:rPr lang="en-US" altLang="zh-CN" sz="1200" kern="1200">
                            <a:solidFill>
                              <a:schemeClr val="tx1"/>
                            </a:solidFill>
                            <a:effectLst/>
                            <a:latin typeface="+mn-lt"/>
                            <a:ea typeface="+mn-ea"/>
                            <a:cs typeface="+mn-cs"/>
                          </a:rPr>
                          <m:t>host</m:t>
                        </m:r>
                      </m:sub>
                    </m:sSub>
                  </m:oMath>
                </a14:m>
                <a:r>
                  <a:rPr lang="zh-CN" altLang="zh-CN" sz="1200" kern="1200" dirty="0">
                    <a:solidFill>
                      <a:schemeClr val="tx1"/>
                    </a:solidFill>
                    <a:effectLst/>
                    <a:latin typeface="+mn-lt"/>
                    <a:ea typeface="+mn-ea"/>
                    <a:cs typeface="+mn-cs"/>
                  </a:rPr>
                  <a:t>，则模型判定其为异常节点。</a:t>
                </a:r>
              </a:p>
              <a:p>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基于图表示模型得到的溯源图中每个节点的嵌入表示，我们需要对节点对应的系统实体做异常检测，即：判断系统实体的行为属于良性或恶行。良性行为和恶性行为在溯源图中对应的节点和边具有不同的特征，这些不同的特征经过图表示模型得到的嵌入会形成不同的聚类，因此，在已有良性溯源图的图表示模型的基础上，我们只需要对节点的嵌入表示进行离群点分析，找到所谓的离群点，便能确定异常节点。</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首先，我们将良性溯源图的节点嵌入值组织成一颗</a:t>
                </a:r>
                <a:r>
                  <a:rPr lang="en-US" altLang="zh-CN" sz="1200" kern="1200" dirty="0">
                    <a:solidFill>
                      <a:schemeClr val="tx1"/>
                    </a:solidFill>
                    <a:effectLst/>
                    <a:latin typeface="+mn-lt"/>
                    <a:ea typeface="+mn-ea"/>
                    <a:cs typeface="+mn-cs"/>
                  </a:rPr>
                  <a:t>k-d</a:t>
                </a:r>
                <a:r>
                  <a:rPr lang="zh-CN" altLang="zh-CN" sz="1200" kern="1200" dirty="0">
                    <a:solidFill>
                      <a:schemeClr val="tx1"/>
                    </a:solidFill>
                    <a:effectLst/>
                    <a:latin typeface="+mn-lt"/>
                    <a:ea typeface="+mn-ea"/>
                    <a:cs typeface="+mn-cs"/>
                  </a:rPr>
                  <a:t>树</a:t>
                </a:r>
                <a:r>
                  <a:rPr lang="en-US" altLang="zh-CN" sz="1200" kern="1200" dirty="0">
                    <a:solidFill>
                      <a:schemeClr val="tx1"/>
                    </a:solidFill>
                    <a:effectLst/>
                    <a:latin typeface="+mn-lt"/>
                    <a:ea typeface="+mn-ea"/>
                    <a:cs typeface="+mn-cs"/>
                  </a:rPr>
                  <a:t>[17]</a:t>
                </a:r>
                <a:r>
                  <a:rPr lang="zh-CN" altLang="zh-CN" sz="1200" kern="1200" dirty="0">
                    <a:solidFill>
                      <a:schemeClr val="tx1"/>
                    </a:solidFill>
                    <a:effectLst/>
                    <a:latin typeface="+mn-lt"/>
                    <a:ea typeface="+mn-ea"/>
                    <a:cs typeface="+mn-cs"/>
                  </a:rPr>
                  <a:t>。对于训练集的良性节点，在</a:t>
                </a:r>
                <a:r>
                  <a:rPr lang="en-US" altLang="zh-CN" sz="1200" kern="1200" dirty="0">
                    <a:solidFill>
                      <a:schemeClr val="tx1"/>
                    </a:solidFill>
                    <a:effectLst/>
                    <a:latin typeface="+mn-lt"/>
                    <a:ea typeface="+mn-ea"/>
                    <a:cs typeface="+mn-cs"/>
                  </a:rPr>
                  <a:t>k-d</a:t>
                </a:r>
                <a:r>
                  <a:rPr lang="zh-CN" altLang="zh-CN" sz="1200" kern="1200" dirty="0">
                    <a:solidFill>
                      <a:schemeClr val="tx1"/>
                    </a:solidFill>
                    <a:effectLst/>
                    <a:latin typeface="+mn-lt"/>
                    <a:ea typeface="+mn-ea"/>
                    <a:cs typeface="+mn-cs"/>
                  </a:rPr>
                  <a:t>树中进行</a:t>
                </a:r>
                <a:r>
                  <a:rPr lang="en-US" altLang="zh-CN" sz="1200" kern="1200" dirty="0">
                    <a:solidFill>
                      <a:schemeClr val="tx1"/>
                    </a:solidFill>
                    <a:effectLst/>
                    <a:latin typeface="+mn-lt"/>
                    <a:ea typeface="+mn-ea"/>
                    <a:cs typeface="+mn-cs"/>
                  </a:rPr>
                  <a:t>k-</a:t>
                </a:r>
                <a:r>
                  <a:rPr lang="zh-CN" altLang="zh-CN" sz="1200" kern="1200" dirty="0">
                    <a:solidFill>
                      <a:schemeClr val="tx1"/>
                    </a:solidFill>
                    <a:effectLst/>
                    <a:latin typeface="+mn-lt"/>
                    <a:ea typeface="+mn-ea"/>
                    <a:cs typeface="+mn-cs"/>
                  </a:rPr>
                  <a:t>邻近搜索，即找到距离节点嵌入值最近的</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𝑘 </a:t>
                </a:r>
                <a:r>
                  <a:rPr lang="zh-CN" altLang="zh-CN" sz="1200" kern="1200" dirty="0">
                    <a:solidFill>
                      <a:schemeClr val="tx1"/>
                    </a:solidFill>
                    <a:effectLst/>
                    <a:latin typeface="+mn-lt"/>
                    <a:ea typeface="+mn-ea"/>
                    <a:cs typeface="+mn-cs"/>
                  </a:rPr>
                  <a:t>个邻居，计算其到</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𝑘 </a:t>
                </a:r>
                <a:r>
                  <a:rPr lang="zh-CN" altLang="zh-CN" sz="1200" kern="1200" dirty="0">
                    <a:solidFill>
                      <a:schemeClr val="tx1"/>
                    </a:solidFill>
                    <a:effectLst/>
                    <a:latin typeface="+mn-lt"/>
                    <a:ea typeface="+mn-ea"/>
                    <a:cs typeface="+mn-cs"/>
                  </a:rPr>
                  <a:t>个最近邻居的距离，然后将所有良性节点的</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𝑘 </a:t>
                </a:r>
                <a:r>
                  <a:rPr lang="zh-CN" altLang="zh-CN" sz="1200" kern="1200" dirty="0">
                    <a:solidFill>
                      <a:schemeClr val="tx1"/>
                    </a:solidFill>
                    <a:effectLst/>
                    <a:latin typeface="+mn-lt"/>
                    <a:ea typeface="+mn-ea"/>
                    <a:cs typeface="+mn-cs"/>
                  </a:rPr>
                  <a:t>个距离取平均值。形式化地，若用</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𝐵 </a:t>
                </a:r>
                <a:r>
                  <a:rPr lang="zh-CN" altLang="zh-CN" sz="1200" kern="1200" dirty="0">
                    <a:solidFill>
                      <a:schemeClr val="tx1"/>
                    </a:solidFill>
                    <a:effectLst/>
                    <a:latin typeface="+mn-lt"/>
                    <a:ea typeface="+mn-ea"/>
                    <a:cs typeface="+mn-cs"/>
                  </a:rPr>
                  <a:t>表示良性节点嵌入值的集合，</a:t>
                </a:r>
                <a:r>
                  <a:rPr lang="en-US" altLang="zh-CN" sz="1200" i="0" kern="1200">
                    <a:solidFill>
                      <a:schemeClr val="tx1"/>
                    </a:solidFill>
                    <a:effectLst/>
                    <a:latin typeface="Cambria Math" panose="02040503050406030204" pitchFamily="18" charset="0"/>
                    <a:ea typeface="+mn-ea"/>
                    <a:cs typeface="+mn-cs"/>
                  </a:rPr>
                  <a:t>"KNN</a:t>
                </a:r>
                <a:r>
                  <a:rPr lang="zh-CN" altLang="zh-CN" sz="1200" i="0" u="sng"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𝑥)  </a:t>
                </a:r>
                <a:r>
                  <a:rPr lang="zh-CN" altLang="zh-CN" sz="1200" kern="1200" dirty="0">
                    <a:solidFill>
                      <a:schemeClr val="tx1"/>
                    </a:solidFill>
                    <a:effectLst/>
                    <a:latin typeface="+mn-lt"/>
                    <a:ea typeface="+mn-ea"/>
                    <a:cs typeface="+mn-cs"/>
                  </a:rPr>
                  <a:t>表示嵌入值</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𝑥 </a:t>
                </a:r>
                <a:r>
                  <a:rPr lang="zh-CN" altLang="zh-CN" sz="1200" kern="1200" dirty="0">
                    <a:solidFill>
                      <a:schemeClr val="tx1"/>
                    </a:solidFill>
                    <a:effectLst/>
                    <a:latin typeface="+mn-lt"/>
                    <a:ea typeface="+mn-ea"/>
                    <a:cs typeface="+mn-cs"/>
                  </a:rPr>
                  <a:t>的</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𝑘 </a:t>
                </a:r>
                <a:r>
                  <a:rPr lang="zh-CN" altLang="zh-CN" sz="1200" kern="1200" dirty="0">
                    <a:solidFill>
                      <a:schemeClr val="tx1"/>
                    </a:solidFill>
                    <a:effectLst/>
                    <a:latin typeface="+mn-lt"/>
                    <a:ea typeface="+mn-ea"/>
                    <a:cs typeface="+mn-cs"/>
                  </a:rPr>
                  <a:t>个邻居的集合，那么有</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其中</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𝑑</a:t>
                </a:r>
                <a:r>
                  <a:rPr lang="zh-CN" altLang="zh-CN" sz="1200" i="0" u="sng"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𝑥,𝑦)  </a:t>
                </a:r>
                <a:r>
                  <a:rPr lang="zh-CN" altLang="zh-CN" sz="1200" kern="1200" dirty="0">
                    <a:solidFill>
                      <a:schemeClr val="tx1"/>
                    </a:solidFill>
                    <a:effectLst/>
                    <a:latin typeface="+mn-lt"/>
                    <a:ea typeface="+mn-ea"/>
                    <a:cs typeface="+mn-cs"/>
                  </a:rPr>
                  <a:t>表示嵌入值</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𝑥 </a:t>
                </a:r>
                <a:r>
                  <a:rPr lang="zh-CN" altLang="zh-CN" sz="1200" kern="1200" dirty="0">
                    <a:solidFill>
                      <a:schemeClr val="tx1"/>
                    </a:solidFill>
                    <a:effectLst/>
                    <a:latin typeface="+mn-lt"/>
                    <a:ea typeface="+mn-ea"/>
                    <a:cs typeface="+mn-cs"/>
                  </a:rPr>
                  <a:t>和</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𝑦 </a:t>
                </a:r>
                <a:r>
                  <a:rPr lang="zh-CN" altLang="zh-CN" sz="1200" kern="1200" dirty="0">
                    <a:solidFill>
                      <a:schemeClr val="tx1"/>
                    </a:solidFill>
                    <a:effectLst/>
                    <a:latin typeface="+mn-lt"/>
                    <a:ea typeface="+mn-ea"/>
                    <a:cs typeface="+mn-cs"/>
                  </a:rPr>
                  <a:t>之间的距离度量，在这里我们选择向量的欧氏距离，即</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然后，对于待检测节点，我们用同样的方法得到它与</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𝑘 </a:t>
                </a:r>
                <a:r>
                  <a:rPr lang="zh-CN" altLang="zh-CN" sz="1200" kern="1200" dirty="0">
                    <a:solidFill>
                      <a:schemeClr val="tx1"/>
                    </a:solidFill>
                    <a:effectLst/>
                    <a:latin typeface="+mn-lt"/>
                    <a:ea typeface="+mn-ea"/>
                    <a:cs typeface="+mn-cs"/>
                  </a:rPr>
                  <a:t>个最近邻居的距离，并计算其平均值，即</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我们通过异常分数来衡量一个节点的“离群”程度，定义一个节点</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𝑢 </a:t>
                </a:r>
                <a:r>
                  <a:rPr lang="zh-CN" altLang="zh-CN" sz="1200" kern="1200" dirty="0">
                    <a:solidFill>
                      <a:schemeClr val="tx1"/>
                    </a:solidFill>
                    <a:effectLst/>
                    <a:latin typeface="+mn-lt"/>
                    <a:ea typeface="+mn-ea"/>
                    <a:cs typeface="+mn-cs"/>
                  </a:rPr>
                  <a:t>的异常分数</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𝑎𝑛𝑜𝑚𝑎𝑙𝑦</a:t>
                </a:r>
                <a:r>
                  <a:rPr lang="zh-CN" altLang="zh-CN" sz="1200" i="0" u="sng"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𝑢  </a:t>
                </a:r>
                <a:r>
                  <a:rPr lang="zh-CN" altLang="zh-CN" sz="1200" kern="1200" dirty="0">
                    <a:solidFill>
                      <a:schemeClr val="tx1"/>
                    </a:solidFill>
                    <a:effectLst/>
                    <a:latin typeface="+mn-lt"/>
                    <a:ea typeface="+mn-ea"/>
                    <a:cs typeface="+mn-cs"/>
                  </a:rPr>
                  <a:t>为</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由定义不难看出，异常分数越大，节点偏离良性节点聚类的程度就越大。如果异常分数大于设定的系统告警阈值</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"host" </a:t>
                </a:r>
                <a:r>
                  <a:rPr lang="zh-CN" altLang="zh-CN" sz="1200" kern="1200" dirty="0">
                    <a:solidFill>
                      <a:schemeClr val="tx1"/>
                    </a:solidFill>
                    <a:effectLst/>
                    <a:latin typeface="+mn-lt"/>
                    <a:ea typeface="+mn-ea"/>
                    <a:cs typeface="+mn-cs"/>
                  </a:rPr>
                  <a:t>，则模型判定其为异常节点。</a:t>
                </a:r>
              </a:p>
              <a:p>
                <a:endParaRPr lang="zh-CN" altLang="en-US" dirty="0"/>
              </a:p>
            </p:txBody>
          </p:sp>
        </mc:Fallback>
      </mc:AlternateContent>
      <p:sp>
        <p:nvSpPr>
          <p:cNvPr id="4" name="灯片编号占位符 3"/>
          <p:cNvSpPr>
            <a:spLocks noGrp="1"/>
          </p:cNvSpPr>
          <p:nvPr>
            <p:ph type="sldNum" sz="quarter" idx="5"/>
          </p:nvPr>
        </p:nvSpPr>
        <p:spPr/>
        <p:txBody>
          <a:bodyPr/>
          <a:lstStyle/>
          <a:p>
            <a:fld id="{E3CFC841-E2E1-4802-8701-94EA307E94B0}" type="slidenum">
              <a:rPr lang="zh-CN" altLang="en-US" smtClean="0"/>
              <a:t>13</a:t>
            </a:fld>
            <a:endParaRPr lang="zh-CN" altLang="en-US"/>
          </a:p>
        </p:txBody>
      </p:sp>
    </p:spTree>
    <p:extLst>
      <p:ext uri="{BB962C8B-B14F-4D97-AF65-F5344CB8AC3E}">
        <p14:creationId xmlns:p14="http://schemas.microsoft.com/office/powerpoint/2010/main" val="11797351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网络日志异常检测模块的设计分为</a:t>
            </a:r>
            <a:r>
              <a:rPr lang="en-US" altLang="zh-CN" sz="1200" kern="1200" dirty="0" err="1">
                <a:solidFill>
                  <a:schemeClr val="tx1"/>
                </a:solidFill>
                <a:effectLst/>
                <a:latin typeface="+mn-lt"/>
                <a:ea typeface="+mn-ea"/>
                <a:cs typeface="+mn-cs"/>
              </a:rPr>
              <a:t>FastText</a:t>
            </a:r>
            <a:r>
              <a:rPr lang="zh-CN" altLang="en-US" sz="1200" kern="1200" dirty="0">
                <a:solidFill>
                  <a:schemeClr val="tx1"/>
                </a:solidFill>
                <a:effectLst/>
                <a:latin typeface="+mn-lt"/>
                <a:ea typeface="+mn-ea"/>
                <a:cs typeface="+mn-cs"/>
              </a:rPr>
              <a:t>词向量模型</a:t>
            </a:r>
            <a:r>
              <a:rPr lang="en-US" altLang="zh-CN" sz="1200" kern="1200" dirty="0">
                <a:solidFill>
                  <a:schemeClr val="tx1"/>
                </a:solidFill>
                <a:effectLst/>
                <a:latin typeface="+mn-lt"/>
                <a:ea typeface="+mn-ea"/>
                <a:cs typeface="+mn-cs"/>
              </a:rPr>
              <a:t>[13]</a:t>
            </a:r>
            <a:r>
              <a:rPr lang="zh-CN" altLang="en-US" sz="1200" kern="1200" dirty="0">
                <a:solidFill>
                  <a:schemeClr val="tx1"/>
                </a:solidFill>
                <a:effectLst/>
                <a:latin typeface="+mn-lt"/>
                <a:ea typeface="+mn-ea"/>
                <a:cs typeface="+mn-cs"/>
              </a:rPr>
              <a:t>训练、预处理特征化、变分自编码器</a:t>
            </a:r>
            <a:r>
              <a:rPr lang="en-US" altLang="zh-CN" sz="1200" kern="1200" dirty="0">
                <a:solidFill>
                  <a:schemeClr val="tx1"/>
                </a:solidFill>
                <a:effectLst/>
                <a:latin typeface="+mn-lt"/>
                <a:ea typeface="+mn-ea"/>
                <a:cs typeface="+mn-cs"/>
              </a:rPr>
              <a:t>(Variational Auto-Encoder, VAE)[14]</a:t>
            </a:r>
            <a:r>
              <a:rPr lang="zh-CN" altLang="en-US" sz="1200" kern="1200" dirty="0">
                <a:solidFill>
                  <a:schemeClr val="tx1"/>
                </a:solidFill>
                <a:effectLst/>
                <a:latin typeface="+mn-lt"/>
                <a:ea typeface="+mn-ea"/>
                <a:cs typeface="+mn-cs"/>
              </a:rPr>
              <a:t>训练和最后的评估产出</a:t>
            </a:r>
            <a:r>
              <a:rPr lang="en-US" altLang="zh-CN" sz="1200" kern="1200" dirty="0">
                <a:solidFill>
                  <a:schemeClr val="tx1"/>
                </a:solidFill>
                <a:effectLst/>
                <a:latin typeface="+mn-lt"/>
                <a:ea typeface="+mn-ea"/>
                <a:cs typeface="+mn-cs"/>
              </a:rPr>
              <a:t>(Evaluation)</a:t>
            </a:r>
            <a:r>
              <a:rPr lang="zh-CN" altLang="en-US" sz="1200" kern="1200" dirty="0">
                <a:solidFill>
                  <a:schemeClr val="tx1"/>
                </a:solidFill>
                <a:effectLst/>
                <a:latin typeface="+mn-lt"/>
                <a:ea typeface="+mn-ea"/>
                <a:cs typeface="+mn-cs"/>
              </a:rPr>
              <a:t>四部分，即首先利用</a:t>
            </a:r>
            <a:r>
              <a:rPr lang="en-US" altLang="zh-CN" sz="1200" kern="1200" dirty="0" err="1">
                <a:solidFill>
                  <a:schemeClr val="tx1"/>
                </a:solidFill>
                <a:effectLst/>
                <a:latin typeface="+mn-lt"/>
                <a:ea typeface="+mn-ea"/>
                <a:cs typeface="+mn-cs"/>
              </a:rPr>
              <a:t>FastText</a:t>
            </a:r>
            <a:r>
              <a:rPr lang="zh-CN" altLang="en-US" sz="1200" kern="1200" dirty="0">
                <a:solidFill>
                  <a:schemeClr val="tx1"/>
                </a:solidFill>
                <a:effectLst/>
                <a:latin typeface="+mn-lt"/>
                <a:ea typeface="+mn-ea"/>
                <a:cs typeface="+mn-cs"/>
              </a:rPr>
              <a:t>词向量模型进行日志语义的提取，进行预处理后使用</a:t>
            </a:r>
            <a:r>
              <a:rPr lang="en-US" altLang="zh-CN" sz="1200" kern="1200" dirty="0">
                <a:solidFill>
                  <a:schemeClr val="tx1"/>
                </a:solidFill>
                <a:effectLst/>
                <a:latin typeface="+mn-lt"/>
                <a:ea typeface="+mn-ea"/>
                <a:cs typeface="+mn-cs"/>
              </a:rPr>
              <a:t>VAE</a:t>
            </a:r>
            <a:r>
              <a:rPr lang="zh-CN" altLang="en-US" sz="1200" kern="1200" dirty="0">
                <a:solidFill>
                  <a:schemeClr val="tx1"/>
                </a:solidFill>
                <a:effectLst/>
                <a:latin typeface="+mn-lt"/>
                <a:ea typeface="+mn-ea"/>
                <a:cs typeface="+mn-cs"/>
              </a:rPr>
              <a:t>进行异常检测并进行评估。</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中</a:t>
            </a:r>
            <a:r>
              <a:rPr lang="en-US" altLang="zh-CN" sz="1200" kern="1200" dirty="0" err="1">
                <a:solidFill>
                  <a:schemeClr val="tx1"/>
                </a:solidFill>
                <a:effectLst/>
                <a:latin typeface="+mn-lt"/>
                <a:ea typeface="+mn-ea"/>
                <a:cs typeface="+mn-cs"/>
              </a:rPr>
              <a:t>Train_fasttext</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Preprocess</a:t>
            </a:r>
            <a:r>
              <a:rPr lang="zh-CN" altLang="en-US"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Train_vae</a:t>
            </a:r>
            <a:r>
              <a:rPr lang="zh-CN" altLang="en-US"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Evaluation</a:t>
            </a:r>
            <a:r>
              <a:rPr lang="zh-CN" altLang="en-US" sz="1200" kern="1200" dirty="0">
                <a:solidFill>
                  <a:schemeClr val="tx1"/>
                </a:solidFill>
                <a:effectLst/>
                <a:latin typeface="+mn-lt"/>
                <a:ea typeface="+mn-ea"/>
                <a:cs typeface="+mn-cs"/>
              </a:rPr>
              <a:t>分别代表</a:t>
            </a:r>
            <a:r>
              <a:rPr lang="en-US" altLang="zh-CN" sz="1200" kern="1200" dirty="0" err="1">
                <a:solidFill>
                  <a:schemeClr val="tx1"/>
                </a:solidFill>
                <a:effectLst/>
                <a:latin typeface="+mn-lt"/>
                <a:ea typeface="+mn-ea"/>
                <a:cs typeface="+mn-cs"/>
              </a:rPr>
              <a:t>FastText</a:t>
            </a:r>
            <a:r>
              <a:rPr lang="zh-CN" altLang="en-US" sz="1200" kern="1200" dirty="0">
                <a:solidFill>
                  <a:schemeClr val="tx1"/>
                </a:solidFill>
                <a:effectLst/>
                <a:latin typeface="+mn-lt"/>
                <a:ea typeface="+mn-ea"/>
                <a:cs typeface="+mn-cs"/>
              </a:rPr>
              <a:t>词向量模型训练、预处理特征化、变分自编码器训练和最后的评估产出四部分，</a:t>
            </a:r>
            <a:r>
              <a:rPr lang="en-US" altLang="zh-CN" sz="1200" kern="1200" dirty="0">
                <a:solidFill>
                  <a:schemeClr val="tx1"/>
                </a:solidFill>
                <a:effectLst/>
                <a:latin typeface="+mn-lt"/>
                <a:ea typeface="+mn-ea"/>
                <a:cs typeface="+mn-cs"/>
              </a:rPr>
              <a:t>FASTTEXT_MODEL</a:t>
            </a:r>
            <a:r>
              <a:rPr lang="zh-CN" altLang="en-US" sz="1200" kern="1200" dirty="0">
                <a:solidFill>
                  <a:schemeClr val="tx1"/>
                </a:solidFill>
                <a:effectLst/>
                <a:latin typeface="+mn-lt"/>
                <a:ea typeface="+mn-ea"/>
                <a:cs typeface="+mn-cs"/>
              </a:rPr>
              <a:t>是利用训练集训练所得的词向量编码模型，其被用在预处理的特征化中，处理原始的训练集与测试集后分别得到特征向量</a:t>
            </a:r>
            <a:r>
              <a:rPr lang="en-US" altLang="zh-CN" sz="1200" kern="1200" dirty="0">
                <a:solidFill>
                  <a:schemeClr val="tx1"/>
                </a:solidFill>
                <a:effectLst/>
                <a:latin typeface="+mn-lt"/>
                <a:ea typeface="+mn-ea"/>
                <a:cs typeface="+mn-cs"/>
              </a:rPr>
              <a:t>TRAIN_FEATURES</a:t>
            </a:r>
            <a:r>
              <a:rPr lang="zh-CN" altLang="en-US" sz="1200" kern="1200" dirty="0">
                <a:solidFill>
                  <a:schemeClr val="tx1"/>
                </a:solidFill>
                <a:effectLst/>
                <a:latin typeface="+mn-lt"/>
                <a:ea typeface="+mn-ea"/>
                <a:cs typeface="+mn-cs"/>
              </a:rPr>
              <a:t>与</a:t>
            </a:r>
            <a:r>
              <a:rPr lang="en-US" altLang="zh-CN" sz="1200" kern="1200" dirty="0">
                <a:solidFill>
                  <a:schemeClr val="tx1"/>
                </a:solidFill>
                <a:effectLst/>
                <a:latin typeface="+mn-lt"/>
                <a:ea typeface="+mn-ea"/>
                <a:cs typeface="+mn-cs"/>
              </a:rPr>
              <a:t>TEST_FEATURES</a:t>
            </a:r>
            <a:r>
              <a:rPr lang="zh-CN" altLang="en-US" sz="1200" kern="1200" dirty="0">
                <a:solidFill>
                  <a:schemeClr val="tx1"/>
                </a:solidFill>
                <a:effectLst/>
                <a:latin typeface="+mn-lt"/>
                <a:ea typeface="+mn-ea"/>
                <a:cs typeface="+mn-cs"/>
              </a:rPr>
              <a:t>，前者进一步被用于变分自编码器训练，并得到</a:t>
            </a:r>
            <a:r>
              <a:rPr lang="en-US" altLang="zh-CN" sz="1200" kern="1200" dirty="0">
                <a:solidFill>
                  <a:schemeClr val="tx1"/>
                </a:solidFill>
                <a:effectLst/>
                <a:latin typeface="+mn-lt"/>
                <a:ea typeface="+mn-ea"/>
                <a:cs typeface="+mn-cs"/>
              </a:rPr>
              <a:t>VAE_MODEL</a:t>
            </a:r>
            <a:r>
              <a:rPr lang="zh-CN" altLang="en-US" sz="1200" kern="1200" dirty="0">
                <a:solidFill>
                  <a:schemeClr val="tx1"/>
                </a:solidFill>
                <a:effectLst/>
                <a:latin typeface="+mn-lt"/>
                <a:ea typeface="+mn-ea"/>
                <a:cs typeface="+mn-cs"/>
              </a:rPr>
              <a:t>。其在最后的评估环节中用于为</a:t>
            </a:r>
            <a:r>
              <a:rPr lang="en-US" altLang="zh-CN" sz="1200" kern="1200" dirty="0">
                <a:solidFill>
                  <a:schemeClr val="tx1"/>
                </a:solidFill>
                <a:effectLst/>
                <a:latin typeface="+mn-lt"/>
                <a:ea typeface="+mn-ea"/>
                <a:cs typeface="+mn-cs"/>
              </a:rPr>
              <a:t>TEST_FEATURES</a:t>
            </a:r>
            <a:r>
              <a:rPr lang="zh-CN" altLang="en-US" sz="1200" kern="1200" dirty="0">
                <a:solidFill>
                  <a:schemeClr val="tx1"/>
                </a:solidFill>
                <a:effectLst/>
                <a:latin typeface="+mn-lt"/>
                <a:ea typeface="+mn-ea"/>
                <a:cs typeface="+mn-cs"/>
              </a:rPr>
              <a:t>评分，框定阈值后得到最终的网络日志告警节点</a:t>
            </a:r>
            <a:r>
              <a:rPr lang="en-US" altLang="zh-CN" sz="1200" kern="1200" dirty="0">
                <a:solidFill>
                  <a:schemeClr val="tx1"/>
                </a:solidFill>
                <a:effectLst/>
                <a:latin typeface="+mn-lt"/>
                <a:ea typeface="+mn-ea"/>
                <a:cs typeface="+mn-cs"/>
              </a:rPr>
              <a:t>NET_ALARMS</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14</a:t>
            </a:fld>
            <a:endParaRPr lang="zh-CN" altLang="en-US"/>
          </a:p>
        </p:txBody>
      </p:sp>
    </p:spTree>
    <p:extLst>
      <p:ext uri="{BB962C8B-B14F-4D97-AF65-F5344CB8AC3E}">
        <p14:creationId xmlns:p14="http://schemas.microsoft.com/office/powerpoint/2010/main" val="41978299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sz="1200" kern="1200" dirty="0" err="1">
                <a:solidFill>
                  <a:schemeClr val="tx1"/>
                </a:solidFill>
                <a:effectLst/>
                <a:latin typeface="+mn-lt"/>
                <a:ea typeface="+mn-ea"/>
                <a:cs typeface="+mn-cs"/>
              </a:rPr>
              <a:t>FastText</a:t>
            </a:r>
            <a:r>
              <a:rPr lang="zh-CN" altLang="en-US" sz="1200" kern="1200" dirty="0">
                <a:solidFill>
                  <a:schemeClr val="tx1"/>
                </a:solidFill>
                <a:effectLst/>
                <a:latin typeface="+mn-lt"/>
                <a:ea typeface="+mn-ea"/>
                <a:cs typeface="+mn-cs"/>
              </a:rPr>
              <a:t>作为一种高效的词表示学习和文本分类算法，区别于传统的</a:t>
            </a:r>
            <a:r>
              <a:rPr lang="en-US" altLang="zh-CN" sz="1200" kern="1200" dirty="0">
                <a:solidFill>
                  <a:schemeClr val="tx1"/>
                </a:solidFill>
                <a:effectLst/>
                <a:latin typeface="+mn-lt"/>
                <a:ea typeface="+mn-ea"/>
                <a:cs typeface="+mn-cs"/>
              </a:rPr>
              <a:t>Word2Vec</a:t>
            </a:r>
            <a:r>
              <a:rPr lang="zh-CN" altLang="en-US" sz="1200" kern="1200" dirty="0">
                <a:solidFill>
                  <a:schemeClr val="tx1"/>
                </a:solidFill>
                <a:effectLst/>
                <a:latin typeface="+mn-lt"/>
                <a:ea typeface="+mn-ea"/>
                <a:cs typeface="+mn-cs"/>
              </a:rPr>
              <a:t>模型</a:t>
            </a:r>
            <a:r>
              <a:rPr lang="en-US" altLang="zh-CN" sz="1200" kern="1200" dirty="0">
                <a:solidFill>
                  <a:schemeClr val="tx1"/>
                </a:solidFill>
                <a:effectLst/>
                <a:latin typeface="+mn-lt"/>
                <a:ea typeface="+mn-ea"/>
                <a:cs typeface="+mn-cs"/>
              </a:rPr>
              <a:t>[18]</a:t>
            </a:r>
            <a:r>
              <a:rPr lang="zh-CN" altLang="en-US" sz="1200" kern="1200" dirty="0">
                <a:solidFill>
                  <a:schemeClr val="tx1"/>
                </a:solidFill>
                <a:effectLst/>
                <a:latin typeface="+mn-lt"/>
                <a:ea typeface="+mn-ea"/>
                <a:cs typeface="+mn-cs"/>
              </a:rPr>
              <a:t>，其特点主要在于将文本的词拆分为字符级的</a:t>
            </a:r>
            <a:r>
              <a:rPr lang="en-US" altLang="zh-CN" sz="1200" kern="1200" dirty="0">
                <a:solidFill>
                  <a:schemeClr val="tx1"/>
                </a:solidFill>
                <a:effectLst/>
                <a:latin typeface="+mn-lt"/>
                <a:ea typeface="+mn-ea"/>
                <a:cs typeface="+mn-cs"/>
              </a:rPr>
              <a:t>n-gram</a:t>
            </a:r>
            <a:r>
              <a:rPr lang="zh-CN" altLang="en-US" sz="1200" kern="1200" dirty="0">
                <a:solidFill>
                  <a:schemeClr val="tx1"/>
                </a:solidFill>
                <a:effectLst/>
                <a:latin typeface="+mn-lt"/>
                <a:ea typeface="+mn-ea"/>
                <a:cs typeface="+mn-cs"/>
              </a:rPr>
              <a:t>子词组合而不是将词作为原子单位来处理，因此选择</a:t>
            </a:r>
            <a:r>
              <a:rPr lang="en-US" altLang="zh-CN" sz="1200" kern="1200" dirty="0" err="1">
                <a:solidFill>
                  <a:schemeClr val="tx1"/>
                </a:solidFill>
                <a:effectLst/>
                <a:latin typeface="+mn-lt"/>
                <a:ea typeface="+mn-ea"/>
                <a:cs typeface="+mn-cs"/>
              </a:rPr>
              <a:t>FastText</a:t>
            </a:r>
            <a:r>
              <a:rPr lang="zh-CN" altLang="en-US" sz="1200" kern="1200" dirty="0">
                <a:solidFill>
                  <a:schemeClr val="tx1"/>
                </a:solidFill>
                <a:effectLst/>
                <a:latin typeface="+mn-lt"/>
                <a:ea typeface="+mn-ea"/>
                <a:cs typeface="+mn-cs"/>
              </a:rPr>
              <a:t>模型来处理网络流量日志数据是非常合适的。从日志结构上看，网络数据中的</a:t>
            </a:r>
            <a:r>
              <a:rPr lang="en-US" altLang="zh-CN" sz="1200" kern="1200" dirty="0">
                <a:solidFill>
                  <a:schemeClr val="tx1"/>
                </a:solidFill>
                <a:effectLst/>
                <a:latin typeface="+mn-lt"/>
                <a:ea typeface="+mn-ea"/>
                <a:cs typeface="+mn-cs"/>
              </a:rPr>
              <a:t>IP</a:t>
            </a:r>
            <a:r>
              <a:rPr lang="zh-CN" altLang="en-US" sz="1200" kern="1200" dirty="0">
                <a:solidFill>
                  <a:schemeClr val="tx1"/>
                </a:solidFill>
                <a:effectLst/>
                <a:latin typeface="+mn-lt"/>
                <a:ea typeface="+mn-ea"/>
                <a:cs typeface="+mn-cs"/>
              </a:rPr>
              <a:t>地址和端口号等标识符具有相当明显的层次结构特征，比如“</a:t>
            </a:r>
            <a:r>
              <a:rPr lang="en-US" altLang="zh-CN" sz="1200" kern="1200" dirty="0">
                <a:solidFill>
                  <a:schemeClr val="tx1"/>
                </a:solidFill>
                <a:effectLst/>
                <a:latin typeface="+mn-lt"/>
                <a:ea typeface="+mn-ea"/>
                <a:cs typeface="+mn-cs"/>
              </a:rPr>
              <a:t>191.94.54.5:8080</a:t>
            </a:r>
            <a:r>
              <a:rPr lang="zh-CN" altLang="en-US" sz="1200" kern="1200" dirty="0">
                <a:solidFill>
                  <a:schemeClr val="tx1"/>
                </a:solidFill>
                <a:effectLst/>
                <a:latin typeface="+mn-lt"/>
                <a:ea typeface="+mn-ea"/>
                <a:cs typeface="+mn-cs"/>
              </a:rPr>
              <a:t>”中的“</a:t>
            </a:r>
            <a:r>
              <a:rPr lang="en-US" altLang="zh-CN" sz="1200" kern="1200" dirty="0">
                <a:solidFill>
                  <a:schemeClr val="tx1"/>
                </a:solidFill>
                <a:effectLst/>
                <a:latin typeface="+mn-lt"/>
                <a:ea typeface="+mn-ea"/>
                <a:cs typeface="+mn-cs"/>
              </a:rPr>
              <a:t>191</a:t>
            </a:r>
            <a:r>
              <a:rPr lang="zh-CN" altLang="en-US" sz="1200" kern="1200" dirty="0">
                <a:solidFill>
                  <a:schemeClr val="tx1"/>
                </a:solidFill>
                <a:effectLst/>
                <a:latin typeface="+mn-lt"/>
                <a:ea typeface="+mn-ea"/>
                <a:cs typeface="+mn-cs"/>
              </a:rPr>
              <a:t>”等网段信息以及端口号“</a:t>
            </a:r>
            <a:r>
              <a:rPr lang="en-US" altLang="zh-CN" sz="1200" kern="1200" dirty="0">
                <a:solidFill>
                  <a:schemeClr val="tx1"/>
                </a:solidFill>
                <a:effectLst/>
                <a:latin typeface="+mn-lt"/>
                <a:ea typeface="+mn-ea"/>
                <a:cs typeface="+mn-cs"/>
              </a:rPr>
              <a:t>8080</a:t>
            </a:r>
            <a:r>
              <a:rPr lang="zh-CN" altLang="en-US" sz="1200" kern="1200" dirty="0">
                <a:solidFill>
                  <a:schemeClr val="tx1"/>
                </a:solidFill>
                <a:effectLst/>
                <a:latin typeface="+mn-lt"/>
                <a:ea typeface="+mn-ea"/>
                <a:cs typeface="+mn-cs"/>
              </a:rPr>
              <a:t>”都是十分重要的信息。同时，由于网络日志数据规模相当大，</a:t>
            </a:r>
            <a:r>
              <a:rPr lang="en-US" altLang="zh-CN" sz="1200" kern="1200" dirty="0" err="1">
                <a:solidFill>
                  <a:schemeClr val="tx1"/>
                </a:solidFill>
                <a:effectLst/>
                <a:latin typeface="+mn-lt"/>
                <a:ea typeface="+mn-ea"/>
                <a:cs typeface="+mn-cs"/>
              </a:rPr>
              <a:t>FastText</a:t>
            </a:r>
            <a:r>
              <a:rPr lang="zh-CN" altLang="en-US" sz="1200" kern="1200" dirty="0">
                <a:solidFill>
                  <a:schemeClr val="tx1"/>
                </a:solidFill>
                <a:effectLst/>
                <a:latin typeface="+mn-lt"/>
                <a:ea typeface="+mn-ea"/>
                <a:cs typeface="+mn-cs"/>
              </a:rPr>
              <a:t>作为轻量级的模型，不会像深度学习模型那样在训练和推理的流程中占用大量空间资源，适合部署在资源受限的网络安全设备上；同时其快速训练的特性也使其能够在较为合理的时间内处理大量的网络日志</a:t>
            </a:r>
            <a:r>
              <a:rPr lang="en-US" altLang="zh-CN" sz="1200" kern="1200" dirty="0">
                <a:solidFill>
                  <a:schemeClr val="tx1"/>
                </a:solidFill>
                <a:effectLst/>
                <a:latin typeface="+mn-lt"/>
                <a:ea typeface="+mn-ea"/>
                <a:cs typeface="+mn-cs"/>
              </a:rPr>
              <a:t>[13]</a:t>
            </a:r>
            <a:r>
              <a:rPr lang="zh-CN" altLang="en-US" sz="1200" kern="1200" dirty="0">
                <a:solidFill>
                  <a:schemeClr val="tx1"/>
                </a:solidFill>
                <a:effectLst/>
                <a:latin typeface="+mn-lt"/>
                <a:ea typeface="+mn-ea"/>
                <a:cs typeface="+mn-cs"/>
              </a:rPr>
              <a:t>。</a:t>
            </a:r>
          </a:p>
          <a:p>
            <a:r>
              <a:rPr lang="zh-CN" altLang="en-US" sz="1200" kern="1200" dirty="0">
                <a:solidFill>
                  <a:schemeClr val="tx1"/>
                </a:solidFill>
                <a:effectLst/>
                <a:latin typeface="+mn-lt"/>
                <a:ea typeface="+mn-ea"/>
                <a:cs typeface="+mn-cs"/>
              </a:rPr>
              <a:t>基于此，不失一般性，我们首先从良性网络日志中提取出流量的源</a:t>
            </a:r>
            <a:r>
              <a:rPr lang="en-US" altLang="zh-CN" sz="1200" kern="1200" dirty="0">
                <a:solidFill>
                  <a:schemeClr val="tx1"/>
                </a:solidFill>
                <a:effectLst/>
                <a:latin typeface="+mn-lt"/>
                <a:ea typeface="+mn-ea"/>
                <a:cs typeface="+mn-cs"/>
              </a:rPr>
              <a:t>IP</a:t>
            </a:r>
            <a:r>
              <a:rPr lang="zh-CN" altLang="en-US" sz="1200" kern="1200" dirty="0">
                <a:solidFill>
                  <a:schemeClr val="tx1"/>
                </a:solidFill>
                <a:effectLst/>
                <a:latin typeface="+mn-lt"/>
                <a:ea typeface="+mn-ea"/>
                <a:cs typeface="+mn-cs"/>
              </a:rPr>
              <a:t>地址及端口</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、目标</a:t>
            </a:r>
            <a:r>
              <a:rPr lang="en-US" altLang="zh-CN" sz="1200" kern="1200" dirty="0">
                <a:solidFill>
                  <a:schemeClr val="tx1"/>
                </a:solidFill>
                <a:effectLst/>
                <a:latin typeface="+mn-lt"/>
                <a:ea typeface="+mn-ea"/>
                <a:cs typeface="+mn-cs"/>
              </a:rPr>
              <a:t>IP</a:t>
            </a:r>
            <a:r>
              <a:rPr lang="zh-CN" altLang="en-US" sz="1200" kern="1200" dirty="0">
                <a:solidFill>
                  <a:schemeClr val="tx1"/>
                </a:solidFill>
                <a:effectLst/>
                <a:latin typeface="+mn-lt"/>
                <a:ea typeface="+mn-ea"/>
                <a:cs typeface="+mn-cs"/>
              </a:rPr>
              <a:t>及端口</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和流量类型</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，将三者依次用空格连接，组合成格式的短语，并利用</a:t>
            </a:r>
            <a:r>
              <a:rPr lang="en-US" altLang="zh-CN" sz="1200" kern="1200" dirty="0" err="1">
                <a:solidFill>
                  <a:schemeClr val="tx1"/>
                </a:solidFill>
                <a:effectLst/>
                <a:latin typeface="+mn-lt"/>
                <a:ea typeface="+mn-ea"/>
                <a:cs typeface="+mn-cs"/>
              </a:rPr>
              <a:t>FastText</a:t>
            </a:r>
            <a:r>
              <a:rPr lang="zh-CN" altLang="en-US" sz="1200" kern="1200" dirty="0">
                <a:solidFill>
                  <a:schemeClr val="tx1"/>
                </a:solidFill>
                <a:effectLst/>
                <a:latin typeface="+mn-lt"/>
                <a:ea typeface="+mn-ea"/>
                <a:cs typeface="+mn-cs"/>
              </a:rPr>
              <a:t>学习其上下文关系，识别正常的通信模式，从而为后续的异常检测提供丰富的特征表示。</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dirty="0" err="1"/>
              <a:t>FastText</a:t>
            </a:r>
            <a:r>
              <a:rPr lang="zh-CN" altLang="en-US" dirty="0"/>
              <a:t>把每个词分解为多个</a:t>
            </a:r>
            <a:r>
              <a:rPr lang="en-US" altLang="zh-CN" dirty="0"/>
              <a:t>n-gram</a:t>
            </a:r>
            <a:r>
              <a:rPr lang="zh-CN" altLang="en-US" dirty="0"/>
              <a:t>子词，分别学习向量。</a:t>
            </a:r>
          </a:p>
          <a:p>
            <a:r>
              <a:rPr lang="zh-CN" altLang="en-US" dirty="0"/>
              <a:t>该公式表示目标词和上下文的相关性是所有</a:t>
            </a:r>
            <a:r>
              <a:rPr lang="en-US" altLang="zh-CN" dirty="0"/>
              <a:t>n-gram</a:t>
            </a:r>
            <a:r>
              <a:rPr lang="zh-CN" altLang="en-US" dirty="0"/>
              <a:t>向量与上下文向量点积之和。</a:t>
            </a:r>
          </a:p>
          <a:p>
            <a:r>
              <a:rPr lang="zh-CN" altLang="en-US" dirty="0"/>
              <a:t>这样可以提升模型对稀有词和子词结构的理解能力。</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Bojanowski, P., Grave, E., </a:t>
            </a:r>
            <a:r>
              <a:rPr lang="en-US" altLang="zh-CN" sz="1200" kern="1200" dirty="0" err="1">
                <a:solidFill>
                  <a:schemeClr val="tx1"/>
                </a:solidFill>
                <a:effectLst/>
                <a:latin typeface="+mn-lt"/>
                <a:ea typeface="+mn-ea"/>
                <a:cs typeface="+mn-cs"/>
              </a:rPr>
              <a:t>Joulin</a:t>
            </a:r>
            <a:r>
              <a:rPr lang="en-US" altLang="zh-CN" sz="1200" kern="1200" dirty="0">
                <a:solidFill>
                  <a:schemeClr val="tx1"/>
                </a:solidFill>
                <a:effectLst/>
                <a:latin typeface="+mn-lt"/>
                <a:ea typeface="+mn-ea"/>
                <a:cs typeface="+mn-cs"/>
              </a:rPr>
              <a:t>, A., &amp; </a:t>
            </a:r>
            <a:r>
              <a:rPr lang="en-US" altLang="zh-CN" sz="1200" kern="1200" dirty="0" err="1">
                <a:solidFill>
                  <a:schemeClr val="tx1"/>
                </a:solidFill>
                <a:effectLst/>
                <a:latin typeface="+mn-lt"/>
                <a:ea typeface="+mn-ea"/>
                <a:cs typeface="+mn-cs"/>
              </a:rPr>
              <a:t>Mikolov</a:t>
            </a:r>
            <a:r>
              <a:rPr lang="en-US" altLang="zh-CN" sz="1200" kern="1200" dirty="0">
                <a:solidFill>
                  <a:schemeClr val="tx1"/>
                </a:solidFill>
                <a:effectLst/>
                <a:latin typeface="+mn-lt"/>
                <a:ea typeface="+mn-ea"/>
                <a:cs typeface="+mn-cs"/>
              </a:rPr>
              <a:t>, T. (2017). Enriching word vectors with </a:t>
            </a:r>
            <a:r>
              <a:rPr lang="en-US" altLang="zh-CN" sz="1200" kern="1200" dirty="0" err="1">
                <a:solidFill>
                  <a:schemeClr val="tx1"/>
                </a:solidFill>
                <a:effectLst/>
                <a:latin typeface="+mn-lt"/>
                <a:ea typeface="+mn-ea"/>
                <a:cs typeface="+mn-cs"/>
              </a:rPr>
              <a:t>subword</a:t>
            </a:r>
            <a:r>
              <a:rPr lang="en-US" altLang="zh-CN" sz="1200" kern="1200" dirty="0">
                <a:solidFill>
                  <a:schemeClr val="tx1"/>
                </a:solidFill>
                <a:effectLst/>
                <a:latin typeface="+mn-lt"/>
                <a:ea typeface="+mn-ea"/>
                <a:cs typeface="+mn-cs"/>
              </a:rPr>
              <a:t> information. </a:t>
            </a:r>
            <a:r>
              <a:rPr lang="en-US" altLang="zh-CN" sz="1200" i="1" kern="1200" dirty="0">
                <a:solidFill>
                  <a:schemeClr val="tx1"/>
                </a:solidFill>
                <a:effectLst/>
                <a:latin typeface="+mn-lt"/>
                <a:ea typeface="+mn-ea"/>
                <a:cs typeface="+mn-cs"/>
              </a:rPr>
              <a:t>Transactions of the association for computational linguistics</a:t>
            </a:r>
            <a:r>
              <a:rPr lang="en-US" altLang="zh-CN" sz="1200"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5</a:t>
            </a:r>
            <a:r>
              <a:rPr lang="en-US" altLang="zh-CN" sz="1200" kern="1200" dirty="0">
                <a:solidFill>
                  <a:schemeClr val="tx1"/>
                </a:solidFill>
                <a:effectLst/>
                <a:latin typeface="+mn-lt"/>
                <a:ea typeface="+mn-ea"/>
                <a:cs typeface="+mn-cs"/>
              </a:rPr>
              <a:t>, 135-146.</a:t>
            </a:r>
          </a:p>
          <a:p>
            <a:endParaRPr lang="zh-CN" altLang="en-US" dirty="0"/>
          </a:p>
          <a:p>
            <a:endParaRPr lang="zh-CN" altLang="en-US"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15</a:t>
            </a:fld>
            <a:endParaRPr lang="zh-CN" altLang="en-US"/>
          </a:p>
        </p:txBody>
      </p:sp>
    </p:spTree>
    <p:extLst>
      <p:ext uri="{BB962C8B-B14F-4D97-AF65-F5344CB8AC3E}">
        <p14:creationId xmlns:p14="http://schemas.microsoft.com/office/powerpoint/2010/main" val="33233056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首先载入日志数据。网络流量日志数据规模相当大，因此将其载入需要同时考虑时间与空间资源的优化与分配问题。预处理阶段需要高效的数据载入，我们推荐分批次读取数据集以减少</a:t>
            </a:r>
            <a:r>
              <a:rPr lang="en-US" altLang="zh-CN" sz="1200" kern="1200" dirty="0">
                <a:solidFill>
                  <a:schemeClr val="tx1"/>
                </a:solidFill>
                <a:effectLst/>
                <a:latin typeface="+mn-lt"/>
                <a:ea typeface="+mn-ea"/>
                <a:cs typeface="+mn-cs"/>
              </a:rPr>
              <a:t>I/O</a:t>
            </a:r>
            <a:r>
              <a:rPr lang="zh-CN" altLang="en-US" sz="1200" kern="1200" dirty="0">
                <a:solidFill>
                  <a:schemeClr val="tx1"/>
                </a:solidFill>
                <a:effectLst/>
                <a:latin typeface="+mn-lt"/>
                <a:ea typeface="+mn-ea"/>
                <a:cs typeface="+mn-cs"/>
              </a:rPr>
              <a:t>次数。载入后，采用多线程并行处理技术，批量读取网络流量记录并行解析，与</a:t>
            </a:r>
            <a:r>
              <a:rPr lang="en-US" altLang="zh-CN" sz="1200" kern="1200" dirty="0">
                <a:solidFill>
                  <a:schemeClr val="tx1"/>
                </a:solidFill>
                <a:effectLst/>
                <a:latin typeface="+mn-lt"/>
                <a:ea typeface="+mn-ea"/>
                <a:cs typeface="+mn-cs"/>
              </a:rPr>
              <a:t>2.3.1</a:t>
            </a:r>
            <a:r>
              <a:rPr lang="zh-CN" altLang="en-US" sz="1200" kern="1200" dirty="0">
                <a:solidFill>
                  <a:schemeClr val="tx1"/>
                </a:solidFill>
                <a:effectLst/>
                <a:latin typeface="+mn-lt"/>
                <a:ea typeface="+mn-ea"/>
                <a:cs typeface="+mn-cs"/>
              </a:rPr>
              <a:t>节一致，提取出网络事件的源</a:t>
            </a:r>
            <a:r>
              <a:rPr lang="en-US" altLang="zh-CN" sz="1200" kern="1200" dirty="0">
                <a:solidFill>
                  <a:schemeClr val="tx1"/>
                </a:solidFill>
                <a:effectLst/>
                <a:latin typeface="+mn-lt"/>
                <a:ea typeface="+mn-ea"/>
                <a:cs typeface="+mn-cs"/>
              </a:rPr>
              <a:t>IP</a:t>
            </a:r>
            <a:r>
              <a:rPr lang="zh-CN" altLang="en-US" sz="1200" kern="1200" dirty="0">
                <a:solidFill>
                  <a:schemeClr val="tx1"/>
                </a:solidFill>
                <a:effectLst/>
                <a:latin typeface="+mn-lt"/>
                <a:ea typeface="+mn-ea"/>
                <a:cs typeface="+mn-cs"/>
              </a:rPr>
              <a:t>及端口、目标</a:t>
            </a:r>
            <a:r>
              <a:rPr lang="en-US" altLang="zh-CN" sz="1200" kern="1200" dirty="0">
                <a:solidFill>
                  <a:schemeClr val="tx1"/>
                </a:solidFill>
                <a:effectLst/>
                <a:latin typeface="+mn-lt"/>
                <a:ea typeface="+mn-ea"/>
                <a:cs typeface="+mn-cs"/>
              </a:rPr>
              <a:t>IP</a:t>
            </a:r>
            <a:r>
              <a:rPr lang="zh-CN" altLang="en-US" sz="1200" kern="1200" dirty="0">
                <a:solidFill>
                  <a:schemeClr val="tx1"/>
                </a:solidFill>
                <a:effectLst/>
                <a:latin typeface="+mn-lt"/>
                <a:ea typeface="+mn-ea"/>
                <a:cs typeface="+mn-cs"/>
              </a:rPr>
              <a:t>及端口和流量类型三个标签，并组合成短语</a:t>
            </a:r>
            <a:r>
              <a:rPr lang="en-US" altLang="zh-CN" sz="1200" kern="1200" dirty="0">
                <a:solidFill>
                  <a:schemeClr val="tx1"/>
                </a:solidFill>
                <a:effectLst/>
                <a:latin typeface="+mn-lt"/>
                <a:ea typeface="+mn-ea"/>
                <a:cs typeface="+mn-cs"/>
              </a:rPr>
              <a:t>(phrase)</a:t>
            </a:r>
            <a:r>
              <a:rPr lang="zh-CN" altLang="en-US" sz="1200" kern="1200" dirty="0">
                <a:solidFill>
                  <a:schemeClr val="tx1"/>
                </a:solidFill>
                <a:effectLst/>
                <a:latin typeface="+mn-lt"/>
                <a:ea typeface="+mn-ea"/>
                <a:cs typeface="+mn-cs"/>
              </a:rPr>
              <a:t>。现在我们完成了数据的扁平化处理，基于此，我们将数据结构化存储</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dataframe</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后，按时间戳排序。</a:t>
            </a:r>
          </a:p>
          <a:p>
            <a:r>
              <a:rPr lang="zh-CN" altLang="en-US" sz="1200" kern="1200" dirty="0">
                <a:solidFill>
                  <a:schemeClr val="tx1"/>
                </a:solidFill>
                <a:effectLst/>
                <a:latin typeface="+mn-lt"/>
                <a:ea typeface="+mn-ea"/>
                <a:cs typeface="+mn-cs"/>
              </a:rPr>
              <a:t>随后进行溯源图的构建。利用前一步得到的短语信息，将</a:t>
            </a:r>
            <a:r>
              <a:rPr lang="en-US" altLang="zh-CN" sz="1200" kern="1200" dirty="0">
                <a:solidFill>
                  <a:schemeClr val="tx1"/>
                </a:solidFill>
                <a:effectLst/>
                <a:latin typeface="+mn-lt"/>
                <a:ea typeface="+mn-ea"/>
                <a:cs typeface="+mn-cs"/>
              </a:rPr>
              <a:t>IP</a:t>
            </a:r>
            <a:r>
              <a:rPr lang="zh-CN" altLang="en-US" sz="1200" kern="1200" dirty="0">
                <a:solidFill>
                  <a:schemeClr val="tx1"/>
                </a:solidFill>
                <a:effectLst/>
                <a:latin typeface="+mn-lt"/>
                <a:ea typeface="+mn-ea"/>
                <a:cs typeface="+mn-cs"/>
              </a:rPr>
              <a:t>端口抽象为图中的节点，遍历所有的日志数据连接记录，为每个节点收集其参与的通信过程从而形成节点特征的原始数据，将日志中表示的网络拓扑关系进一步转换为节点级别的行为特征。这样构建出的图可以用于描述攻击行为在网络通信过程中产生的攻击链路，并且蕴含了节点间可能有的重要交互关系。</a:t>
            </a:r>
          </a:p>
          <a:p>
            <a:r>
              <a:rPr lang="zh-CN" altLang="en-US" sz="1200" kern="1200" dirty="0">
                <a:solidFill>
                  <a:schemeClr val="tx1"/>
                </a:solidFill>
                <a:effectLst/>
                <a:latin typeface="+mn-lt"/>
                <a:ea typeface="+mn-ea"/>
                <a:cs typeface="+mn-cs"/>
              </a:rPr>
              <a:t>最后进行特征提取。我们利用</a:t>
            </a:r>
            <a:r>
              <a:rPr lang="en-US" altLang="zh-CN" sz="1200" kern="1200" dirty="0">
                <a:solidFill>
                  <a:schemeClr val="tx1"/>
                </a:solidFill>
                <a:effectLst/>
                <a:latin typeface="+mn-lt"/>
                <a:ea typeface="+mn-ea"/>
                <a:cs typeface="+mn-cs"/>
              </a:rPr>
              <a:t>2.3.1</a:t>
            </a:r>
            <a:r>
              <a:rPr lang="zh-CN" altLang="en-US" sz="1200" kern="1200" dirty="0">
                <a:solidFill>
                  <a:schemeClr val="tx1"/>
                </a:solidFill>
                <a:effectLst/>
                <a:latin typeface="+mn-lt"/>
                <a:ea typeface="+mn-ea"/>
                <a:cs typeface="+mn-cs"/>
              </a:rPr>
              <a:t>节中训练得到的</a:t>
            </a:r>
            <a:r>
              <a:rPr lang="en-US" altLang="zh-CN" sz="1200" kern="1200" dirty="0" err="1">
                <a:solidFill>
                  <a:schemeClr val="tx1"/>
                </a:solidFill>
                <a:effectLst/>
                <a:latin typeface="+mn-lt"/>
                <a:ea typeface="+mn-ea"/>
                <a:cs typeface="+mn-cs"/>
              </a:rPr>
              <a:t>FastText</a:t>
            </a:r>
            <a:r>
              <a:rPr lang="zh-CN" altLang="en-US" sz="1200" kern="1200" dirty="0">
                <a:solidFill>
                  <a:schemeClr val="tx1"/>
                </a:solidFill>
                <a:effectLst/>
                <a:latin typeface="+mn-lt"/>
                <a:ea typeface="+mn-ea"/>
                <a:cs typeface="+mn-cs"/>
              </a:rPr>
              <a:t>模型，结合位置编码器</a:t>
            </a:r>
            <a:r>
              <a:rPr lang="en-US" altLang="zh-CN" sz="1200" kern="1200" dirty="0">
                <a:solidFill>
                  <a:schemeClr val="tx1"/>
                </a:solidFill>
                <a:effectLst/>
                <a:latin typeface="+mn-lt"/>
                <a:ea typeface="+mn-ea"/>
                <a:cs typeface="+mn-cs"/>
              </a:rPr>
              <a:t>[19]</a:t>
            </a:r>
            <a:r>
              <a:rPr lang="zh-CN" altLang="en-US" sz="1200" kern="1200" dirty="0">
                <a:solidFill>
                  <a:schemeClr val="tx1"/>
                </a:solidFill>
                <a:effectLst/>
                <a:latin typeface="+mn-lt"/>
                <a:ea typeface="+mn-ea"/>
                <a:cs typeface="+mn-cs"/>
              </a:rPr>
              <a:t>以增强时序信息，为每个节点生成最终的</a:t>
            </a:r>
            <a:r>
              <a:rPr lang="en-US" altLang="zh-CN" sz="1200" kern="1200" dirty="0">
                <a:solidFill>
                  <a:schemeClr val="tx1"/>
                </a:solidFill>
                <a:effectLst/>
                <a:latin typeface="+mn-lt"/>
                <a:ea typeface="+mn-ea"/>
                <a:cs typeface="+mn-cs"/>
              </a:rPr>
              <a:t>64</a:t>
            </a:r>
            <a:r>
              <a:rPr lang="zh-CN" altLang="en-US" sz="1200" kern="1200" dirty="0">
                <a:solidFill>
                  <a:schemeClr val="tx1"/>
                </a:solidFill>
                <a:effectLst/>
                <a:latin typeface="+mn-lt"/>
                <a:ea typeface="+mn-ea"/>
                <a:cs typeface="+mn-cs"/>
              </a:rPr>
              <a:t>维的特征向量表示。</a:t>
            </a:r>
          </a:p>
          <a:p>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16</a:t>
            </a:fld>
            <a:endParaRPr lang="zh-CN" altLang="en-US"/>
          </a:p>
        </p:txBody>
      </p:sp>
    </p:spTree>
    <p:extLst>
      <p:ext uri="{BB962C8B-B14F-4D97-AF65-F5344CB8AC3E}">
        <p14:creationId xmlns:p14="http://schemas.microsoft.com/office/powerpoint/2010/main" val="5255541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变分自编码器</a:t>
            </a:r>
            <a:r>
              <a:rPr lang="en-US" altLang="zh-CN" sz="1200" kern="1200" dirty="0">
                <a:solidFill>
                  <a:schemeClr val="tx1"/>
                </a:solidFill>
                <a:effectLst/>
                <a:latin typeface="+mn-lt"/>
                <a:ea typeface="+mn-ea"/>
                <a:cs typeface="+mn-cs"/>
              </a:rPr>
              <a:t>(VAE)</a:t>
            </a:r>
            <a:r>
              <a:rPr lang="zh-CN" altLang="en-US" sz="1200" kern="1200" dirty="0">
                <a:solidFill>
                  <a:schemeClr val="tx1"/>
                </a:solidFill>
                <a:effectLst/>
                <a:latin typeface="+mn-lt"/>
                <a:ea typeface="+mn-ea"/>
                <a:cs typeface="+mn-cs"/>
              </a:rPr>
              <a:t>模型利用编码器将输入的数据映射到潜在空间的分布参数，随后再利用解码器从潜在空间采样并重构原始的数据，利用两者的比照等流程来进行数据的分布学习。</a:t>
            </a:r>
          </a:p>
          <a:p>
            <a:r>
              <a:rPr lang="zh-CN" altLang="en-US" sz="1200" kern="1200" dirty="0">
                <a:solidFill>
                  <a:schemeClr val="tx1"/>
                </a:solidFill>
                <a:effectLst/>
                <a:latin typeface="+mn-lt"/>
                <a:ea typeface="+mn-ea"/>
                <a:cs typeface="+mn-cs"/>
              </a:rPr>
              <a:t>我们将</a:t>
            </a:r>
            <a:r>
              <a:rPr lang="en-US" altLang="zh-CN" sz="1200" kern="1200" dirty="0" err="1">
                <a:solidFill>
                  <a:schemeClr val="tx1"/>
                </a:solidFill>
                <a:effectLst/>
                <a:latin typeface="+mn-lt"/>
                <a:ea typeface="+mn-ea"/>
                <a:cs typeface="+mn-cs"/>
              </a:rPr>
              <a:t>Nodlink</a:t>
            </a:r>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VAE</a:t>
            </a:r>
            <a:r>
              <a:rPr lang="zh-CN" altLang="en-US" sz="1200" kern="1200" dirty="0">
                <a:solidFill>
                  <a:schemeClr val="tx1"/>
                </a:solidFill>
                <a:effectLst/>
                <a:latin typeface="+mn-lt"/>
                <a:ea typeface="+mn-ea"/>
                <a:cs typeface="+mn-cs"/>
              </a:rPr>
              <a:t>模型用于异常检测。模型的输入是为每个网络节点的嵌入向量（由</a:t>
            </a:r>
            <a:r>
              <a:rPr lang="en-US" altLang="zh-CN" sz="1200" kern="1200" dirty="0">
                <a:solidFill>
                  <a:schemeClr val="tx1"/>
                </a:solidFill>
                <a:effectLst/>
                <a:latin typeface="+mn-lt"/>
                <a:ea typeface="+mn-ea"/>
                <a:cs typeface="+mn-cs"/>
              </a:rPr>
              <a:t>2.3.2</a:t>
            </a:r>
            <a:r>
              <a:rPr lang="zh-CN" altLang="en-US" sz="1200" kern="1200" dirty="0">
                <a:solidFill>
                  <a:schemeClr val="tx1"/>
                </a:solidFill>
                <a:effectLst/>
                <a:latin typeface="+mn-lt"/>
                <a:ea typeface="+mn-ea"/>
                <a:cs typeface="+mn-cs"/>
              </a:rPr>
              <a:t>得到），输出是一个异常分数。处理流程如下：首先，对于一个进程节点，将其嵌入向量输入到</a:t>
            </a:r>
            <a:r>
              <a:rPr lang="en-US" altLang="zh-CN" sz="1200" kern="1200" dirty="0">
                <a:solidFill>
                  <a:schemeClr val="tx1"/>
                </a:solidFill>
                <a:effectLst/>
                <a:latin typeface="+mn-lt"/>
                <a:ea typeface="+mn-ea"/>
                <a:cs typeface="+mn-cs"/>
              </a:rPr>
              <a:t>VAE</a:t>
            </a:r>
            <a:r>
              <a:rPr lang="zh-CN" altLang="en-US" sz="1200" kern="1200" dirty="0">
                <a:solidFill>
                  <a:schemeClr val="tx1"/>
                </a:solidFill>
                <a:effectLst/>
                <a:latin typeface="+mn-lt"/>
                <a:ea typeface="+mn-ea"/>
                <a:cs typeface="+mn-cs"/>
              </a:rPr>
              <a:t>模型中，获得输入向量的重构结果。然后，比较原始嵌入与重构嵌入。如果两者差异显著，那么输入节点更可能是一个异常节点。我们将归一化均方误差</a:t>
            </a:r>
            <a:r>
              <a:rPr lang="en-US" altLang="zh-CN" sz="1200" kern="1200" dirty="0">
                <a:solidFill>
                  <a:schemeClr val="tx1"/>
                </a:solidFill>
                <a:effectLst/>
                <a:latin typeface="+mn-lt"/>
                <a:ea typeface="+mn-ea"/>
                <a:cs typeface="+mn-cs"/>
              </a:rPr>
              <a:t>(Normalized Mean-Square Error, NMSE)</a:t>
            </a:r>
            <a:r>
              <a:rPr lang="zh-CN" altLang="en-US" sz="1200" kern="1200" dirty="0">
                <a:solidFill>
                  <a:schemeClr val="tx1"/>
                </a:solidFill>
                <a:effectLst/>
                <a:latin typeface="+mn-lt"/>
                <a:ea typeface="+mn-ea"/>
                <a:cs typeface="+mn-cs"/>
              </a:rPr>
              <a:t>作为损失函数来数值化地衡量原始嵌入与重构嵌入之间的差异，也即重构误差</a:t>
            </a:r>
            <a:r>
              <a:rPr lang="en-US" altLang="zh-CN" sz="1200" kern="1200" dirty="0">
                <a:solidFill>
                  <a:schemeClr val="tx1"/>
                </a:solidFill>
                <a:effectLst/>
                <a:latin typeface="+mn-lt"/>
                <a:ea typeface="+mn-ea"/>
                <a:cs typeface="+mn-cs"/>
              </a:rPr>
              <a:t>(Reconstruction Error, RE)</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RE</a:t>
            </a:r>
            <a:r>
              <a:rPr lang="zh-CN" altLang="en-US" sz="1200" kern="1200" dirty="0">
                <a:solidFill>
                  <a:schemeClr val="tx1"/>
                </a:solidFill>
                <a:effectLst/>
                <a:latin typeface="+mn-lt"/>
                <a:ea typeface="+mn-ea"/>
                <a:cs typeface="+mn-cs"/>
              </a:rPr>
              <a:t>衡量了一个节点的稀有程度。换句话说，节点的</a:t>
            </a:r>
            <a:r>
              <a:rPr lang="en-US" altLang="zh-CN" sz="1200" kern="1200" dirty="0">
                <a:solidFill>
                  <a:schemeClr val="tx1"/>
                </a:solidFill>
                <a:effectLst/>
                <a:latin typeface="+mn-lt"/>
                <a:ea typeface="+mn-ea"/>
                <a:cs typeface="+mn-cs"/>
              </a:rPr>
              <a:t>RE</a:t>
            </a:r>
            <a:r>
              <a:rPr lang="zh-CN" altLang="en-US" sz="1200" kern="1200" dirty="0">
                <a:solidFill>
                  <a:schemeClr val="tx1"/>
                </a:solidFill>
                <a:effectLst/>
                <a:latin typeface="+mn-lt"/>
                <a:ea typeface="+mn-ea"/>
                <a:cs typeface="+mn-cs"/>
              </a:rPr>
              <a:t>值越高，根据历史数据，其越有可能是异常的。</a:t>
            </a:r>
          </a:p>
          <a:p>
            <a:r>
              <a:rPr lang="zh-CN" altLang="en-US" sz="1200" kern="1200" dirty="0">
                <a:solidFill>
                  <a:schemeClr val="tx1"/>
                </a:solidFill>
                <a:effectLst/>
                <a:latin typeface="+mn-lt"/>
                <a:ea typeface="+mn-ea"/>
                <a:cs typeface="+mn-cs"/>
              </a:rPr>
              <a:t>计算节点异常分数的一种方法是直接使用重构误差。然而，该方法可能对访问随机</a:t>
            </a:r>
            <a:r>
              <a:rPr lang="en-US" altLang="zh-CN" sz="1200" kern="1200" dirty="0">
                <a:solidFill>
                  <a:schemeClr val="tx1"/>
                </a:solidFill>
                <a:effectLst/>
                <a:latin typeface="+mn-lt"/>
                <a:ea typeface="+mn-ea"/>
                <a:cs typeface="+mn-cs"/>
              </a:rPr>
              <a:t>IP</a:t>
            </a:r>
            <a:r>
              <a:rPr lang="zh-CN" altLang="en-US" sz="1200" kern="1200" dirty="0">
                <a:solidFill>
                  <a:schemeClr val="tx1"/>
                </a:solidFill>
                <a:effectLst/>
                <a:latin typeface="+mn-lt"/>
                <a:ea typeface="+mn-ea"/>
                <a:cs typeface="+mn-cs"/>
              </a:rPr>
              <a:t>地址的不稳定通信产生误报。为了解决此问题，我们引入了稳定性分数</a:t>
            </a:r>
            <a:r>
              <a:rPr lang="en-US" altLang="zh-CN" sz="1200" kern="1200" dirty="0">
                <a:solidFill>
                  <a:schemeClr val="tx1"/>
                </a:solidFill>
                <a:effectLst/>
                <a:latin typeface="+mn-lt"/>
                <a:ea typeface="+mn-ea"/>
                <a:cs typeface="+mn-cs"/>
              </a:rPr>
              <a:t>SV</a:t>
            </a:r>
            <a:r>
              <a:rPr lang="zh-CN" altLang="en-US" sz="1200" kern="1200" dirty="0">
                <a:solidFill>
                  <a:schemeClr val="tx1"/>
                </a:solidFill>
                <a:effectLst/>
                <a:latin typeface="+mn-lt"/>
                <a:ea typeface="+mn-ea"/>
                <a:cs typeface="+mn-cs"/>
              </a:rPr>
              <a:t>来平衡不稳定通信的重构误差。定义为历史数据中与同名节点的嵌入向量的聚类数量，进一步定义异常分数</a:t>
            </a:r>
            <a:r>
              <a:rPr lang="en-US" altLang="zh-CN" sz="1200" kern="1200" dirty="0">
                <a:solidFill>
                  <a:schemeClr val="tx1"/>
                </a:solidFill>
                <a:effectLst/>
                <a:latin typeface="+mn-lt"/>
                <a:ea typeface="+mn-ea"/>
                <a:cs typeface="+mn-cs"/>
              </a:rPr>
              <a:t>(Anomaly Score, )</a:t>
            </a:r>
            <a:r>
              <a:rPr lang="zh-CN" altLang="en-US" sz="1200" kern="1200" dirty="0">
                <a:solidFill>
                  <a:schemeClr val="tx1"/>
                </a:solidFill>
                <a:effectLst/>
                <a:latin typeface="+mn-lt"/>
                <a:ea typeface="+mn-ea"/>
                <a:cs typeface="+mn-cs"/>
              </a:rPr>
              <a:t>：</a:t>
            </a:r>
          </a:p>
          <a:p>
            <a:r>
              <a:rPr lang="zh-CN" altLang="en-US" sz="1200" kern="1200" dirty="0">
                <a:solidFill>
                  <a:schemeClr val="tx1"/>
                </a:solidFill>
                <a:effectLst/>
                <a:latin typeface="+mn-lt"/>
                <a:ea typeface="+mn-ea"/>
                <a:cs typeface="+mn-cs"/>
              </a:rPr>
              <a:t> </a:t>
            </a:r>
          </a:p>
          <a:p>
            <a:r>
              <a:rPr lang="zh-CN" altLang="en-US" sz="1200" kern="1200" dirty="0">
                <a:solidFill>
                  <a:schemeClr val="tx1"/>
                </a:solidFill>
                <a:effectLst/>
                <a:latin typeface="+mn-lt"/>
                <a:ea typeface="+mn-ea"/>
                <a:cs typeface="+mn-cs"/>
              </a:rPr>
              <a:t>其中即为我们之前所得的网络节点的向量表示，为节点的重构误差，是聚类数。</a:t>
            </a:r>
          </a:p>
          <a:p>
            <a:pPr fontAlgn="base"/>
            <a:r>
              <a:rPr lang="zh-CN" altLang="en-US" sz="1200" kern="1200" dirty="0">
                <a:solidFill>
                  <a:schemeClr val="tx1"/>
                </a:solidFill>
                <a:effectLst/>
                <a:latin typeface="+mn-lt"/>
                <a:ea typeface="+mn-ea"/>
                <a:cs typeface="+mn-cs"/>
              </a:rPr>
              <a:t>根据定义不难看出，异常分数</a:t>
            </a:r>
            <a:r>
              <a:rPr lang="en-US" altLang="zh-CN" sz="1200" kern="1200" dirty="0">
                <a:solidFill>
                  <a:schemeClr val="tx1"/>
                </a:solidFill>
                <a:effectLst/>
                <a:latin typeface="+mn-lt"/>
                <a:ea typeface="+mn-ea"/>
                <a:cs typeface="+mn-cs"/>
              </a:rPr>
              <a:t>AS</a:t>
            </a:r>
            <a:r>
              <a:rPr lang="zh-CN" altLang="en-US" sz="1200" kern="1200" dirty="0">
                <a:solidFill>
                  <a:schemeClr val="tx1"/>
                </a:solidFill>
                <a:effectLst/>
                <a:latin typeface="+mn-lt"/>
                <a:ea typeface="+mn-ea"/>
                <a:cs typeface="+mn-cs"/>
              </a:rPr>
              <a:t>较为合理地刻画了节点的异常程度，即：一个节点的异常分数越大，就越有可能是异常节点，当异常分数大于设定的网络告警阈值，则模型判定其为异常节点。</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S. Li, F. Dong, X. Xiao, H. Wang, F. Shao, J. </a:t>
            </a:r>
            <a:r>
              <a:rPr lang="en-US" altLang="zh-CN" sz="1200" kern="1200" dirty="0" err="1">
                <a:solidFill>
                  <a:schemeClr val="tx1"/>
                </a:solidFill>
                <a:effectLst/>
                <a:latin typeface="+mn-lt"/>
                <a:ea typeface="+mn-ea"/>
                <a:cs typeface="+mn-cs"/>
              </a:rPr>
              <a:t>Chen,Y</a:t>
            </a:r>
            <a:r>
              <a:rPr lang="en-US" altLang="zh-CN" sz="1200" kern="1200" dirty="0">
                <a:solidFill>
                  <a:schemeClr val="tx1"/>
                </a:solidFill>
                <a:effectLst/>
                <a:latin typeface="+mn-lt"/>
                <a:ea typeface="+mn-ea"/>
                <a:cs typeface="+mn-cs"/>
              </a:rPr>
              <a:t>. Guo, X. Chen, and D. Li. "</a:t>
            </a:r>
            <a:r>
              <a:rPr lang="en-US" altLang="zh-CN" sz="1200" kern="1200" dirty="0" err="1">
                <a:solidFill>
                  <a:schemeClr val="tx1"/>
                </a:solidFill>
                <a:effectLst/>
                <a:latin typeface="+mn-lt"/>
                <a:ea typeface="+mn-ea"/>
                <a:cs typeface="+mn-cs"/>
              </a:rPr>
              <a:t>Nodlink</a:t>
            </a:r>
            <a:r>
              <a:rPr lang="en-US" altLang="zh-CN" sz="1200" kern="1200" dirty="0">
                <a:solidFill>
                  <a:schemeClr val="tx1"/>
                </a:solidFill>
                <a:effectLst/>
                <a:latin typeface="+mn-lt"/>
                <a:ea typeface="+mn-ea"/>
                <a:cs typeface="+mn-cs"/>
              </a:rPr>
              <a:t>: An online system for fine-grained apt attack detection and investigation," </a:t>
            </a:r>
            <a:r>
              <a:rPr lang="en-US" altLang="zh-CN" sz="1200" kern="1200" dirty="0" err="1">
                <a:solidFill>
                  <a:schemeClr val="tx1"/>
                </a:solidFill>
                <a:effectLst/>
                <a:latin typeface="+mn-lt"/>
                <a:ea typeface="+mn-ea"/>
                <a:cs typeface="+mn-cs"/>
              </a:rPr>
              <a:t>arXiv</a:t>
            </a:r>
            <a:r>
              <a:rPr lang="en-US" altLang="zh-CN" sz="1200" kern="1200" dirty="0">
                <a:solidFill>
                  <a:schemeClr val="tx1"/>
                </a:solidFill>
                <a:effectLst/>
                <a:latin typeface="+mn-lt"/>
                <a:ea typeface="+mn-ea"/>
                <a:cs typeface="+mn-cs"/>
              </a:rPr>
              <a:t> preprint arXiv:2311.02331, 2023.</a:t>
            </a:r>
          </a:p>
          <a:p>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17</a:t>
            </a:fld>
            <a:endParaRPr lang="zh-CN" altLang="en-US"/>
          </a:p>
        </p:txBody>
      </p:sp>
    </p:spTree>
    <p:extLst>
      <p:ext uri="{BB962C8B-B14F-4D97-AF65-F5344CB8AC3E}">
        <p14:creationId xmlns:p14="http://schemas.microsoft.com/office/powerpoint/2010/main" val="41381843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由于网络流量即两台主机在网络上的交互一定由其中一台主机的某一系统实体（进程或线程）发起，一条网络日志必然与同一时间段的一条或几条系统日志相关联。下面对系统日志和网络日志的异常检测模块得到的告警节点进行关联。</a:t>
                </a:r>
              </a:p>
              <a:p>
                <a:r>
                  <a:rPr lang="zh-CN" altLang="zh-CN" sz="1200" kern="1200" dirty="0">
                    <a:solidFill>
                      <a:schemeClr val="tx1"/>
                    </a:solidFill>
                    <a:effectLst/>
                    <a:latin typeface="+mn-lt"/>
                    <a:ea typeface="+mn-ea"/>
                    <a:cs typeface="+mn-cs"/>
                  </a:rPr>
                  <a:t>对于每个网络告警节点，找到其在日志中对应的</a:t>
                </a:r>
                <a:r>
                  <a:rPr lang="en-US" altLang="zh-CN" sz="1200" kern="1200" dirty="0">
                    <a:solidFill>
                      <a:schemeClr val="tx1"/>
                    </a:solidFill>
                    <a:effectLst/>
                    <a:latin typeface="+mn-lt"/>
                    <a:ea typeface="+mn-ea"/>
                    <a:cs typeface="+mn-cs"/>
                  </a:rPr>
                  <a:t>IP</a:t>
                </a:r>
                <a:r>
                  <a:rPr lang="zh-CN" altLang="zh-CN" sz="1200" kern="1200" dirty="0">
                    <a:solidFill>
                      <a:schemeClr val="tx1"/>
                    </a:solidFill>
                    <a:effectLst/>
                    <a:latin typeface="+mn-lt"/>
                    <a:ea typeface="+mn-ea"/>
                    <a:cs typeface="+mn-cs"/>
                  </a:rPr>
                  <a:t>地址、端口号和时间戳</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sSub>
                      <m:sSubPr>
                        <m:ctrlPr>
                          <a:rPr lang="zh-CN" altLang="zh-CN" sz="1200" i="1" u="sng"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𝑡</m:t>
                        </m:r>
                      </m:e>
                      <m:sub>
                        <m:r>
                          <m:rPr>
                            <m:nor/>
                          </m:rPr>
                          <a:rPr lang="en-US" altLang="zh-CN" sz="1200" kern="1200">
                            <a:solidFill>
                              <a:schemeClr val="tx1"/>
                            </a:solidFill>
                            <a:effectLst/>
                            <a:latin typeface="+mn-lt"/>
                            <a:ea typeface="+mn-ea"/>
                            <a:cs typeface="+mn-cs"/>
                          </a:rPr>
                          <m:t>net</m:t>
                        </m:r>
                      </m:sub>
                    </m:sSub>
                  </m:oMath>
                </a14:m>
                <a:r>
                  <a:rPr lang="zh-CN" altLang="zh-CN" sz="1200" kern="1200" dirty="0">
                    <a:solidFill>
                      <a:schemeClr val="tx1"/>
                    </a:solidFill>
                    <a:effectLst/>
                    <a:latin typeface="+mn-lt"/>
                    <a:ea typeface="+mn-ea"/>
                    <a:cs typeface="+mn-cs"/>
                  </a:rPr>
                  <a:t>。然后，设定一个时间窗口</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sSub>
                      <m:sSubPr>
                        <m:ctrlPr>
                          <a:rPr lang="zh-CN" altLang="zh-CN" sz="1200" i="1" u="sng"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𝑡</m:t>
                        </m:r>
                      </m:e>
                      <m:sub>
                        <m:r>
                          <a:rPr lang="en-US" altLang="zh-CN" sz="1200" i="1" kern="1200">
                            <a:solidFill>
                              <a:schemeClr val="tx1"/>
                            </a:solidFill>
                            <a:effectLst/>
                            <a:latin typeface="Cambria Math" panose="02040503050406030204" pitchFamily="18" charset="0"/>
                            <a:ea typeface="+mn-ea"/>
                            <a:cs typeface="+mn-cs"/>
                          </a:rPr>
                          <m:t>𝑤</m:t>
                        </m:r>
                      </m:sub>
                    </m:sSub>
                  </m:oMath>
                </a14:m>
                <a:r>
                  <a:rPr lang="zh-CN" altLang="zh-CN" sz="1200" kern="1200" dirty="0">
                    <a:solidFill>
                      <a:schemeClr val="tx1"/>
                    </a:solidFill>
                    <a:effectLst/>
                    <a:latin typeface="+mn-lt"/>
                    <a:ea typeface="+mn-ea"/>
                    <a:cs typeface="+mn-cs"/>
                  </a:rPr>
                  <a:t>，查找时间戳在</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d>
                      <m:dPr>
                        <m:begChr m:val="["/>
                        <m:endChr m:val="]"/>
                        <m:ctrlPr>
                          <a:rPr lang="zh-CN" altLang="zh-CN" sz="1200" i="1" u="sng" kern="1200">
                            <a:solidFill>
                              <a:schemeClr val="tx1"/>
                            </a:solidFill>
                            <a:effectLst/>
                            <a:latin typeface="Cambria Math" panose="02040503050406030204" pitchFamily="18" charset="0"/>
                            <a:ea typeface="+mn-ea"/>
                            <a:cs typeface="+mn-cs"/>
                          </a:rPr>
                        </m:ctrlPr>
                      </m:dPr>
                      <m:e>
                        <m:sSub>
                          <m:sSubPr>
                            <m:ctrlPr>
                              <a:rPr lang="zh-CN" altLang="zh-CN" sz="1200" i="1" u="sng"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𝑡</m:t>
                            </m:r>
                          </m:e>
                          <m:sub>
                            <m:r>
                              <m:rPr>
                                <m:nor/>
                              </m:rPr>
                              <a:rPr lang="en-US" altLang="zh-CN" sz="1200" kern="1200">
                                <a:solidFill>
                                  <a:schemeClr val="tx1"/>
                                </a:solidFill>
                                <a:effectLst/>
                                <a:latin typeface="+mn-lt"/>
                                <a:ea typeface="+mn-ea"/>
                                <a:cs typeface="+mn-cs"/>
                              </a:rPr>
                              <m:t>net</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u="sng"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𝑡</m:t>
                            </m:r>
                          </m:e>
                          <m:sub>
                            <m:r>
                              <a:rPr lang="en-US" altLang="zh-CN" sz="1200" i="1" kern="1200">
                                <a:solidFill>
                                  <a:schemeClr val="tx1"/>
                                </a:solidFill>
                                <a:effectLst/>
                                <a:latin typeface="Cambria Math" panose="02040503050406030204" pitchFamily="18" charset="0"/>
                                <a:ea typeface="+mn-ea"/>
                                <a:cs typeface="+mn-cs"/>
                              </a:rPr>
                              <m:t>𝑤</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u="sng"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𝑡</m:t>
                            </m:r>
                          </m:e>
                          <m:sub>
                            <m:r>
                              <m:rPr>
                                <m:nor/>
                              </m:rPr>
                              <a:rPr lang="en-US" altLang="zh-CN" sz="1200" kern="1200">
                                <a:solidFill>
                                  <a:schemeClr val="tx1"/>
                                </a:solidFill>
                                <a:effectLst/>
                                <a:latin typeface="+mn-lt"/>
                                <a:ea typeface="+mn-ea"/>
                                <a:cs typeface="+mn-cs"/>
                              </a:rPr>
                              <m:t>net</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u="sng"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𝑡</m:t>
                            </m:r>
                          </m:e>
                          <m:sub>
                            <m:r>
                              <a:rPr lang="en-US" altLang="zh-CN" sz="1200" i="1" kern="1200">
                                <a:solidFill>
                                  <a:schemeClr val="tx1"/>
                                </a:solidFill>
                                <a:effectLst/>
                                <a:latin typeface="Cambria Math" panose="02040503050406030204" pitchFamily="18" charset="0"/>
                                <a:ea typeface="+mn-ea"/>
                                <a:cs typeface="+mn-cs"/>
                              </a:rPr>
                              <m:t>𝑤</m:t>
                            </m:r>
                          </m:sub>
                        </m:sSub>
                      </m:e>
                    </m:d>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范围内的系统日志，如果其中网络相关的日志条目的</a:t>
                </a:r>
                <a:r>
                  <a:rPr lang="en-US" altLang="zh-CN" sz="1200" kern="1200" dirty="0">
                    <a:solidFill>
                      <a:schemeClr val="tx1"/>
                    </a:solidFill>
                    <a:effectLst/>
                    <a:latin typeface="+mn-lt"/>
                    <a:ea typeface="+mn-ea"/>
                    <a:cs typeface="+mn-cs"/>
                  </a:rPr>
                  <a:t>IP</a:t>
                </a:r>
                <a:r>
                  <a:rPr lang="zh-CN" altLang="zh-CN" sz="1200" kern="1200" dirty="0">
                    <a:solidFill>
                      <a:schemeClr val="tx1"/>
                    </a:solidFill>
                    <a:effectLst/>
                    <a:latin typeface="+mn-lt"/>
                    <a:ea typeface="+mn-ea"/>
                    <a:cs typeface="+mn-cs"/>
                  </a:rPr>
                  <a:t>地址和端口号与网络日志的相同，则认为该条系统日志和网络告警节点相关联。接下来，我们进一步将查找到的关联的系统日志条目对应的系统实体标记为告警节点。</a:t>
                </a:r>
              </a:p>
              <a:p>
                <a:r>
                  <a:rPr lang="zh-CN" altLang="zh-CN" sz="1200" kern="1200" dirty="0">
                    <a:solidFill>
                      <a:schemeClr val="tx1"/>
                    </a:solidFill>
                    <a:effectLst/>
                    <a:latin typeface="+mn-lt"/>
                    <a:ea typeface="+mn-ea"/>
                    <a:cs typeface="+mn-cs"/>
                  </a:rPr>
                  <a:t>由此，在已有的由系统日志得到的系统告警节点的基础上，我们补充了由网络日志得到的相关联的系统告警节点，实现了多源告警之间的关联。</a:t>
                </a:r>
              </a:p>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由于网络流量即两台主机在网络上的交互一定由其中一台主机的某一系统实体（进程或线程）发起，一条网络日志必然与同一时间段的一条或几条系统日志相关联。下面对系统日志和网络日志的异常检测模块得到的告警节点进行关联。</a:t>
                </a:r>
              </a:p>
              <a:p>
                <a:r>
                  <a:rPr lang="zh-CN" altLang="zh-CN" sz="1200" kern="1200" dirty="0">
                    <a:solidFill>
                      <a:schemeClr val="tx1"/>
                    </a:solidFill>
                    <a:effectLst/>
                    <a:latin typeface="+mn-lt"/>
                    <a:ea typeface="+mn-ea"/>
                    <a:cs typeface="+mn-cs"/>
                  </a:rPr>
                  <a:t>对于每个网络告警节点，找到其在日志中对应的</a:t>
                </a:r>
                <a:r>
                  <a:rPr lang="en-US" altLang="zh-CN" sz="1200" kern="1200" dirty="0">
                    <a:solidFill>
                      <a:schemeClr val="tx1"/>
                    </a:solidFill>
                    <a:effectLst/>
                    <a:latin typeface="+mn-lt"/>
                    <a:ea typeface="+mn-ea"/>
                    <a:cs typeface="+mn-cs"/>
                  </a:rPr>
                  <a:t>IP</a:t>
                </a:r>
                <a:r>
                  <a:rPr lang="zh-CN" altLang="zh-CN" sz="1200" kern="1200" dirty="0">
                    <a:solidFill>
                      <a:schemeClr val="tx1"/>
                    </a:solidFill>
                    <a:effectLst/>
                    <a:latin typeface="+mn-lt"/>
                    <a:ea typeface="+mn-ea"/>
                    <a:cs typeface="+mn-cs"/>
                  </a:rPr>
                  <a:t>地址、端口号和时间戳</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𝑡</a:t>
                </a:r>
                <a:r>
                  <a:rPr lang="zh-CN" altLang="zh-CN" sz="1200" i="0" u="sng" kern="1200">
                    <a:solidFill>
                      <a:schemeClr val="tx1"/>
                    </a:solidFill>
                    <a:effectLst/>
                    <a:latin typeface="+mn-lt"/>
                    <a:ea typeface="+mn-ea"/>
                    <a:cs typeface="+mn-cs"/>
                  </a:rPr>
                  <a:t>_</a:t>
                </a:r>
                <a:r>
                  <a:rPr lang="en-US" altLang="zh-CN" sz="1200" i="0" u="sng"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net" </a:t>
                </a:r>
                <a:r>
                  <a:rPr lang="zh-CN" altLang="zh-CN" sz="1200" kern="1200" dirty="0">
                    <a:solidFill>
                      <a:schemeClr val="tx1"/>
                    </a:solidFill>
                    <a:effectLst/>
                    <a:latin typeface="+mn-lt"/>
                    <a:ea typeface="+mn-ea"/>
                    <a:cs typeface="+mn-cs"/>
                  </a:rPr>
                  <a:t>。然后，设定一个时间窗口</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𝑡</a:t>
                </a:r>
                <a:r>
                  <a:rPr lang="zh-CN" altLang="zh-CN" sz="1200" i="0" u="sng"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𝑤</a:t>
                </a:r>
                <a:r>
                  <a:rPr lang="zh-CN" altLang="zh-CN" sz="1200" kern="1200" dirty="0">
                    <a:solidFill>
                      <a:schemeClr val="tx1"/>
                    </a:solidFill>
                    <a:effectLst/>
                    <a:latin typeface="+mn-lt"/>
                    <a:ea typeface="+mn-ea"/>
                    <a:cs typeface="+mn-cs"/>
                  </a:rPr>
                  <a:t>，查找时间戳在</a:t>
                </a:r>
                <a:r>
                  <a:rPr lang="zh-CN" altLang="zh-CN" sz="1200" i="0" kern="1200">
                    <a:solidFill>
                      <a:schemeClr val="tx1"/>
                    </a:solidFill>
                    <a:effectLst/>
                    <a:latin typeface="+mn-lt"/>
                    <a:ea typeface="+mn-ea"/>
                    <a:cs typeface="+mn-cs"/>
                  </a:rPr>
                  <a:t> </a:t>
                </a:r>
                <a:r>
                  <a:rPr lang="zh-CN" altLang="zh-CN" sz="1200" i="0" u="sng"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𝑡</a:t>
                </a:r>
                <a:r>
                  <a:rPr lang="zh-CN" altLang="zh-CN" sz="1200" i="0" u="sng" kern="1200">
                    <a:solidFill>
                      <a:schemeClr val="tx1"/>
                    </a:solidFill>
                    <a:effectLst/>
                    <a:latin typeface="+mn-lt"/>
                    <a:ea typeface="+mn-ea"/>
                    <a:cs typeface="+mn-cs"/>
                  </a:rPr>
                  <a:t>_</a:t>
                </a:r>
                <a:r>
                  <a:rPr lang="en-US" altLang="zh-CN" sz="1200" i="0" u="sng"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net" −𝑡</a:t>
                </a:r>
                <a:r>
                  <a:rPr lang="zh-CN" altLang="zh-CN" sz="1200" i="0" u="sng"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𝑤,𝑡</a:t>
                </a:r>
                <a:r>
                  <a:rPr lang="zh-CN" altLang="zh-CN" sz="1200" i="0" u="sng" kern="1200">
                    <a:solidFill>
                      <a:schemeClr val="tx1"/>
                    </a:solidFill>
                    <a:effectLst/>
                    <a:latin typeface="+mn-lt"/>
                    <a:ea typeface="+mn-ea"/>
                    <a:cs typeface="+mn-cs"/>
                  </a:rPr>
                  <a:t>_</a:t>
                </a:r>
                <a:r>
                  <a:rPr lang="en-US" altLang="zh-CN" sz="1200" i="0" u="sng"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net" +𝑡</a:t>
                </a:r>
                <a:r>
                  <a:rPr lang="zh-CN" altLang="zh-CN" sz="1200" i="0" u="sng"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𝑤 ]  </a:t>
                </a:r>
                <a:r>
                  <a:rPr lang="zh-CN" altLang="zh-CN" sz="1200" kern="1200" dirty="0">
                    <a:solidFill>
                      <a:schemeClr val="tx1"/>
                    </a:solidFill>
                    <a:effectLst/>
                    <a:latin typeface="+mn-lt"/>
                    <a:ea typeface="+mn-ea"/>
                    <a:cs typeface="+mn-cs"/>
                  </a:rPr>
                  <a:t>范围内的系统日志，如果其中网络相关的日志条目的</a:t>
                </a:r>
                <a:r>
                  <a:rPr lang="en-US" altLang="zh-CN" sz="1200" kern="1200" dirty="0">
                    <a:solidFill>
                      <a:schemeClr val="tx1"/>
                    </a:solidFill>
                    <a:effectLst/>
                    <a:latin typeface="+mn-lt"/>
                    <a:ea typeface="+mn-ea"/>
                    <a:cs typeface="+mn-cs"/>
                  </a:rPr>
                  <a:t>IP</a:t>
                </a:r>
                <a:r>
                  <a:rPr lang="zh-CN" altLang="zh-CN" sz="1200" kern="1200" dirty="0">
                    <a:solidFill>
                      <a:schemeClr val="tx1"/>
                    </a:solidFill>
                    <a:effectLst/>
                    <a:latin typeface="+mn-lt"/>
                    <a:ea typeface="+mn-ea"/>
                    <a:cs typeface="+mn-cs"/>
                  </a:rPr>
                  <a:t>地址和端口号与网络日志的相同，则认为该条系统日志和网络告警节点相关联。接下来，我们进一步将查找到的关联的系统日志条目对应的系统实体标记为告警节点。</a:t>
                </a:r>
              </a:p>
              <a:p>
                <a:r>
                  <a:rPr lang="zh-CN" altLang="zh-CN" sz="1200" kern="1200" dirty="0">
                    <a:solidFill>
                      <a:schemeClr val="tx1"/>
                    </a:solidFill>
                    <a:effectLst/>
                    <a:latin typeface="+mn-lt"/>
                    <a:ea typeface="+mn-ea"/>
                    <a:cs typeface="+mn-cs"/>
                  </a:rPr>
                  <a:t>由此，在已有的由系统日志得到的系统告警节点的基础上，我们补充了由网络日志得到的相关联的系统告警节点，实现了多源告警之间的关联。</a:t>
                </a:r>
              </a:p>
              <a:p>
                <a:endParaRPr lang="zh-CN" altLang="en-US" dirty="0"/>
              </a:p>
            </p:txBody>
          </p:sp>
        </mc:Fallback>
      </mc:AlternateContent>
      <p:sp>
        <p:nvSpPr>
          <p:cNvPr id="4" name="灯片编号占位符 3"/>
          <p:cNvSpPr>
            <a:spLocks noGrp="1"/>
          </p:cNvSpPr>
          <p:nvPr>
            <p:ph type="sldNum" sz="quarter" idx="5"/>
          </p:nvPr>
        </p:nvSpPr>
        <p:spPr/>
        <p:txBody>
          <a:bodyPr/>
          <a:lstStyle/>
          <a:p>
            <a:fld id="{E3CFC841-E2E1-4802-8701-94EA307E94B0}" type="slidenum">
              <a:rPr lang="zh-CN" altLang="en-US" smtClean="0"/>
              <a:t>18</a:t>
            </a:fld>
            <a:endParaRPr lang="zh-CN" altLang="en-US"/>
          </a:p>
        </p:txBody>
      </p:sp>
    </p:spTree>
    <p:extLst>
      <p:ext uri="{BB962C8B-B14F-4D97-AF65-F5344CB8AC3E}">
        <p14:creationId xmlns:p14="http://schemas.microsoft.com/office/powerpoint/2010/main" val="242973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我们希望能在得到的系统告警节点的基础上，进一步重构出攻击路径。一个完整的攻击路径在溯源图中往往体现为一条或多条单向路径的并，其中并非所有操作都是非法的，通常只有路径上几个零散的节点会触发异常检测模块的告警，因此需要找到这些告警节点之间的关联，补全路径中的合法操作，重构出完整的攻击路径。</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为实现这一目标，我们将由零散的告警节点重构出攻击路径的问题建模为图上斯坦纳树问题。</a:t>
                </a:r>
              </a:p>
              <a:p>
                <a:r>
                  <a:rPr lang="zh-CN" altLang="zh-CN" sz="1200" b="1" kern="1200" dirty="0">
                    <a:solidFill>
                      <a:schemeClr val="tx1"/>
                    </a:solidFill>
                    <a:effectLst/>
                    <a:latin typeface="+mn-lt"/>
                    <a:ea typeface="+mn-ea"/>
                    <a:cs typeface="+mn-cs"/>
                  </a:rPr>
                  <a:t>图上斯坦纳树问题</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图上斯坦纳树问题是斯坦纳树问题</a:t>
                </a:r>
                <a:r>
                  <a:rPr lang="en-US" altLang="zh-CN" sz="1200" kern="1200" dirty="0">
                    <a:solidFill>
                      <a:schemeClr val="tx1"/>
                    </a:solidFill>
                    <a:effectLst/>
                    <a:latin typeface="+mn-lt"/>
                    <a:ea typeface="+mn-ea"/>
                    <a:cs typeface="+mn-cs"/>
                  </a:rPr>
                  <a:t>(Steiner Tree Problem, STP)[20]</a:t>
                </a:r>
                <a:r>
                  <a:rPr lang="zh-CN" altLang="zh-CN" sz="1200" kern="1200" dirty="0">
                    <a:solidFill>
                      <a:schemeClr val="tx1"/>
                    </a:solidFill>
                    <a:effectLst/>
                    <a:latin typeface="+mn-lt"/>
                    <a:ea typeface="+mn-ea"/>
                    <a:cs typeface="+mn-cs"/>
                  </a:rPr>
                  <a:t>在带权无向图中的情形，即：给定带权无向图</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𝐺</m:t>
                    </m:r>
                    <m:r>
                      <a:rPr lang="en-US" altLang="zh-CN" sz="1200" kern="1200">
                        <a:solidFill>
                          <a:schemeClr val="tx1"/>
                        </a:solidFill>
                        <a:effectLst/>
                        <a:latin typeface="Cambria Math" panose="02040503050406030204" pitchFamily="18" charset="0"/>
                        <a:ea typeface="+mn-ea"/>
                        <a:cs typeface="+mn-cs"/>
                      </a:rPr>
                      <m:t>=&lt;</m:t>
                    </m:r>
                    <m:r>
                      <a:rPr lang="en-US" altLang="zh-CN" sz="1200" i="1" kern="1200">
                        <a:solidFill>
                          <a:schemeClr val="tx1"/>
                        </a:solidFill>
                        <a:effectLst/>
                        <a:latin typeface="Cambria Math" panose="02040503050406030204" pitchFamily="18" charset="0"/>
                        <a:ea typeface="+mn-ea"/>
                        <a:cs typeface="+mn-cs"/>
                      </a:rPr>
                      <m:t>𝑉</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𝐸</m:t>
                    </m:r>
                    <m:r>
                      <a:rPr lang="en-US" altLang="zh-CN" sz="1200" kern="1200">
                        <a:solidFill>
                          <a:schemeClr val="tx1"/>
                        </a:solidFill>
                        <a:effectLst/>
                        <a:latin typeface="Cambria Math" panose="02040503050406030204" pitchFamily="18" charset="0"/>
                        <a:ea typeface="+mn-ea"/>
                        <a:cs typeface="+mn-cs"/>
                      </a:rPr>
                      <m:t>&gt; </m:t>
                    </m:r>
                  </m:oMath>
                </a14:m>
                <a:r>
                  <a:rPr lang="zh-CN" altLang="zh-CN" sz="1200" kern="1200" dirty="0">
                    <a:solidFill>
                      <a:schemeClr val="tx1"/>
                    </a:solidFill>
                    <a:effectLst/>
                    <a:latin typeface="+mn-lt"/>
                    <a:ea typeface="+mn-ea"/>
                    <a:cs typeface="+mn-cs"/>
                  </a:rPr>
                  <a:t>和终端集</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𝑆</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𝑉</m:t>
                    </m:r>
                  </m:oMath>
                </a14:m>
                <a:r>
                  <a:rPr lang="zh-CN" altLang="zh-CN" sz="1200" kern="1200" dirty="0">
                    <a:solidFill>
                      <a:schemeClr val="tx1"/>
                    </a:solidFill>
                    <a:effectLst/>
                    <a:latin typeface="+mn-lt"/>
                    <a:ea typeface="+mn-ea"/>
                    <a:cs typeface="+mn-cs"/>
                  </a:rPr>
                  <a:t>，求</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𝐺</m:t>
                    </m:r>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中的一棵树，使得该树包含所有终端，且边权之和最小，这棵树称为最小斯坦纳树。</a:t>
                </a:r>
              </a:p>
              <a:p>
                <a:r>
                  <a:rPr lang="zh-CN" altLang="zh-CN" sz="1200" kern="1200" dirty="0">
                    <a:solidFill>
                      <a:schemeClr val="tx1"/>
                    </a:solidFill>
                    <a:effectLst/>
                    <a:latin typeface="+mn-lt"/>
                    <a:ea typeface="+mn-ea"/>
                    <a:cs typeface="+mn-cs"/>
                  </a:rPr>
                  <a:t>这个经典的图论问题是</a:t>
                </a:r>
                <a:r>
                  <a:rPr lang="en-US" altLang="zh-CN" sz="1200" kern="1200" dirty="0">
                    <a:solidFill>
                      <a:schemeClr val="tx1"/>
                    </a:solidFill>
                    <a:effectLst/>
                    <a:latin typeface="+mn-lt"/>
                    <a:ea typeface="+mn-ea"/>
                    <a:cs typeface="+mn-cs"/>
                  </a:rPr>
                  <a:t>NP</a:t>
                </a:r>
                <a:r>
                  <a:rPr lang="zh-CN" altLang="zh-CN" sz="1200" kern="1200" dirty="0">
                    <a:solidFill>
                      <a:schemeClr val="tx1"/>
                    </a:solidFill>
                    <a:effectLst/>
                    <a:latin typeface="+mn-lt"/>
                    <a:ea typeface="+mn-ea"/>
                    <a:cs typeface="+mn-cs"/>
                  </a:rPr>
                  <a:t>困难的</a:t>
                </a:r>
                <a:r>
                  <a:rPr lang="en-US" altLang="zh-CN" sz="1200" kern="1200" dirty="0">
                    <a:solidFill>
                      <a:schemeClr val="tx1"/>
                    </a:solidFill>
                    <a:effectLst/>
                    <a:latin typeface="+mn-lt"/>
                    <a:ea typeface="+mn-ea"/>
                    <a:cs typeface="+mn-cs"/>
                  </a:rPr>
                  <a:t>[21]</a:t>
                </a:r>
                <a:r>
                  <a:rPr lang="zh-CN" altLang="zh-CN" sz="1200" kern="1200" dirty="0">
                    <a:solidFill>
                      <a:schemeClr val="tx1"/>
                    </a:solidFill>
                    <a:effectLst/>
                    <a:latin typeface="+mn-lt"/>
                    <a:ea typeface="+mn-ea"/>
                    <a:cs typeface="+mn-cs"/>
                  </a:rPr>
                  <a:t>，也就是说，无法在多项式时间内精确求解该问题。在实际数据集中，我们的异常检测模型产生的告警节点数量可能达到</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sSup>
                      <m:sSupPr>
                        <m:ctrlPr>
                          <a:rPr lang="zh-CN" altLang="zh-CN" sz="1200" i="1" u="sng" kern="1200">
                            <a:solidFill>
                              <a:schemeClr val="tx1"/>
                            </a:solidFill>
                            <a:effectLst/>
                            <a:latin typeface="Cambria Math" panose="02040503050406030204" pitchFamily="18" charset="0"/>
                            <a:ea typeface="+mn-ea"/>
                            <a:cs typeface="+mn-cs"/>
                          </a:rPr>
                        </m:ctrlPr>
                      </m:sSupPr>
                      <m:e>
                        <m:r>
                          <a:rPr lang="en-US" altLang="zh-CN" sz="1200" kern="1200">
                            <a:solidFill>
                              <a:schemeClr val="tx1"/>
                            </a:solidFill>
                            <a:effectLst/>
                            <a:latin typeface="Cambria Math" panose="02040503050406030204" pitchFamily="18" charset="0"/>
                            <a:ea typeface="+mn-ea"/>
                            <a:cs typeface="+mn-cs"/>
                          </a:rPr>
                          <m:t>10</m:t>
                        </m:r>
                      </m:e>
                      <m:sup>
                        <m:r>
                          <a:rPr lang="en-US" altLang="zh-CN" sz="1200" kern="1200">
                            <a:solidFill>
                              <a:schemeClr val="tx1"/>
                            </a:solidFill>
                            <a:effectLst/>
                            <a:latin typeface="Cambria Math" panose="02040503050406030204" pitchFamily="18" charset="0"/>
                            <a:ea typeface="+mn-ea"/>
                            <a:cs typeface="+mn-cs"/>
                          </a:rPr>
                          <m:t>2</m:t>
                        </m:r>
                      </m:sup>
                    </m:sSup>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u="sng" kern="1200">
                            <a:solidFill>
                              <a:schemeClr val="tx1"/>
                            </a:solidFill>
                            <a:effectLst/>
                            <a:latin typeface="Cambria Math" panose="02040503050406030204" pitchFamily="18" charset="0"/>
                            <a:ea typeface="+mn-ea"/>
                            <a:cs typeface="+mn-cs"/>
                          </a:rPr>
                        </m:ctrlPr>
                      </m:sSupPr>
                      <m:e>
                        <m:r>
                          <a:rPr lang="en-US" altLang="zh-CN" sz="1200" kern="1200">
                            <a:solidFill>
                              <a:schemeClr val="tx1"/>
                            </a:solidFill>
                            <a:effectLst/>
                            <a:latin typeface="Cambria Math" panose="02040503050406030204" pitchFamily="18" charset="0"/>
                            <a:ea typeface="+mn-ea"/>
                            <a:cs typeface="+mn-cs"/>
                          </a:rPr>
                          <m:t>10</m:t>
                        </m:r>
                      </m:e>
                      <m:sup>
                        <m:r>
                          <a:rPr lang="en-US" altLang="zh-CN" sz="1200" kern="1200">
                            <a:solidFill>
                              <a:schemeClr val="tx1"/>
                            </a:solidFill>
                            <a:effectLst/>
                            <a:latin typeface="Cambria Math" panose="02040503050406030204" pitchFamily="18" charset="0"/>
                            <a:ea typeface="+mn-ea"/>
                            <a:cs typeface="+mn-cs"/>
                          </a:rPr>
                          <m:t>3</m:t>
                        </m:r>
                      </m:sup>
                    </m:sSup>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级别，指数复杂度是不可接受的，但是有众多方法可以在多项式时间内求出它的一个近似解，即求解出一棵包含所有终端的树，其边权之和不是最小，但在一个可接受的范围内，称为近似斯坦纳树。评价一个近似算法的精确度一般使用近似比，即近似斯坦纳树的边权和与最小斯坦纳树的边权和之比。</a:t>
                </a:r>
              </a:p>
              <a:p>
                <a:r>
                  <a:rPr lang="zh-CN" altLang="zh-CN" sz="1200" kern="1200" dirty="0">
                    <a:solidFill>
                      <a:schemeClr val="tx1"/>
                    </a:solidFill>
                    <a:effectLst/>
                    <a:latin typeface="+mn-lt"/>
                    <a:ea typeface="+mn-ea"/>
                    <a:cs typeface="+mn-cs"/>
                  </a:rPr>
                  <a:t>我们采用</a:t>
                </a:r>
                <a:r>
                  <a:rPr lang="en-US" altLang="zh-CN" sz="1200" kern="1200" dirty="0">
                    <a:solidFill>
                      <a:schemeClr val="tx1"/>
                    </a:solidFill>
                    <a:effectLst/>
                    <a:latin typeface="+mn-lt"/>
                    <a:ea typeface="+mn-ea"/>
                    <a:cs typeface="+mn-cs"/>
                  </a:rPr>
                  <a:t>Kou–Markowsky–Berman</a:t>
                </a:r>
                <a:r>
                  <a:rPr lang="zh-CN" altLang="zh-CN" sz="1200" kern="1200" dirty="0">
                    <a:solidFill>
                      <a:schemeClr val="tx1"/>
                    </a:solidFill>
                    <a:effectLst/>
                    <a:latin typeface="+mn-lt"/>
                    <a:ea typeface="+mn-ea"/>
                    <a:cs typeface="+mn-cs"/>
                  </a:rPr>
                  <a:t>近似算法</a:t>
                </a:r>
                <a:r>
                  <a:rPr lang="en-US" altLang="zh-CN" sz="1200" kern="1200" dirty="0">
                    <a:solidFill>
                      <a:schemeClr val="tx1"/>
                    </a:solidFill>
                    <a:effectLst/>
                    <a:latin typeface="+mn-lt"/>
                    <a:ea typeface="+mn-ea"/>
                    <a:cs typeface="+mn-cs"/>
                  </a:rPr>
                  <a:t>[22]</a:t>
                </a:r>
                <a:r>
                  <a:rPr lang="zh-CN" altLang="zh-CN" sz="1200" kern="1200" dirty="0">
                    <a:solidFill>
                      <a:schemeClr val="tx1"/>
                    </a:solidFill>
                    <a:effectLst/>
                    <a:latin typeface="+mn-lt"/>
                    <a:ea typeface="+mn-ea"/>
                    <a:cs typeface="+mn-cs"/>
                  </a:rPr>
                  <a:t>，该算法时间复杂度为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𝑂</m:t>
                    </m:r>
                    <m:d>
                      <m:dPr>
                        <m:ctrlPr>
                          <a:rPr lang="zh-CN" altLang="zh-CN" sz="1200" i="1" u="sng" kern="1200">
                            <a:solidFill>
                              <a:schemeClr val="tx1"/>
                            </a:solidFill>
                            <a:effectLst/>
                            <a:latin typeface="Cambria Math" panose="02040503050406030204" pitchFamily="18" charset="0"/>
                            <a:ea typeface="+mn-ea"/>
                            <a:cs typeface="+mn-cs"/>
                          </a:rPr>
                        </m:ctrlPr>
                      </m:dPr>
                      <m:e>
                        <m:d>
                          <m:dPr>
                            <m:begChr m:val="|"/>
                            <m:endChr m:val="|"/>
                            <m:ctrlPr>
                              <a:rPr lang="zh-CN" altLang="zh-CN" sz="1200" i="1" u="sng"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𝑆</m:t>
                            </m:r>
                          </m:e>
                        </m:d>
                        <m:sSup>
                          <m:sSupPr>
                            <m:ctrlPr>
                              <a:rPr lang="zh-CN" altLang="zh-CN" sz="1200" i="1" u="sng" kern="1200">
                                <a:solidFill>
                                  <a:schemeClr val="tx1"/>
                                </a:solidFill>
                                <a:effectLst/>
                                <a:latin typeface="Cambria Math" panose="02040503050406030204" pitchFamily="18" charset="0"/>
                                <a:ea typeface="+mn-ea"/>
                                <a:cs typeface="+mn-cs"/>
                              </a:rPr>
                            </m:ctrlPr>
                          </m:sSupPr>
                          <m:e>
                            <m:d>
                              <m:dPr>
                                <m:begChr m:val="|"/>
                                <m:endChr m:val="|"/>
                                <m:ctrlPr>
                                  <a:rPr lang="zh-CN" altLang="zh-CN" sz="1200" i="1" u="sng"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𝑉</m:t>
                                </m:r>
                              </m:e>
                            </m:d>
                          </m:e>
                          <m:sup>
                            <m:r>
                              <a:rPr lang="en-US" altLang="zh-CN" sz="1200" kern="1200">
                                <a:solidFill>
                                  <a:schemeClr val="tx1"/>
                                </a:solidFill>
                                <a:effectLst/>
                                <a:latin typeface="Cambria Math" panose="02040503050406030204" pitchFamily="18" charset="0"/>
                                <a:ea typeface="+mn-ea"/>
                                <a:cs typeface="+mn-cs"/>
                              </a:rPr>
                              <m:t>2</m:t>
                            </m:r>
                          </m:sup>
                        </m:sSup>
                      </m:e>
                    </m:d>
                  </m:oMath>
                </a14:m>
                <a:r>
                  <a:rPr lang="zh-CN" altLang="zh-CN" sz="1200" kern="1200" dirty="0">
                    <a:solidFill>
                      <a:schemeClr val="tx1"/>
                    </a:solidFill>
                    <a:effectLst/>
                    <a:latin typeface="+mn-lt"/>
                    <a:ea typeface="+mn-ea"/>
                    <a:cs typeface="+mn-cs"/>
                  </a:rPr>
                  <a:t>，其近似比不大于</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 2</m:t>
                    </m:r>
                    <m:r>
                      <a:rPr lang="en-US" altLang="zh-CN" sz="1200" i="1" kern="1200">
                        <a:solidFill>
                          <a:schemeClr val="tx1"/>
                        </a:solidFill>
                        <a:effectLst/>
                        <a:latin typeface="Cambria Math" panose="02040503050406030204" pitchFamily="18" charset="0"/>
                        <a:ea typeface="+mn-ea"/>
                        <a:cs typeface="+mn-cs"/>
                      </a:rPr>
                      <m:t>−</m:t>
                    </m:r>
                    <m:r>
                      <a:rPr lang="en-US" altLang="zh-CN" sz="1200"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𝑡</m:t>
                    </m:r>
                  </m:oMath>
                </a14:m>
                <a:r>
                  <a:rPr lang="zh-CN" altLang="zh-CN" sz="1200" kern="1200" dirty="0">
                    <a:solidFill>
                      <a:schemeClr val="tx1"/>
                    </a:solidFill>
                    <a:effectLst/>
                    <a:latin typeface="+mn-lt"/>
                    <a:ea typeface="+mn-ea"/>
                    <a:cs typeface="+mn-cs"/>
                  </a:rPr>
                  <a:t>，其中</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𝑡</m:t>
                    </m:r>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为最小斯坦纳树中的叶节点数。算法流程如下：</a:t>
                </a:r>
              </a:p>
              <a:p>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求出终端集</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𝑆</m:t>
                    </m:r>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在图</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𝐺</m:t>
                    </m:r>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中的度量闭包，即在</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𝑆</m:t>
                    </m:r>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上构造一个终端完全图</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𝐺</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，其边权为两终端在图</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𝐺</m:t>
                    </m:r>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中的最短路径长度；</a:t>
                </a:r>
              </a:p>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求出终端完全图</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sSup>
                      <m:sSupPr>
                        <m:ctrlPr>
                          <a:rPr lang="zh-CN" altLang="zh-CN" sz="1200" i="1" u="sng"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𝐺</m:t>
                        </m:r>
                      </m:e>
                      <m:sup>
                        <m:r>
                          <a:rPr lang="en-US" altLang="zh-CN" sz="1200" i="1" kern="1200">
                            <a:solidFill>
                              <a:schemeClr val="tx1"/>
                            </a:solidFill>
                            <a:effectLst/>
                            <a:latin typeface="Cambria Math" panose="02040503050406030204" pitchFamily="18" charset="0"/>
                            <a:ea typeface="+mn-ea"/>
                            <a:cs typeface="+mn-cs"/>
                          </a:rPr>
                          <m:t>′</m:t>
                        </m:r>
                      </m:sup>
                    </m:sSup>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的最小生成树</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𝑀𝑆𝑇</m:t>
                    </m:r>
                    <m:d>
                      <m:dPr>
                        <m:begChr m:val="（"/>
                        <m:endChr m:val="）"/>
                        <m:ctrlPr>
                          <a:rPr lang="zh-CN" altLang="zh-CN" sz="1200" i="1" u="sng"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𝐺</m:t>
                        </m:r>
                        <m:r>
                          <a:rPr lang="en-US" altLang="zh-CN" sz="1200" i="1" kern="1200">
                            <a:solidFill>
                              <a:schemeClr val="tx1"/>
                            </a:solidFill>
                            <a:effectLst/>
                            <a:latin typeface="Cambria Math" panose="02040503050406030204" pitchFamily="18" charset="0"/>
                            <a:ea typeface="+mn-ea"/>
                            <a:cs typeface="+mn-cs"/>
                          </a:rPr>
                          <m:t>′</m:t>
                        </m:r>
                      </m:e>
                    </m:d>
                  </m:oMath>
                </a14:m>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将</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𝑀𝑆𝑇</m:t>
                    </m:r>
                    <m:d>
                      <m:dPr>
                        <m:ctrlPr>
                          <a:rPr lang="zh-CN" altLang="zh-CN" sz="1200" i="1" u="sng" kern="1200">
                            <a:solidFill>
                              <a:schemeClr val="tx1"/>
                            </a:solidFill>
                            <a:effectLst/>
                            <a:latin typeface="Cambria Math" panose="02040503050406030204" pitchFamily="18" charset="0"/>
                            <a:ea typeface="+mn-ea"/>
                            <a:cs typeface="+mn-cs"/>
                          </a:rPr>
                        </m:ctrlPr>
                      </m:dPr>
                      <m:e>
                        <m:sSup>
                          <m:sSupPr>
                            <m:ctrlPr>
                              <a:rPr lang="zh-CN" altLang="zh-CN" sz="1200" i="1" u="sng"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𝐺</m:t>
                            </m:r>
                          </m:e>
                          <m:sup>
                            <m:r>
                              <a:rPr lang="en-US" altLang="zh-CN" sz="1200" i="1" kern="1200">
                                <a:solidFill>
                                  <a:schemeClr val="tx1"/>
                                </a:solidFill>
                                <a:effectLst/>
                                <a:latin typeface="Cambria Math" panose="02040503050406030204" pitchFamily="18" charset="0"/>
                                <a:ea typeface="+mn-ea"/>
                                <a:cs typeface="+mn-cs"/>
                              </a:rPr>
                              <m:t>′</m:t>
                            </m:r>
                          </m:sup>
                        </m:sSup>
                      </m:e>
                    </m:d>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中的边替换为原图</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𝐺</m:t>
                    </m:r>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中对应的最短路径，删去冗余的边，得到近似斯坦纳树。</a:t>
                </a:r>
              </a:p>
              <a:p>
                <a:r>
                  <a:rPr lang="zh-CN" altLang="zh-CN" sz="1200" kern="1200" dirty="0">
                    <a:solidFill>
                      <a:schemeClr val="tx1"/>
                    </a:solidFill>
                    <a:effectLst/>
                    <a:latin typeface="+mn-lt"/>
                    <a:ea typeface="+mn-ea"/>
                    <a:cs typeface="+mn-cs"/>
                  </a:rPr>
                  <a:t>我们的算法首先将系统日志的溯源图中的有向边替换为权值为</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 1 </m:t>
                    </m:r>
                  </m:oMath>
                </a14:m>
                <a:r>
                  <a:rPr lang="zh-CN" altLang="zh-CN" sz="1200" kern="1200" dirty="0">
                    <a:solidFill>
                      <a:schemeClr val="tx1"/>
                    </a:solidFill>
                    <a:effectLst/>
                    <a:latin typeface="+mn-lt"/>
                    <a:ea typeface="+mn-ea"/>
                    <a:cs typeface="+mn-cs"/>
                  </a:rPr>
                  <a:t>的无向边，得到图</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𝐺</m:t>
                    </m:r>
                  </m:oMath>
                </a14:m>
                <a:r>
                  <a:rPr lang="zh-CN" altLang="zh-CN" sz="1200" kern="1200" dirty="0">
                    <a:solidFill>
                      <a:schemeClr val="tx1"/>
                    </a:solidFill>
                    <a:effectLst/>
                    <a:latin typeface="+mn-lt"/>
                    <a:ea typeface="+mn-ea"/>
                    <a:cs typeface="+mn-cs"/>
                  </a:rPr>
                  <a:t>；将</a:t>
                </a:r>
                <a:r>
                  <a:rPr lang="en-US" altLang="zh-CN" sz="1200" kern="1200" dirty="0">
                    <a:solidFill>
                      <a:schemeClr val="tx1"/>
                    </a:solidFill>
                    <a:effectLst/>
                    <a:latin typeface="+mn-lt"/>
                    <a:ea typeface="+mn-ea"/>
                    <a:cs typeface="+mn-cs"/>
                  </a:rPr>
                  <a:t>2.4</a:t>
                </a:r>
                <a:r>
                  <a:rPr lang="zh-CN" altLang="zh-CN" sz="1200" kern="1200" dirty="0">
                    <a:solidFill>
                      <a:schemeClr val="tx1"/>
                    </a:solidFill>
                    <a:effectLst/>
                    <a:latin typeface="+mn-lt"/>
                    <a:ea typeface="+mn-ea"/>
                    <a:cs typeface="+mn-cs"/>
                  </a:rPr>
                  <a:t>节中得到的全体告警节点作为终端集</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；利用上述算法求解出</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𝑆</m:t>
                    </m:r>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在</a:t>
                </a:r>
                <a14:m>
                  <m:oMath xmlns:m="http://schemas.openxmlformats.org/officeDocument/2006/math">
                    <m:r>
                      <a:rPr lang="zh-CN"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𝐺</m:t>
                    </m:r>
                    <m:r>
                      <a:rPr lang="en-US" altLang="zh-CN" sz="1200"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中的近似斯坦纳树，其中</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的最短路径求解使用</a:t>
                </a:r>
                <a:r>
                  <a:rPr lang="en-US" altLang="zh-CN" sz="1200" kern="1200" dirty="0">
                    <a:solidFill>
                      <a:schemeClr val="tx1"/>
                    </a:solidFill>
                    <a:effectLst/>
                    <a:latin typeface="+mn-lt"/>
                    <a:ea typeface="+mn-ea"/>
                    <a:cs typeface="+mn-cs"/>
                  </a:rPr>
                  <a:t>Dijkstra</a:t>
                </a:r>
                <a:r>
                  <a:rPr lang="zh-CN" altLang="zh-CN" sz="1200" kern="1200" dirty="0">
                    <a:solidFill>
                      <a:schemeClr val="tx1"/>
                    </a:solidFill>
                    <a:effectLst/>
                    <a:latin typeface="+mn-lt"/>
                    <a:ea typeface="+mn-ea"/>
                    <a:cs typeface="+mn-cs"/>
                  </a:rPr>
                  <a:t>算法</a:t>
                </a:r>
                <a:r>
                  <a:rPr lang="en-US" altLang="zh-CN" sz="1200" kern="1200" dirty="0">
                    <a:solidFill>
                      <a:schemeClr val="tx1"/>
                    </a:solidFill>
                    <a:effectLst/>
                    <a:latin typeface="+mn-lt"/>
                    <a:ea typeface="+mn-ea"/>
                    <a:cs typeface="+mn-cs"/>
                  </a:rPr>
                  <a:t>[23]</a:t>
                </a:r>
                <a:r>
                  <a:rPr lang="zh-CN" altLang="zh-CN" sz="1200" kern="1200" dirty="0">
                    <a:solidFill>
                      <a:schemeClr val="tx1"/>
                    </a:solidFill>
                    <a:effectLst/>
                    <a:latin typeface="+mn-lt"/>
                    <a:ea typeface="+mn-ea"/>
                    <a:cs typeface="+mn-cs"/>
                  </a:rPr>
                  <a:t>或其优化，</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的最小生成树求解使用</a:t>
                </a:r>
                <a:r>
                  <a:rPr lang="en-US" altLang="zh-CN" sz="1200" kern="1200" dirty="0">
                    <a:solidFill>
                      <a:schemeClr val="tx1"/>
                    </a:solidFill>
                    <a:effectLst/>
                    <a:latin typeface="+mn-lt"/>
                    <a:ea typeface="+mn-ea"/>
                    <a:cs typeface="+mn-cs"/>
                  </a:rPr>
                  <a:t>Prim</a:t>
                </a:r>
                <a:r>
                  <a:rPr lang="zh-CN" altLang="zh-CN" sz="1200" kern="1200" dirty="0">
                    <a:solidFill>
                      <a:schemeClr val="tx1"/>
                    </a:solidFill>
                    <a:effectLst/>
                    <a:latin typeface="+mn-lt"/>
                    <a:ea typeface="+mn-ea"/>
                    <a:cs typeface="+mn-cs"/>
                  </a:rPr>
                  <a:t>算法</a:t>
                </a:r>
                <a:r>
                  <a:rPr lang="en-US" altLang="zh-CN" sz="1200" kern="1200" dirty="0">
                    <a:solidFill>
                      <a:schemeClr val="tx1"/>
                    </a:solidFill>
                    <a:effectLst/>
                    <a:latin typeface="+mn-lt"/>
                    <a:ea typeface="+mn-ea"/>
                    <a:cs typeface="+mn-cs"/>
                  </a:rPr>
                  <a:t>[24]</a:t>
                </a:r>
                <a:r>
                  <a:rPr lang="zh-CN" altLang="zh-CN" sz="1200" kern="1200" dirty="0">
                    <a:solidFill>
                      <a:schemeClr val="tx1"/>
                    </a:solidFill>
                    <a:effectLst/>
                    <a:latin typeface="+mn-lt"/>
                    <a:ea typeface="+mn-ea"/>
                    <a:cs typeface="+mn-cs"/>
                  </a:rPr>
                  <a:t>。通过此算法得到的近似斯坦纳树即为所求的攻击路径。</a:t>
                </a:r>
              </a:p>
              <a:p>
                <a:r>
                  <a:rPr lang="en-US" altLang="zh-CN" dirty="0"/>
                  <a:t>https://www.google.com/search?vsrid=CJyBzefPuuTwchACGAEiJDE1YjBmOGE1LWZkMTMtNDNjOS04ODBjLTgzOTE5NGVmNzBiZDIGIgJzbCgjOLLVq9nrjpAD&amp;vsint=CAIqDAoCCAcSAggKGAEgATojChYNAAAAPxUAAAA_HQAAgD8lAACAPzABEKwCGKgBJQAAgD8&amp;udm=26&amp;lns_mode=un&amp;source=lns.web.gisivli&amp;vsdim=300,168&amp;gsessionid=xSw6pZyICqcgl0djVUpzwg36_jJaizPB_IsJ1Gk7nLf8nd9x_7eyng&amp;lsessionid=FJm6fE7NjNqiCR2pQIz-qRbfs_MH3CI5WBveTJt7AXgZf-qFa5yAIA&amp;lns_surface=19&amp;authuser=0&amp;lns_vfs=e&amp;qsubts=1759728555012&amp;biw=1655&amp;bih=847&amp;ved=0CBYQh6cGahcKEwiIuf7U646QAxUAAAAAHQAAAAAQBA&amp;tbnid=Bf-0A_GOo1LiIM&amp;ictx=2</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我们希望能在得到的系统告警节点的基础上，进一步重构出攻击路径。一个完整的攻击路径在溯源图中往往体现为一条或多条单向路径的并，其中并非所有操作都是非法的，通常只有路径上几个零散的节点会触发异常检测模块的告警，因此需要找到这些告警节点之间的关联，补全路径中的合法操作，重构出完整的攻击路径。</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为实现这一目标，我们将由零散的告警节点重构出攻击路径的问题建模为图上斯坦纳树问题。</a:t>
                </a:r>
              </a:p>
              <a:p>
                <a:r>
                  <a:rPr lang="zh-CN" altLang="zh-CN" sz="1200" b="1" kern="1200" dirty="0">
                    <a:solidFill>
                      <a:schemeClr val="tx1"/>
                    </a:solidFill>
                    <a:effectLst/>
                    <a:latin typeface="+mn-lt"/>
                    <a:ea typeface="+mn-ea"/>
                    <a:cs typeface="+mn-cs"/>
                  </a:rPr>
                  <a:t>图上斯坦纳树问题</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图上斯坦纳树问题是斯坦纳树问题</a:t>
                </a:r>
                <a:r>
                  <a:rPr lang="en-US" altLang="zh-CN" sz="1200" kern="1200" dirty="0">
                    <a:solidFill>
                      <a:schemeClr val="tx1"/>
                    </a:solidFill>
                    <a:effectLst/>
                    <a:latin typeface="+mn-lt"/>
                    <a:ea typeface="+mn-ea"/>
                    <a:cs typeface="+mn-cs"/>
                  </a:rPr>
                  <a:t>(Steiner Tree Problem, STP)[20]</a:t>
                </a:r>
                <a:r>
                  <a:rPr lang="zh-CN" altLang="zh-CN" sz="1200" kern="1200" dirty="0">
                    <a:solidFill>
                      <a:schemeClr val="tx1"/>
                    </a:solidFill>
                    <a:effectLst/>
                    <a:latin typeface="+mn-lt"/>
                    <a:ea typeface="+mn-ea"/>
                    <a:cs typeface="+mn-cs"/>
                  </a:rPr>
                  <a:t>在带权无向图中的情形，即：给定带权无向图</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𝐺=&lt;𝑉,𝐸&gt; </a:t>
                </a:r>
                <a:r>
                  <a:rPr lang="zh-CN" altLang="zh-CN" sz="1200" kern="1200" dirty="0">
                    <a:solidFill>
                      <a:schemeClr val="tx1"/>
                    </a:solidFill>
                    <a:effectLst/>
                    <a:latin typeface="+mn-lt"/>
                    <a:ea typeface="+mn-ea"/>
                    <a:cs typeface="+mn-cs"/>
                  </a:rPr>
                  <a:t>和终端集</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𝑆⊆𝑉</a:t>
                </a:r>
                <a:r>
                  <a:rPr lang="zh-CN" altLang="zh-CN" sz="1200" kern="1200" dirty="0">
                    <a:solidFill>
                      <a:schemeClr val="tx1"/>
                    </a:solidFill>
                    <a:effectLst/>
                    <a:latin typeface="+mn-lt"/>
                    <a:ea typeface="+mn-ea"/>
                    <a:cs typeface="+mn-cs"/>
                  </a:rPr>
                  <a:t>，求</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𝐺 </a:t>
                </a:r>
                <a:r>
                  <a:rPr lang="zh-CN" altLang="zh-CN" sz="1200" kern="1200" dirty="0">
                    <a:solidFill>
                      <a:schemeClr val="tx1"/>
                    </a:solidFill>
                    <a:effectLst/>
                    <a:latin typeface="+mn-lt"/>
                    <a:ea typeface="+mn-ea"/>
                    <a:cs typeface="+mn-cs"/>
                  </a:rPr>
                  <a:t>中的一棵树，使得该树包含所有终端，且边权之和最小，这棵树称为最小斯坦纳树。</a:t>
                </a:r>
              </a:p>
              <a:p>
                <a:r>
                  <a:rPr lang="zh-CN" altLang="zh-CN" sz="1200" kern="1200" dirty="0">
                    <a:solidFill>
                      <a:schemeClr val="tx1"/>
                    </a:solidFill>
                    <a:effectLst/>
                    <a:latin typeface="+mn-lt"/>
                    <a:ea typeface="+mn-ea"/>
                    <a:cs typeface="+mn-cs"/>
                  </a:rPr>
                  <a:t>这个经典的图论问题是</a:t>
                </a:r>
                <a:r>
                  <a:rPr lang="en-US" altLang="zh-CN" sz="1200" kern="1200" dirty="0">
                    <a:solidFill>
                      <a:schemeClr val="tx1"/>
                    </a:solidFill>
                    <a:effectLst/>
                    <a:latin typeface="+mn-lt"/>
                    <a:ea typeface="+mn-ea"/>
                    <a:cs typeface="+mn-cs"/>
                  </a:rPr>
                  <a:t>NP</a:t>
                </a:r>
                <a:r>
                  <a:rPr lang="zh-CN" altLang="zh-CN" sz="1200" kern="1200" dirty="0">
                    <a:solidFill>
                      <a:schemeClr val="tx1"/>
                    </a:solidFill>
                    <a:effectLst/>
                    <a:latin typeface="+mn-lt"/>
                    <a:ea typeface="+mn-ea"/>
                    <a:cs typeface="+mn-cs"/>
                  </a:rPr>
                  <a:t>困难的</a:t>
                </a:r>
                <a:r>
                  <a:rPr lang="en-US" altLang="zh-CN" sz="1200" kern="1200" dirty="0">
                    <a:solidFill>
                      <a:schemeClr val="tx1"/>
                    </a:solidFill>
                    <a:effectLst/>
                    <a:latin typeface="+mn-lt"/>
                    <a:ea typeface="+mn-ea"/>
                    <a:cs typeface="+mn-cs"/>
                  </a:rPr>
                  <a:t>[21]</a:t>
                </a:r>
                <a:r>
                  <a:rPr lang="zh-CN" altLang="zh-CN" sz="1200" kern="1200" dirty="0">
                    <a:solidFill>
                      <a:schemeClr val="tx1"/>
                    </a:solidFill>
                    <a:effectLst/>
                    <a:latin typeface="+mn-lt"/>
                    <a:ea typeface="+mn-ea"/>
                    <a:cs typeface="+mn-cs"/>
                  </a:rPr>
                  <a:t>，也就是说，无法在多项式时间内精确求解该问题。在实际数据集中，我们的异常检测模型产生的告警节点数量可能达到</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10</a:t>
                </a:r>
                <a:r>
                  <a:rPr lang="zh-CN" altLang="zh-CN" sz="1200" i="0" u="sng"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2~10</a:t>
                </a:r>
                <a:r>
                  <a:rPr lang="zh-CN" altLang="zh-CN" sz="1200" i="0" u="sng"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级别，指数复杂度是不可接受的，但是有众多方法可以在多项式时间内求出它的一个近似解，即求解出一棵包含所有终端的树，其边权之和不是最小，但在一个可接受的范围内，称为近似斯坦纳树。评价一个近似算法的精确度一般使用近似比，即近似斯坦纳树的边权和与最小斯坦纳树的边权和之比。</a:t>
                </a:r>
              </a:p>
              <a:p>
                <a:r>
                  <a:rPr lang="zh-CN" altLang="zh-CN" sz="1200" kern="1200" dirty="0">
                    <a:solidFill>
                      <a:schemeClr val="tx1"/>
                    </a:solidFill>
                    <a:effectLst/>
                    <a:latin typeface="+mn-lt"/>
                    <a:ea typeface="+mn-ea"/>
                    <a:cs typeface="+mn-cs"/>
                  </a:rPr>
                  <a:t>我们采用</a:t>
                </a:r>
                <a:r>
                  <a:rPr lang="en-US" altLang="zh-CN" sz="1200" kern="1200" dirty="0">
                    <a:solidFill>
                      <a:schemeClr val="tx1"/>
                    </a:solidFill>
                    <a:effectLst/>
                    <a:latin typeface="+mn-lt"/>
                    <a:ea typeface="+mn-ea"/>
                    <a:cs typeface="+mn-cs"/>
                  </a:rPr>
                  <a:t>Kou–Markowsky–Berman</a:t>
                </a:r>
                <a:r>
                  <a:rPr lang="zh-CN" altLang="zh-CN" sz="1200" kern="1200" dirty="0">
                    <a:solidFill>
                      <a:schemeClr val="tx1"/>
                    </a:solidFill>
                    <a:effectLst/>
                    <a:latin typeface="+mn-lt"/>
                    <a:ea typeface="+mn-ea"/>
                    <a:cs typeface="+mn-cs"/>
                  </a:rPr>
                  <a:t>近似算法</a:t>
                </a:r>
                <a:r>
                  <a:rPr lang="en-US" altLang="zh-CN" sz="1200" kern="1200" dirty="0">
                    <a:solidFill>
                      <a:schemeClr val="tx1"/>
                    </a:solidFill>
                    <a:effectLst/>
                    <a:latin typeface="+mn-lt"/>
                    <a:ea typeface="+mn-ea"/>
                    <a:cs typeface="+mn-cs"/>
                  </a:rPr>
                  <a:t>[22]</a:t>
                </a:r>
                <a:r>
                  <a:rPr lang="zh-CN" altLang="zh-CN" sz="1200" kern="1200" dirty="0">
                    <a:solidFill>
                      <a:schemeClr val="tx1"/>
                    </a:solidFill>
                    <a:effectLst/>
                    <a:latin typeface="+mn-lt"/>
                    <a:ea typeface="+mn-ea"/>
                    <a:cs typeface="+mn-cs"/>
                  </a:rPr>
                  <a:t>，该算法时间复杂度为</a:t>
                </a:r>
                <a:r>
                  <a:rPr lang="en-US" altLang="zh-CN" sz="1200" i="0" kern="1200">
                    <a:solidFill>
                      <a:schemeClr val="tx1"/>
                    </a:solidFill>
                    <a:effectLst/>
                    <a:latin typeface="+mn-lt"/>
                    <a:ea typeface="+mn-ea"/>
                    <a:cs typeface="+mn-cs"/>
                  </a:rPr>
                  <a:t>𝑂</a:t>
                </a:r>
                <a:r>
                  <a:rPr lang="zh-CN" altLang="zh-CN" sz="1200" i="0" u="sng"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𝑆|</a:t>
                </a:r>
                <a:r>
                  <a:rPr lang="zh-CN" altLang="zh-CN" sz="1200" i="0" u="sng"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𝑉|</a:t>
                </a:r>
                <a:r>
                  <a:rPr lang="zh-CN" altLang="zh-CN" sz="1200" i="0" u="sng"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，其近似比不大于</a:t>
                </a:r>
                <a:r>
                  <a:rPr lang="en-US" altLang="zh-CN" sz="1200" i="0" kern="1200">
                    <a:solidFill>
                      <a:schemeClr val="tx1"/>
                    </a:solidFill>
                    <a:effectLst/>
                    <a:latin typeface="+mn-lt"/>
                    <a:ea typeface="+mn-ea"/>
                    <a:cs typeface="+mn-cs"/>
                  </a:rPr>
                  <a:t> 2−2/𝑡</a:t>
                </a:r>
                <a:r>
                  <a:rPr lang="zh-CN" altLang="zh-CN" sz="1200" kern="1200" dirty="0">
                    <a:solidFill>
                      <a:schemeClr val="tx1"/>
                    </a:solidFill>
                    <a:effectLst/>
                    <a:latin typeface="+mn-lt"/>
                    <a:ea typeface="+mn-ea"/>
                    <a:cs typeface="+mn-cs"/>
                  </a:rPr>
                  <a:t>，其中</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𝑡 </a:t>
                </a:r>
                <a:r>
                  <a:rPr lang="zh-CN" altLang="zh-CN" sz="1200" kern="1200" dirty="0">
                    <a:solidFill>
                      <a:schemeClr val="tx1"/>
                    </a:solidFill>
                    <a:effectLst/>
                    <a:latin typeface="+mn-lt"/>
                    <a:ea typeface="+mn-ea"/>
                    <a:cs typeface="+mn-cs"/>
                  </a:rPr>
                  <a:t>为最小斯坦纳树中的叶节点数。算法流程如下：</a:t>
                </a:r>
              </a:p>
              <a:p>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求出终端集</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𝑆 </a:t>
                </a:r>
                <a:r>
                  <a:rPr lang="zh-CN" altLang="zh-CN" sz="1200" kern="1200" dirty="0">
                    <a:solidFill>
                      <a:schemeClr val="tx1"/>
                    </a:solidFill>
                    <a:effectLst/>
                    <a:latin typeface="+mn-lt"/>
                    <a:ea typeface="+mn-ea"/>
                    <a:cs typeface="+mn-cs"/>
                  </a:rPr>
                  <a:t>在图</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𝐺 </a:t>
                </a:r>
                <a:r>
                  <a:rPr lang="zh-CN" altLang="zh-CN" sz="1200" kern="1200" dirty="0">
                    <a:solidFill>
                      <a:schemeClr val="tx1"/>
                    </a:solidFill>
                    <a:effectLst/>
                    <a:latin typeface="+mn-lt"/>
                    <a:ea typeface="+mn-ea"/>
                    <a:cs typeface="+mn-cs"/>
                  </a:rPr>
                  <a:t>中的度量闭包，即在</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𝑆 </a:t>
                </a:r>
                <a:r>
                  <a:rPr lang="zh-CN" altLang="zh-CN" sz="1200" kern="1200" dirty="0">
                    <a:solidFill>
                      <a:schemeClr val="tx1"/>
                    </a:solidFill>
                    <a:effectLst/>
                    <a:latin typeface="+mn-lt"/>
                    <a:ea typeface="+mn-ea"/>
                    <a:cs typeface="+mn-cs"/>
                  </a:rPr>
                  <a:t>上构造一个终端完全图</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𝐺′</a:t>
                </a:r>
                <a:r>
                  <a:rPr lang="zh-CN" altLang="zh-CN" sz="1200" kern="1200" dirty="0">
                    <a:solidFill>
                      <a:schemeClr val="tx1"/>
                    </a:solidFill>
                    <a:effectLst/>
                    <a:latin typeface="+mn-lt"/>
                    <a:ea typeface="+mn-ea"/>
                    <a:cs typeface="+mn-cs"/>
                  </a:rPr>
                  <a:t>，其边权为两终端在图</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𝐺 </a:t>
                </a:r>
                <a:r>
                  <a:rPr lang="zh-CN" altLang="zh-CN" sz="1200" kern="1200" dirty="0">
                    <a:solidFill>
                      <a:schemeClr val="tx1"/>
                    </a:solidFill>
                    <a:effectLst/>
                    <a:latin typeface="+mn-lt"/>
                    <a:ea typeface="+mn-ea"/>
                    <a:cs typeface="+mn-cs"/>
                  </a:rPr>
                  <a:t>中的最短路径长度；</a:t>
                </a:r>
              </a:p>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求出终端完全图</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𝐺</a:t>
                </a:r>
                <a:r>
                  <a:rPr lang="zh-CN" altLang="zh-CN" sz="1200" i="0" u="sng"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的最小生成树</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𝑀𝑆𝑇</a:t>
                </a:r>
                <a:r>
                  <a:rPr lang="zh-CN" altLang="zh-CN" sz="1200" i="0" u="sng"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𝐺′）</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将</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𝑀𝑆𝑇</a:t>
                </a:r>
                <a:r>
                  <a:rPr lang="zh-CN" altLang="zh-CN" sz="1200" i="0" u="sng"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𝐺</a:t>
                </a:r>
                <a:r>
                  <a:rPr lang="zh-CN" altLang="zh-CN" sz="1200" i="0" u="sng"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中的边替换为原图</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𝐺 </a:t>
                </a:r>
                <a:r>
                  <a:rPr lang="zh-CN" altLang="zh-CN" sz="1200" kern="1200" dirty="0">
                    <a:solidFill>
                      <a:schemeClr val="tx1"/>
                    </a:solidFill>
                    <a:effectLst/>
                    <a:latin typeface="+mn-lt"/>
                    <a:ea typeface="+mn-ea"/>
                    <a:cs typeface="+mn-cs"/>
                  </a:rPr>
                  <a:t>中对应的最短路径，删去冗余的边，得到近似斯坦纳树。</a:t>
                </a:r>
              </a:p>
              <a:p>
                <a:r>
                  <a:rPr lang="zh-CN" altLang="zh-CN" sz="1200" kern="1200" dirty="0">
                    <a:solidFill>
                      <a:schemeClr val="tx1"/>
                    </a:solidFill>
                    <a:effectLst/>
                    <a:latin typeface="+mn-lt"/>
                    <a:ea typeface="+mn-ea"/>
                    <a:cs typeface="+mn-cs"/>
                  </a:rPr>
                  <a:t>我们的算法首先将系统日志的溯源图中的有向边替换为权值为</a:t>
                </a:r>
                <a:r>
                  <a:rPr lang="en-US" altLang="zh-CN" sz="1200" i="0" kern="1200">
                    <a:solidFill>
                      <a:schemeClr val="tx1"/>
                    </a:solidFill>
                    <a:effectLst/>
                    <a:latin typeface="+mn-lt"/>
                    <a:ea typeface="+mn-ea"/>
                    <a:cs typeface="+mn-cs"/>
                  </a:rPr>
                  <a:t> 1 </a:t>
                </a:r>
                <a:r>
                  <a:rPr lang="zh-CN" altLang="zh-CN" sz="1200" kern="1200" dirty="0">
                    <a:solidFill>
                      <a:schemeClr val="tx1"/>
                    </a:solidFill>
                    <a:effectLst/>
                    <a:latin typeface="+mn-lt"/>
                    <a:ea typeface="+mn-ea"/>
                    <a:cs typeface="+mn-cs"/>
                  </a:rPr>
                  <a:t>的无向边，得到图</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𝐺</a:t>
                </a:r>
                <a:r>
                  <a:rPr lang="zh-CN" altLang="zh-CN" sz="1200" kern="1200" dirty="0">
                    <a:solidFill>
                      <a:schemeClr val="tx1"/>
                    </a:solidFill>
                    <a:effectLst/>
                    <a:latin typeface="+mn-lt"/>
                    <a:ea typeface="+mn-ea"/>
                    <a:cs typeface="+mn-cs"/>
                  </a:rPr>
                  <a:t>；将</a:t>
                </a:r>
                <a:r>
                  <a:rPr lang="en-US" altLang="zh-CN" sz="1200" kern="1200" dirty="0">
                    <a:solidFill>
                      <a:schemeClr val="tx1"/>
                    </a:solidFill>
                    <a:effectLst/>
                    <a:latin typeface="+mn-lt"/>
                    <a:ea typeface="+mn-ea"/>
                    <a:cs typeface="+mn-cs"/>
                  </a:rPr>
                  <a:t>2.4</a:t>
                </a:r>
                <a:r>
                  <a:rPr lang="zh-CN" altLang="zh-CN" sz="1200" kern="1200" dirty="0">
                    <a:solidFill>
                      <a:schemeClr val="tx1"/>
                    </a:solidFill>
                    <a:effectLst/>
                    <a:latin typeface="+mn-lt"/>
                    <a:ea typeface="+mn-ea"/>
                    <a:cs typeface="+mn-cs"/>
                  </a:rPr>
                  <a:t>节中得到的全体告警节点作为终端集</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𝑆</a:t>
                </a:r>
                <a:r>
                  <a:rPr lang="zh-CN" altLang="zh-CN" sz="1200" kern="1200" dirty="0">
                    <a:solidFill>
                      <a:schemeClr val="tx1"/>
                    </a:solidFill>
                    <a:effectLst/>
                    <a:latin typeface="+mn-lt"/>
                    <a:ea typeface="+mn-ea"/>
                    <a:cs typeface="+mn-cs"/>
                  </a:rPr>
                  <a:t>；利用上述算法求解出</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𝑆 </a:t>
                </a:r>
                <a:r>
                  <a:rPr lang="zh-CN" altLang="zh-CN" sz="1200" kern="1200" dirty="0">
                    <a:solidFill>
                      <a:schemeClr val="tx1"/>
                    </a:solidFill>
                    <a:effectLst/>
                    <a:latin typeface="+mn-lt"/>
                    <a:ea typeface="+mn-ea"/>
                    <a:cs typeface="+mn-cs"/>
                  </a:rPr>
                  <a:t>在</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𝐺 </a:t>
                </a:r>
                <a:r>
                  <a:rPr lang="zh-CN" altLang="zh-CN" sz="1200" kern="1200" dirty="0">
                    <a:solidFill>
                      <a:schemeClr val="tx1"/>
                    </a:solidFill>
                    <a:effectLst/>
                    <a:latin typeface="+mn-lt"/>
                    <a:ea typeface="+mn-ea"/>
                    <a:cs typeface="+mn-cs"/>
                  </a:rPr>
                  <a:t>中的近似斯坦纳树，其中</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的最短路径求解使用</a:t>
                </a:r>
                <a:r>
                  <a:rPr lang="en-US" altLang="zh-CN" sz="1200" kern="1200" dirty="0">
                    <a:solidFill>
                      <a:schemeClr val="tx1"/>
                    </a:solidFill>
                    <a:effectLst/>
                    <a:latin typeface="+mn-lt"/>
                    <a:ea typeface="+mn-ea"/>
                    <a:cs typeface="+mn-cs"/>
                  </a:rPr>
                  <a:t>Dijkstra</a:t>
                </a:r>
                <a:r>
                  <a:rPr lang="zh-CN" altLang="zh-CN" sz="1200" kern="1200" dirty="0">
                    <a:solidFill>
                      <a:schemeClr val="tx1"/>
                    </a:solidFill>
                    <a:effectLst/>
                    <a:latin typeface="+mn-lt"/>
                    <a:ea typeface="+mn-ea"/>
                    <a:cs typeface="+mn-cs"/>
                  </a:rPr>
                  <a:t>算法</a:t>
                </a:r>
                <a:r>
                  <a:rPr lang="en-US" altLang="zh-CN" sz="1200" kern="1200" dirty="0">
                    <a:solidFill>
                      <a:schemeClr val="tx1"/>
                    </a:solidFill>
                    <a:effectLst/>
                    <a:latin typeface="+mn-lt"/>
                    <a:ea typeface="+mn-ea"/>
                    <a:cs typeface="+mn-cs"/>
                  </a:rPr>
                  <a:t>[23]</a:t>
                </a:r>
                <a:r>
                  <a:rPr lang="zh-CN" altLang="zh-CN" sz="1200" kern="1200" dirty="0">
                    <a:solidFill>
                      <a:schemeClr val="tx1"/>
                    </a:solidFill>
                    <a:effectLst/>
                    <a:latin typeface="+mn-lt"/>
                    <a:ea typeface="+mn-ea"/>
                    <a:cs typeface="+mn-cs"/>
                  </a:rPr>
                  <a:t>或其优化，</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的最小生成树求解使用</a:t>
                </a:r>
                <a:r>
                  <a:rPr lang="en-US" altLang="zh-CN" sz="1200" kern="1200" dirty="0">
                    <a:solidFill>
                      <a:schemeClr val="tx1"/>
                    </a:solidFill>
                    <a:effectLst/>
                    <a:latin typeface="+mn-lt"/>
                    <a:ea typeface="+mn-ea"/>
                    <a:cs typeface="+mn-cs"/>
                  </a:rPr>
                  <a:t>Prim</a:t>
                </a:r>
                <a:r>
                  <a:rPr lang="zh-CN" altLang="zh-CN" sz="1200" kern="1200" dirty="0">
                    <a:solidFill>
                      <a:schemeClr val="tx1"/>
                    </a:solidFill>
                    <a:effectLst/>
                    <a:latin typeface="+mn-lt"/>
                    <a:ea typeface="+mn-ea"/>
                    <a:cs typeface="+mn-cs"/>
                  </a:rPr>
                  <a:t>算法</a:t>
                </a:r>
                <a:r>
                  <a:rPr lang="en-US" altLang="zh-CN" sz="1200" kern="1200" dirty="0">
                    <a:solidFill>
                      <a:schemeClr val="tx1"/>
                    </a:solidFill>
                    <a:effectLst/>
                    <a:latin typeface="+mn-lt"/>
                    <a:ea typeface="+mn-ea"/>
                    <a:cs typeface="+mn-cs"/>
                  </a:rPr>
                  <a:t>[24]</a:t>
                </a:r>
                <a:r>
                  <a:rPr lang="zh-CN" altLang="zh-CN" sz="1200" kern="1200" dirty="0">
                    <a:solidFill>
                      <a:schemeClr val="tx1"/>
                    </a:solidFill>
                    <a:effectLst/>
                    <a:latin typeface="+mn-lt"/>
                    <a:ea typeface="+mn-ea"/>
                    <a:cs typeface="+mn-cs"/>
                  </a:rPr>
                  <a:t>。通过此算法得到的近似斯坦纳树即为所求的攻击路径。</a:t>
                </a:r>
              </a:p>
              <a:p>
                <a:r>
                  <a:rPr lang="en-US" altLang="zh-CN" dirty="0"/>
                  <a:t>https://www.google.com/search?vsrid=CJyBzefPuuTwchACGAEiJDE1YjBmOGE1LWZkMTMtNDNjOS04ODBjLTgzOTE5NGVmNzBiZDIGIgJzbCgjOLLVq9nrjpAD&amp;vsint=CAIqDAoCCAcSAggKGAEgATojChYNAAAAPxUAAAA_HQAAgD8lAACAPzABEKwCGKgBJQAAgD8&amp;udm=26&amp;lns_mode=un&amp;source=lns.web.gisivli&amp;vsdim=300,168&amp;gsessionid=xSw6pZyICqcgl0djVUpzwg36_jJaizPB_IsJ1Gk7nLf8nd9x_7eyng&amp;lsessionid=FJm6fE7NjNqiCR2pQIz-qRbfs_MH3CI5WBveTJt7AXgZf-qFa5yAIA&amp;lns_surface=19&amp;authuser=0&amp;lns_vfs=e&amp;qsubts=1759728555012&amp;biw=1655&amp;bih=847&amp;ved=0CBYQh6cGahcKEwiIuf7U646QAxUAAAAAHQAAAAAQBA&amp;tbnid=Bf-0A_GOo1LiIM&amp;ictx=2</a:t>
                </a:r>
                <a:endParaRPr lang="zh-CN" altLang="en-US" dirty="0"/>
              </a:p>
            </p:txBody>
          </p:sp>
        </mc:Fallback>
      </mc:AlternateContent>
      <p:sp>
        <p:nvSpPr>
          <p:cNvPr id="4" name="灯片编号占位符 3"/>
          <p:cNvSpPr>
            <a:spLocks noGrp="1"/>
          </p:cNvSpPr>
          <p:nvPr>
            <p:ph type="sldNum" sz="quarter" idx="5"/>
          </p:nvPr>
        </p:nvSpPr>
        <p:spPr/>
        <p:txBody>
          <a:bodyPr/>
          <a:lstStyle/>
          <a:p>
            <a:fld id="{E3CFC841-E2E1-4802-8701-94EA307E94B0}" type="slidenum">
              <a:rPr lang="zh-CN" altLang="en-US" smtClean="0"/>
              <a:t>19</a:t>
            </a:fld>
            <a:endParaRPr lang="zh-CN" altLang="en-US"/>
          </a:p>
        </p:txBody>
      </p:sp>
    </p:spTree>
    <p:extLst>
      <p:ext uri="{BB962C8B-B14F-4D97-AF65-F5344CB8AC3E}">
        <p14:creationId xmlns:p14="http://schemas.microsoft.com/office/powerpoint/2010/main" val="520401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3CFC841-E2E1-4802-8701-94EA307E94B0}" type="slidenum">
              <a:rPr lang="zh-CN" altLang="en-US" smtClean="0"/>
              <a:t>20</a:t>
            </a:fld>
            <a:endParaRPr lang="zh-CN" altLang="en-US"/>
          </a:p>
        </p:txBody>
      </p:sp>
    </p:spTree>
    <p:extLst>
      <p:ext uri="{BB962C8B-B14F-4D97-AF65-F5344CB8AC3E}">
        <p14:creationId xmlns:p14="http://schemas.microsoft.com/office/powerpoint/2010/main" val="1162580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我们使用的</a:t>
            </a:r>
            <a:r>
              <a:rPr lang="en-US" altLang="zh-CN" sz="1200" kern="1200" dirty="0">
                <a:solidFill>
                  <a:schemeClr val="tx1"/>
                </a:solidFill>
                <a:effectLst/>
                <a:latin typeface="+mn-lt"/>
                <a:ea typeface="+mn-ea"/>
                <a:cs typeface="+mn-cs"/>
              </a:rPr>
              <a:t>DARPA Operationally Transparent Cyber (OPTC) </a:t>
            </a:r>
            <a:r>
              <a:rPr lang="zh-CN" altLang="zh-CN" sz="1200" kern="1200" dirty="0">
                <a:solidFill>
                  <a:schemeClr val="tx1"/>
                </a:solidFill>
                <a:effectLst/>
                <a:latin typeface="+mn-lt"/>
                <a:ea typeface="+mn-ea"/>
                <a:cs typeface="+mn-cs"/>
              </a:rPr>
              <a:t>数据集是</a:t>
            </a:r>
            <a:r>
              <a:rPr lang="en-US" altLang="zh-CN" sz="1200" kern="1200" dirty="0">
                <a:solidFill>
                  <a:schemeClr val="tx1"/>
                </a:solidFill>
                <a:effectLst/>
                <a:latin typeface="+mn-lt"/>
                <a:ea typeface="+mn-ea"/>
                <a:cs typeface="+mn-cs"/>
              </a:rPr>
              <a:t>DARPA Transparent Computing (TC) </a:t>
            </a:r>
            <a:r>
              <a:rPr lang="zh-CN" altLang="zh-CN" sz="1200" kern="1200" dirty="0">
                <a:solidFill>
                  <a:schemeClr val="tx1"/>
                </a:solidFill>
                <a:effectLst/>
                <a:latin typeface="+mn-lt"/>
                <a:ea typeface="+mn-ea"/>
                <a:cs typeface="+mn-cs"/>
              </a:rPr>
              <a:t>项目的一部分，由</a:t>
            </a:r>
            <a:r>
              <a:rPr lang="en-US" altLang="zh-CN" sz="1200" kern="1200" dirty="0">
                <a:solidFill>
                  <a:schemeClr val="tx1"/>
                </a:solidFill>
                <a:effectLst/>
                <a:latin typeface="+mn-lt"/>
                <a:ea typeface="+mn-ea"/>
                <a:cs typeface="+mn-cs"/>
              </a:rPr>
              <a:t>Boston Fusion</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Five Directions</a:t>
            </a:r>
            <a:r>
              <a:rPr lang="zh-CN" altLang="zh-CN" sz="1200" kern="1200" dirty="0">
                <a:solidFill>
                  <a:schemeClr val="tx1"/>
                </a:solidFill>
                <a:effectLst/>
                <a:latin typeface="+mn-lt"/>
                <a:ea typeface="+mn-ea"/>
                <a:cs typeface="+mn-cs"/>
              </a:rPr>
              <a:t>与</a:t>
            </a:r>
            <a:r>
              <a:rPr lang="en-US" altLang="zh-CN" sz="1200" kern="1200" dirty="0">
                <a:solidFill>
                  <a:schemeClr val="tx1"/>
                </a:solidFill>
                <a:effectLst/>
                <a:latin typeface="+mn-lt"/>
                <a:ea typeface="+mn-ea"/>
                <a:cs typeface="+mn-cs"/>
              </a:rPr>
              <a:t>BAE</a:t>
            </a:r>
            <a:r>
              <a:rPr lang="zh-CN" altLang="zh-CN" sz="1200" kern="1200" dirty="0">
                <a:solidFill>
                  <a:schemeClr val="tx1"/>
                </a:solidFill>
                <a:effectLst/>
                <a:latin typeface="+mn-lt"/>
                <a:ea typeface="+mn-ea"/>
                <a:cs typeface="+mn-cs"/>
              </a:rPr>
              <a:t>等多方联合构建，用于验证</a:t>
            </a:r>
            <a:r>
              <a:rPr lang="en-US" altLang="zh-CN" sz="1200" kern="1200" dirty="0">
                <a:solidFill>
                  <a:schemeClr val="tx1"/>
                </a:solidFill>
                <a:effectLst/>
                <a:latin typeface="+mn-lt"/>
                <a:ea typeface="+mn-ea"/>
                <a:cs typeface="+mn-cs"/>
              </a:rPr>
              <a:t>TC</a:t>
            </a:r>
            <a:r>
              <a:rPr lang="zh-CN" altLang="zh-CN" sz="1200" kern="1200" dirty="0">
                <a:solidFill>
                  <a:schemeClr val="tx1"/>
                </a:solidFill>
                <a:effectLst/>
                <a:latin typeface="+mn-lt"/>
                <a:ea typeface="+mn-ea"/>
                <a:cs typeface="+mn-cs"/>
              </a:rPr>
              <a:t>技术在规模化部署下的可扩展性。</a:t>
            </a:r>
          </a:p>
          <a:p>
            <a:r>
              <a:rPr lang="zh-CN" altLang="zh-CN" sz="1200" kern="1200" dirty="0">
                <a:solidFill>
                  <a:schemeClr val="tx1"/>
                </a:solidFill>
                <a:effectLst/>
                <a:latin typeface="+mn-lt"/>
                <a:ea typeface="+mn-ea"/>
                <a:cs typeface="+mn-cs"/>
              </a:rPr>
              <a:t>测试平台部署了</a:t>
            </a:r>
            <a:r>
              <a:rPr lang="en-US" altLang="zh-CN" sz="1200" kern="1200" dirty="0">
                <a:solidFill>
                  <a:schemeClr val="tx1"/>
                </a:solidFill>
                <a:effectLst/>
                <a:latin typeface="+mn-lt"/>
                <a:ea typeface="+mn-ea"/>
                <a:cs typeface="+mn-cs"/>
              </a:rPr>
              <a:t>1000</a:t>
            </a:r>
            <a:r>
              <a:rPr lang="zh-CN" altLang="zh-CN" sz="1200" kern="1200" dirty="0">
                <a:solidFill>
                  <a:schemeClr val="tx1"/>
                </a:solidFill>
                <a:effectLst/>
                <a:latin typeface="+mn-lt"/>
                <a:ea typeface="+mn-ea"/>
                <a:cs typeface="+mn-cs"/>
              </a:rPr>
              <a:t>台</a:t>
            </a:r>
            <a:r>
              <a:rPr lang="en-US" altLang="zh-CN" sz="1200" kern="1200" dirty="0">
                <a:solidFill>
                  <a:schemeClr val="tx1"/>
                </a:solidFill>
                <a:effectLst/>
                <a:latin typeface="+mn-lt"/>
                <a:ea typeface="+mn-ea"/>
                <a:cs typeface="+mn-cs"/>
              </a:rPr>
              <a:t>Windows 10</a:t>
            </a:r>
            <a:r>
              <a:rPr lang="zh-CN" altLang="zh-CN" sz="1200" kern="1200" dirty="0">
                <a:solidFill>
                  <a:schemeClr val="tx1"/>
                </a:solidFill>
                <a:effectLst/>
                <a:latin typeface="+mn-lt"/>
                <a:ea typeface="+mn-ea"/>
                <a:cs typeface="+mn-cs"/>
              </a:rPr>
              <a:t>主机，每台主机通过传感器采集主机事件，以</a:t>
            </a:r>
            <a:r>
              <a:rPr lang="en-US" altLang="zh-CN" sz="1200" kern="1200" dirty="0">
                <a:solidFill>
                  <a:schemeClr val="tx1"/>
                </a:solidFill>
                <a:effectLst/>
                <a:latin typeface="+mn-lt"/>
                <a:ea typeface="+mn-ea"/>
                <a:cs typeface="+mn-cs"/>
              </a:rPr>
              <a:t>JSON</a:t>
            </a:r>
            <a:r>
              <a:rPr lang="zh-CN" altLang="zh-CN" sz="1200" kern="1200" dirty="0">
                <a:solidFill>
                  <a:schemeClr val="tx1"/>
                </a:solidFill>
                <a:effectLst/>
                <a:latin typeface="+mn-lt"/>
                <a:ea typeface="+mn-ea"/>
                <a:cs typeface="+mn-cs"/>
              </a:rPr>
              <a:t>格式发送至</a:t>
            </a:r>
            <a:r>
              <a:rPr lang="en-US" altLang="zh-CN" sz="1200" kern="1200" dirty="0">
                <a:solidFill>
                  <a:schemeClr val="tx1"/>
                </a:solidFill>
                <a:effectLst/>
                <a:latin typeface="+mn-lt"/>
                <a:ea typeface="+mn-ea"/>
                <a:cs typeface="+mn-cs"/>
              </a:rPr>
              <a:t>Kafka</a:t>
            </a:r>
            <a:r>
              <a:rPr lang="zh-CN" altLang="zh-CN" sz="1200" kern="1200" dirty="0">
                <a:solidFill>
                  <a:schemeClr val="tx1"/>
                </a:solidFill>
                <a:effectLst/>
                <a:latin typeface="+mn-lt"/>
                <a:ea typeface="+mn-ea"/>
                <a:cs typeface="+mn-cs"/>
              </a:rPr>
              <a:t>，再由后端</a:t>
            </a:r>
            <a:r>
              <a:rPr lang="en-US" altLang="zh-CN" sz="1200" kern="1200" dirty="0">
                <a:solidFill>
                  <a:schemeClr val="tx1"/>
                </a:solidFill>
                <a:effectLst/>
                <a:latin typeface="+mn-lt"/>
                <a:ea typeface="+mn-ea"/>
                <a:cs typeface="+mn-cs"/>
              </a:rPr>
              <a:t>ETL</a:t>
            </a:r>
            <a:r>
              <a:rPr lang="zh-CN" altLang="zh-CN" sz="1200" kern="1200" dirty="0">
                <a:solidFill>
                  <a:schemeClr val="tx1"/>
                </a:solidFill>
                <a:effectLst/>
                <a:latin typeface="+mn-lt"/>
                <a:ea typeface="+mn-ea"/>
                <a:cs typeface="+mn-cs"/>
              </a:rPr>
              <a:t>服务转换为</a:t>
            </a:r>
            <a:r>
              <a:rPr lang="en-US" altLang="zh-CN" sz="1200" kern="1200" dirty="0" err="1">
                <a:solidFill>
                  <a:schemeClr val="tx1"/>
                </a:solidFill>
                <a:effectLst/>
                <a:latin typeface="+mn-lt"/>
                <a:ea typeface="+mn-ea"/>
                <a:cs typeface="+mn-cs"/>
              </a:rPr>
              <a:t>eCAR</a:t>
            </a:r>
            <a:r>
              <a:rPr lang="en-US" altLang="zh-CN" sz="1200" kern="1200" dirty="0">
                <a:solidFill>
                  <a:schemeClr val="tx1"/>
                </a:solidFill>
                <a:effectLst/>
                <a:latin typeface="+mn-lt"/>
                <a:ea typeface="+mn-ea"/>
                <a:cs typeface="+mn-cs"/>
              </a:rPr>
              <a:t> (Extended Cyber Analytics Repository) </a:t>
            </a:r>
            <a:r>
              <a:rPr lang="zh-CN" altLang="zh-CN" sz="1200" kern="1200" dirty="0">
                <a:solidFill>
                  <a:schemeClr val="tx1"/>
                </a:solidFill>
                <a:effectLst/>
                <a:latin typeface="+mn-lt"/>
                <a:ea typeface="+mn-ea"/>
                <a:cs typeface="+mn-cs"/>
              </a:rPr>
              <a:t>格式。该格式在</a:t>
            </a:r>
            <a:r>
              <a:rPr lang="en-US" altLang="zh-CN" sz="1200" kern="1200" dirty="0">
                <a:solidFill>
                  <a:schemeClr val="tx1"/>
                </a:solidFill>
                <a:effectLst/>
                <a:latin typeface="+mn-lt"/>
                <a:ea typeface="+mn-ea"/>
                <a:cs typeface="+mn-cs"/>
              </a:rPr>
              <a:t>MITRE CAR</a:t>
            </a:r>
            <a:r>
              <a:rPr lang="zh-CN" altLang="zh-CN" sz="1200" kern="1200" dirty="0">
                <a:solidFill>
                  <a:schemeClr val="tx1"/>
                </a:solidFill>
                <a:effectLst/>
                <a:latin typeface="+mn-lt"/>
                <a:ea typeface="+mn-ea"/>
                <a:cs typeface="+mn-cs"/>
              </a:rPr>
              <a:t>模型基础上增加了字段，如</a:t>
            </a:r>
            <a:r>
              <a:rPr lang="en-US" altLang="zh-CN" sz="1200" kern="1200" dirty="0" err="1">
                <a:solidFill>
                  <a:schemeClr val="tx1"/>
                </a:solidFill>
                <a:effectLst/>
                <a:latin typeface="+mn-lt"/>
                <a:ea typeface="+mn-ea"/>
                <a:cs typeface="+mn-cs"/>
              </a:rPr>
              <a:t>actorID</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PID</a:t>
            </a:r>
            <a:r>
              <a:rPr lang="zh-CN" altLang="zh-CN" sz="1200" kern="1200" dirty="0">
                <a:solidFill>
                  <a:schemeClr val="tx1"/>
                </a:solidFill>
                <a:effectLst/>
                <a:latin typeface="+mn-lt"/>
                <a:ea typeface="+mn-ea"/>
                <a:cs typeface="+mn-cs"/>
              </a:rPr>
              <a:t>、时间戳等，以便进行更丰富和精确的行为分析。同时，数据集还包括由网络安全监测平台</a:t>
            </a:r>
            <a:r>
              <a:rPr lang="en-US" altLang="zh-CN" sz="1200" kern="1200" dirty="0">
                <a:solidFill>
                  <a:schemeClr val="tx1"/>
                </a:solidFill>
                <a:effectLst/>
                <a:latin typeface="+mn-lt"/>
                <a:ea typeface="+mn-ea"/>
                <a:cs typeface="+mn-cs"/>
              </a:rPr>
              <a:t>Bro</a:t>
            </a:r>
            <a:r>
              <a:rPr lang="zh-CN" altLang="zh-CN" sz="1200" kern="1200" dirty="0">
                <a:solidFill>
                  <a:schemeClr val="tx1"/>
                </a:solidFill>
                <a:effectLst/>
                <a:latin typeface="+mn-lt"/>
                <a:ea typeface="+mn-ea"/>
                <a:cs typeface="+mn-cs"/>
              </a:rPr>
              <a:t>（现名为</a:t>
            </a:r>
            <a:r>
              <a:rPr lang="en-US" altLang="zh-CN" sz="1200" kern="1200" dirty="0">
                <a:solidFill>
                  <a:schemeClr val="tx1"/>
                </a:solidFill>
                <a:effectLst/>
                <a:latin typeface="+mn-lt"/>
                <a:ea typeface="+mn-ea"/>
                <a:cs typeface="+mn-cs"/>
              </a:rPr>
              <a:t>Zeek</a:t>
            </a:r>
            <a:r>
              <a:rPr lang="zh-CN" altLang="zh-CN" sz="1200" kern="1200" dirty="0">
                <a:solidFill>
                  <a:schemeClr val="tx1"/>
                </a:solidFill>
                <a:effectLst/>
                <a:latin typeface="+mn-lt"/>
                <a:ea typeface="+mn-ea"/>
                <a:cs typeface="+mn-cs"/>
              </a:rPr>
              <a:t>）采集的网络事件。第一阶段各主机首先进行正常活动，随后第二阶段红队发动</a:t>
            </a:r>
            <a:r>
              <a:rPr lang="en-US" altLang="zh-CN" sz="1200" kern="1200" dirty="0">
                <a:solidFill>
                  <a:schemeClr val="tx1"/>
                </a:solidFill>
                <a:effectLst/>
                <a:latin typeface="+mn-lt"/>
                <a:ea typeface="+mn-ea"/>
                <a:cs typeface="+mn-cs"/>
              </a:rPr>
              <a:t>APT</a:t>
            </a:r>
            <a:r>
              <a:rPr lang="zh-CN" altLang="zh-CN" sz="1200" kern="1200" dirty="0">
                <a:solidFill>
                  <a:schemeClr val="tx1"/>
                </a:solidFill>
                <a:effectLst/>
                <a:latin typeface="+mn-lt"/>
                <a:ea typeface="+mn-ea"/>
                <a:cs typeface="+mn-cs"/>
              </a:rPr>
              <a:t>攻击，模拟真实的高级持续性威胁场景。由于存储资源限制，最终仅收集了</a:t>
            </a:r>
            <a:r>
              <a:rPr lang="en-US" altLang="zh-CN" sz="1200" kern="1200" dirty="0">
                <a:solidFill>
                  <a:schemeClr val="tx1"/>
                </a:solidFill>
                <a:effectLst/>
                <a:latin typeface="+mn-lt"/>
                <a:ea typeface="+mn-ea"/>
                <a:cs typeface="+mn-cs"/>
              </a:rPr>
              <a:t>500</a:t>
            </a:r>
            <a:r>
              <a:rPr lang="zh-CN" altLang="zh-CN" sz="1200" kern="1200" dirty="0">
                <a:solidFill>
                  <a:schemeClr val="tx1"/>
                </a:solidFill>
                <a:effectLst/>
                <a:latin typeface="+mn-lt"/>
                <a:ea typeface="+mn-ea"/>
                <a:cs typeface="+mn-cs"/>
              </a:rPr>
              <a:t>台主机的数据，数据量约</a:t>
            </a:r>
            <a:r>
              <a:rPr lang="en-US" altLang="zh-CN" sz="1200" kern="1200" dirty="0">
                <a:solidFill>
                  <a:schemeClr val="tx1"/>
                </a:solidFill>
                <a:effectLst/>
                <a:latin typeface="+mn-lt"/>
                <a:ea typeface="+mn-ea"/>
                <a:cs typeface="+mn-cs"/>
              </a:rPr>
              <a:t>1 TB</a:t>
            </a:r>
            <a:r>
              <a:rPr lang="zh-CN" altLang="zh-CN" sz="1200" kern="1200" dirty="0">
                <a:solidFill>
                  <a:schemeClr val="tx1"/>
                </a:solidFill>
                <a:effectLst/>
                <a:latin typeface="+mn-lt"/>
                <a:ea typeface="+mn-ea"/>
                <a:cs typeface="+mn-cs"/>
              </a:rPr>
              <a:t>（压缩</a:t>
            </a:r>
            <a:r>
              <a:rPr lang="en-US" altLang="zh-CN" sz="1200" kern="1200" dirty="0">
                <a:solidFill>
                  <a:schemeClr val="tx1"/>
                </a:solidFill>
                <a:effectLst/>
                <a:latin typeface="+mn-lt"/>
                <a:ea typeface="+mn-ea"/>
                <a:cs typeface="+mn-cs"/>
              </a:rPr>
              <a:t>JSON</a:t>
            </a:r>
            <a:r>
              <a:rPr lang="zh-CN" altLang="zh-CN" sz="1200" kern="1200" dirty="0">
                <a:solidFill>
                  <a:schemeClr val="tx1"/>
                </a:solidFill>
                <a:effectLst/>
                <a:latin typeface="+mn-lt"/>
                <a:ea typeface="+mn-ea"/>
                <a:cs typeface="+mn-cs"/>
              </a:rPr>
              <a:t>形式）。数据集包括三个目录：</a:t>
            </a:r>
          </a:p>
          <a:p>
            <a:r>
              <a:rPr lang="en-US" altLang="zh-CN" sz="1200" kern="1200" dirty="0">
                <a:solidFill>
                  <a:schemeClr val="tx1"/>
                </a:solidFill>
                <a:effectLst/>
                <a:latin typeface="+mn-lt"/>
                <a:ea typeface="+mn-ea"/>
                <a:cs typeface="+mn-cs"/>
              </a:rPr>
              <a:t>1). ecar/</a:t>
            </a:r>
            <a:r>
              <a:rPr lang="zh-CN" altLang="zh-CN" sz="1200" kern="1200" dirty="0">
                <a:solidFill>
                  <a:schemeClr val="tx1"/>
                </a:solidFill>
                <a:effectLst/>
                <a:latin typeface="+mn-lt"/>
                <a:ea typeface="+mn-ea"/>
                <a:cs typeface="+mn-cs"/>
              </a:rPr>
              <a:t>：存储</a:t>
            </a:r>
            <a:r>
              <a:rPr lang="en-US" altLang="zh-CN" sz="1200" kern="1200" dirty="0" err="1">
                <a:solidFill>
                  <a:schemeClr val="tx1"/>
                </a:solidFill>
                <a:effectLst/>
                <a:latin typeface="+mn-lt"/>
                <a:ea typeface="+mn-ea"/>
                <a:cs typeface="+mn-cs"/>
              </a:rPr>
              <a:t>eCAR</a:t>
            </a:r>
            <a:r>
              <a:rPr lang="zh-CN" altLang="zh-CN" sz="1200" kern="1200" dirty="0">
                <a:solidFill>
                  <a:schemeClr val="tx1"/>
                </a:solidFill>
                <a:effectLst/>
                <a:latin typeface="+mn-lt"/>
                <a:ea typeface="+mn-ea"/>
                <a:cs typeface="+mn-cs"/>
              </a:rPr>
              <a:t>格式的系统日志，其中有</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个子目录，</a:t>
            </a:r>
            <a:r>
              <a:rPr lang="en-US" altLang="zh-CN" sz="1200" kern="1200" dirty="0">
                <a:solidFill>
                  <a:schemeClr val="tx1"/>
                </a:solidFill>
                <a:effectLst/>
                <a:latin typeface="+mn-lt"/>
                <a:ea typeface="+mn-ea"/>
                <a:cs typeface="+mn-cs"/>
              </a:rPr>
              <a:t>benign/</a:t>
            </a:r>
            <a:r>
              <a:rPr lang="zh-CN" altLang="zh-CN" sz="1200" kern="1200" dirty="0">
                <a:solidFill>
                  <a:schemeClr val="tx1"/>
                </a:solidFill>
                <a:effectLst/>
                <a:latin typeface="+mn-lt"/>
                <a:ea typeface="+mn-ea"/>
                <a:cs typeface="+mn-cs"/>
              </a:rPr>
              <a:t>存储第一阶段的系统事件，</a:t>
            </a:r>
            <a:r>
              <a:rPr lang="en-US" altLang="zh-CN" sz="1200" kern="1200" dirty="0">
                <a:solidFill>
                  <a:schemeClr val="tx1"/>
                </a:solidFill>
                <a:effectLst/>
                <a:latin typeface="+mn-lt"/>
                <a:ea typeface="+mn-ea"/>
                <a:cs typeface="+mn-cs"/>
              </a:rPr>
              <a:t>evaluation/</a:t>
            </a:r>
            <a:r>
              <a:rPr lang="zh-CN" altLang="zh-CN" sz="1200" kern="1200" dirty="0">
                <a:solidFill>
                  <a:schemeClr val="tx1"/>
                </a:solidFill>
                <a:effectLst/>
                <a:latin typeface="+mn-lt"/>
                <a:ea typeface="+mn-ea"/>
                <a:cs typeface="+mn-cs"/>
              </a:rPr>
              <a:t>存储第二阶段的含有恶意活动的系统事件，</a:t>
            </a:r>
            <a:r>
              <a:rPr lang="en-US" altLang="zh-CN" sz="1200" kern="1200" dirty="0">
                <a:solidFill>
                  <a:schemeClr val="tx1"/>
                </a:solidFill>
                <a:effectLst/>
                <a:latin typeface="+mn-lt"/>
                <a:ea typeface="+mn-ea"/>
                <a:cs typeface="+mn-cs"/>
              </a:rPr>
              <a:t>short/</a:t>
            </a:r>
            <a:r>
              <a:rPr lang="zh-CN" altLang="zh-CN" sz="1200" kern="1200" dirty="0">
                <a:solidFill>
                  <a:schemeClr val="tx1"/>
                </a:solidFill>
                <a:effectLst/>
                <a:latin typeface="+mn-lt"/>
                <a:ea typeface="+mn-ea"/>
                <a:cs typeface="+mn-cs"/>
              </a:rPr>
              <a:t>存储缺少部分信息的系统事件。</a:t>
            </a:r>
          </a:p>
          <a:p>
            <a:r>
              <a:rPr lang="en-US" altLang="zh-CN" sz="1200" kern="1200" dirty="0">
                <a:solidFill>
                  <a:schemeClr val="tx1"/>
                </a:solidFill>
                <a:effectLst/>
                <a:latin typeface="+mn-lt"/>
                <a:ea typeface="+mn-ea"/>
                <a:cs typeface="+mn-cs"/>
              </a:rPr>
              <a:t>2). bro/</a:t>
            </a:r>
            <a:r>
              <a:rPr lang="zh-CN" altLang="zh-CN" sz="1200" kern="1200" dirty="0">
                <a:solidFill>
                  <a:schemeClr val="tx1"/>
                </a:solidFill>
                <a:effectLst/>
                <a:latin typeface="+mn-lt"/>
                <a:ea typeface="+mn-ea"/>
                <a:cs typeface="+mn-cs"/>
              </a:rPr>
              <a:t>：存储由</a:t>
            </a:r>
            <a:r>
              <a:rPr lang="en-US" altLang="zh-CN" sz="1200" kern="1200" dirty="0">
                <a:solidFill>
                  <a:schemeClr val="tx1"/>
                </a:solidFill>
                <a:effectLst/>
                <a:latin typeface="+mn-lt"/>
                <a:ea typeface="+mn-ea"/>
                <a:cs typeface="+mn-cs"/>
              </a:rPr>
              <a:t>Bro (Zeek) </a:t>
            </a:r>
            <a:r>
              <a:rPr lang="zh-CN" altLang="zh-CN" sz="1200" kern="1200" dirty="0">
                <a:solidFill>
                  <a:schemeClr val="tx1"/>
                </a:solidFill>
                <a:effectLst/>
                <a:latin typeface="+mn-lt"/>
                <a:ea typeface="+mn-ea"/>
                <a:cs typeface="+mn-cs"/>
              </a:rPr>
              <a:t>采集到的网络日志，按日期和时间分组。</a:t>
            </a:r>
          </a:p>
          <a:p>
            <a:r>
              <a:rPr lang="en-US" altLang="zh-CN" sz="1200" kern="1200" dirty="0">
                <a:solidFill>
                  <a:schemeClr val="tx1"/>
                </a:solidFill>
                <a:effectLst/>
                <a:latin typeface="+mn-lt"/>
                <a:ea typeface="+mn-ea"/>
                <a:cs typeface="+mn-cs"/>
              </a:rPr>
              <a:t>3). ecar-bro/</a:t>
            </a:r>
            <a:r>
              <a:rPr lang="zh-CN" altLang="zh-CN" sz="1200" kern="1200" dirty="0">
                <a:solidFill>
                  <a:schemeClr val="tx1"/>
                </a:solidFill>
                <a:effectLst/>
                <a:latin typeface="+mn-lt"/>
                <a:ea typeface="+mn-ea"/>
                <a:cs typeface="+mn-cs"/>
              </a:rPr>
              <a:t>：存储附加有</a:t>
            </a:r>
            <a:r>
              <a:rPr lang="en-US" altLang="zh-CN" sz="1200" kern="1200" dirty="0">
                <a:solidFill>
                  <a:schemeClr val="tx1"/>
                </a:solidFill>
                <a:effectLst/>
                <a:latin typeface="+mn-lt"/>
                <a:ea typeface="+mn-ea"/>
                <a:cs typeface="+mn-cs"/>
              </a:rPr>
              <a:t>Bro</a:t>
            </a:r>
            <a:r>
              <a:rPr lang="zh-CN" altLang="zh-CN" sz="1200" kern="1200" dirty="0">
                <a:solidFill>
                  <a:schemeClr val="tx1"/>
                </a:solidFill>
                <a:effectLst/>
                <a:latin typeface="+mn-lt"/>
                <a:ea typeface="+mn-ea"/>
                <a:cs typeface="+mn-cs"/>
              </a:rPr>
              <a:t>编号的</a:t>
            </a:r>
            <a:r>
              <a:rPr lang="en-US" altLang="zh-CN" sz="1200" kern="1200" dirty="0" err="1">
                <a:solidFill>
                  <a:schemeClr val="tx1"/>
                </a:solidFill>
                <a:effectLst/>
                <a:latin typeface="+mn-lt"/>
                <a:ea typeface="+mn-ea"/>
                <a:cs typeface="+mn-cs"/>
              </a:rPr>
              <a:t>eCAR</a:t>
            </a:r>
            <a:r>
              <a:rPr lang="zh-CN" altLang="zh-CN" sz="1200" kern="1200" dirty="0">
                <a:solidFill>
                  <a:schemeClr val="tx1"/>
                </a:solidFill>
                <a:effectLst/>
                <a:latin typeface="+mn-lt"/>
                <a:ea typeface="+mn-ea"/>
                <a:cs typeface="+mn-cs"/>
              </a:rPr>
              <a:t>日志，可用于在主机与网络日志间进行关联。</a:t>
            </a:r>
          </a:p>
          <a:p>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21</a:t>
            </a:fld>
            <a:endParaRPr lang="zh-CN" altLang="en-US"/>
          </a:p>
        </p:txBody>
      </p:sp>
    </p:spTree>
    <p:extLst>
      <p:ext uri="{BB962C8B-B14F-4D97-AF65-F5344CB8AC3E}">
        <p14:creationId xmlns:p14="http://schemas.microsoft.com/office/powerpoint/2010/main" val="24921256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我们在</a:t>
                </a:r>
                <a:r>
                  <a:rPr lang="en-US" altLang="zh-CN" sz="1200" kern="1200" dirty="0">
                    <a:solidFill>
                      <a:schemeClr val="tx1"/>
                    </a:solidFill>
                    <a:effectLst/>
                    <a:latin typeface="+mn-lt"/>
                    <a:ea typeface="+mn-ea"/>
                    <a:cs typeface="+mn-cs"/>
                  </a:rPr>
                  <a:t>OPTC</a:t>
                </a:r>
                <a:r>
                  <a:rPr lang="zh-CN" altLang="zh-CN" sz="1200" kern="1200" dirty="0">
                    <a:solidFill>
                      <a:schemeClr val="tx1"/>
                    </a:solidFill>
                    <a:effectLst/>
                    <a:latin typeface="+mn-lt"/>
                    <a:ea typeface="+mn-ea"/>
                    <a:cs typeface="+mn-cs"/>
                  </a:rPr>
                  <a:t>的三个案例上进行多点告警关联分析的实验，并统计出真阳性</a:t>
                </a:r>
                <a:r>
                  <a:rPr lang="en-US" altLang="zh-CN" sz="1200" kern="1200" dirty="0">
                    <a:solidFill>
                      <a:schemeClr val="tx1"/>
                    </a:solidFill>
                    <a:effectLst/>
                    <a:latin typeface="+mn-lt"/>
                    <a:ea typeface="+mn-ea"/>
                    <a:cs typeface="+mn-cs"/>
                  </a:rPr>
                  <a:t>(True Positive, TP)</a:t>
                </a:r>
                <a:r>
                  <a:rPr lang="zh-CN" altLang="zh-CN" sz="1200" kern="1200" dirty="0">
                    <a:solidFill>
                      <a:schemeClr val="tx1"/>
                    </a:solidFill>
                    <a:effectLst/>
                    <a:latin typeface="+mn-lt"/>
                    <a:ea typeface="+mn-ea"/>
                    <a:cs typeface="+mn-cs"/>
                  </a:rPr>
                  <a:t>、假阳性</a:t>
                </a:r>
                <a:r>
                  <a:rPr lang="en-US" altLang="zh-CN" sz="1200" kern="1200" dirty="0">
                    <a:solidFill>
                      <a:schemeClr val="tx1"/>
                    </a:solidFill>
                    <a:effectLst/>
                    <a:latin typeface="+mn-lt"/>
                    <a:ea typeface="+mn-ea"/>
                    <a:cs typeface="+mn-cs"/>
                  </a:rPr>
                  <a:t>(False Positive, FP)</a:t>
                </a:r>
                <a:r>
                  <a:rPr lang="zh-CN" altLang="zh-CN" sz="1200" kern="1200" dirty="0">
                    <a:solidFill>
                      <a:schemeClr val="tx1"/>
                    </a:solidFill>
                    <a:effectLst/>
                    <a:latin typeface="+mn-lt"/>
                    <a:ea typeface="+mn-ea"/>
                    <a:cs typeface="+mn-cs"/>
                  </a:rPr>
                  <a:t>、假阴性</a:t>
                </a:r>
                <a:r>
                  <a:rPr lang="en-US" altLang="zh-CN" sz="1200" kern="1200" dirty="0">
                    <a:solidFill>
                      <a:schemeClr val="tx1"/>
                    </a:solidFill>
                    <a:effectLst/>
                    <a:latin typeface="+mn-lt"/>
                    <a:ea typeface="+mn-ea"/>
                    <a:cs typeface="+mn-cs"/>
                  </a:rPr>
                  <a:t>(False Negative, FN)</a:t>
                </a:r>
                <a:r>
                  <a:rPr lang="zh-CN" altLang="zh-CN" sz="1200" kern="1200" dirty="0">
                    <a:solidFill>
                      <a:schemeClr val="tx1"/>
                    </a:solidFill>
                    <a:effectLst/>
                    <a:latin typeface="+mn-lt"/>
                    <a:ea typeface="+mn-ea"/>
                    <a:cs typeface="+mn-cs"/>
                  </a:rPr>
                  <a:t>、真阴性</a:t>
                </a:r>
                <a:r>
                  <a:rPr lang="en-US" altLang="zh-CN" sz="1200" kern="1200" dirty="0">
                    <a:solidFill>
                      <a:schemeClr val="tx1"/>
                    </a:solidFill>
                    <a:effectLst/>
                    <a:latin typeface="+mn-lt"/>
                    <a:ea typeface="+mn-ea"/>
                    <a:cs typeface="+mn-cs"/>
                  </a:rPr>
                  <a:t>(True Negative, TN)</a:t>
                </a:r>
                <a:r>
                  <a:rPr lang="zh-CN" altLang="zh-CN" sz="1200" kern="1200" dirty="0">
                    <a:solidFill>
                      <a:schemeClr val="tx1"/>
                    </a:solidFill>
                    <a:effectLst/>
                    <a:latin typeface="+mn-lt"/>
                    <a:ea typeface="+mn-ea"/>
                    <a:cs typeface="+mn-cs"/>
                  </a:rPr>
                  <a:t>四个基本指标，进一步计算出精确率</a:t>
                </a:r>
                <a:r>
                  <a:rPr lang="en-US" altLang="zh-CN" sz="1200" kern="1200" dirty="0">
                    <a:solidFill>
                      <a:schemeClr val="tx1"/>
                    </a:solidFill>
                    <a:effectLst/>
                    <a:latin typeface="+mn-lt"/>
                    <a:ea typeface="+mn-ea"/>
                    <a:cs typeface="+mn-cs"/>
                  </a:rPr>
                  <a:t>(precision, </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𝑃𝑅𝐶</m:t>
                    </m:r>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、召回率</a:t>
                </a:r>
                <a:r>
                  <a:rPr lang="en-US" altLang="zh-CN" sz="1200" kern="1200" dirty="0">
                    <a:solidFill>
                      <a:schemeClr val="tx1"/>
                    </a:solidFill>
                    <a:effectLst/>
                    <a:latin typeface="+mn-lt"/>
                    <a:ea typeface="+mn-ea"/>
                    <a:cs typeface="+mn-cs"/>
                  </a:rPr>
                  <a:t>(recall, </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𝑅𝐸𝐶</m:t>
                    </m:r>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F1</a:t>
                </a:r>
                <a:r>
                  <a:rPr lang="zh-CN" altLang="zh-CN" sz="1200" kern="1200" dirty="0">
                    <a:solidFill>
                      <a:schemeClr val="tx1"/>
                    </a:solidFill>
                    <a:effectLst/>
                    <a:latin typeface="+mn-lt"/>
                    <a:ea typeface="+mn-ea"/>
                    <a:cs typeface="+mn-cs"/>
                  </a:rPr>
                  <a:t>分数</a:t>
                </a:r>
                <a:r>
                  <a:rPr lang="en-US" altLang="zh-CN" sz="1200" kern="1200" dirty="0">
                    <a:solidFill>
                      <a:schemeClr val="tx1"/>
                    </a:solidFill>
                    <a:effectLst/>
                    <a:latin typeface="+mn-lt"/>
                    <a:ea typeface="+mn-ea"/>
                    <a:cs typeface="+mn-cs"/>
                  </a:rPr>
                  <a:t>(F1 score, </a:t>
                </a:r>
                <a14:m>
                  <m:oMath xmlns:m="http://schemas.openxmlformats.org/officeDocument/2006/math">
                    <m:sSub>
                      <m:sSubPr>
                        <m:ctrlPr>
                          <a:rPr lang="zh-CN" altLang="zh-CN" sz="1200" i="1" u="sng"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𝐹</m:t>
                        </m:r>
                      </m:e>
                      <m:sub>
                        <m:r>
                          <a:rPr lang="en-US" altLang="zh-CN" sz="1200" i="1" kern="1200">
                            <a:solidFill>
                              <a:schemeClr val="tx1"/>
                            </a:solidFill>
                            <a:effectLst/>
                            <a:latin typeface="Cambria Math" panose="02040503050406030204" pitchFamily="18" charset="0"/>
                            <a:ea typeface="+mn-ea"/>
                            <a:cs typeface="+mn-cs"/>
                          </a:rPr>
                          <m:t>1</m:t>
                        </m:r>
                      </m:sub>
                    </m:sSub>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作为我们的实验评估指标。实验结果如表</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所示，可以看到，</a:t>
                </a:r>
                <a:r>
                  <a:rPr lang="en-US" altLang="zh-CN" sz="1200" kern="1200" dirty="0">
                    <a:solidFill>
                      <a:schemeClr val="tx1"/>
                    </a:solidFill>
                    <a:effectLst/>
                    <a:latin typeface="+mn-lt"/>
                    <a:ea typeface="+mn-ea"/>
                    <a:cs typeface="+mn-cs"/>
                  </a:rPr>
                  <a:t>Nexus</a:t>
                </a:r>
                <a:r>
                  <a:rPr lang="zh-CN" altLang="zh-CN"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OPTC</a:t>
                </a:r>
                <a:r>
                  <a:rPr lang="zh-CN" altLang="zh-CN" sz="1200" kern="1200" dirty="0">
                    <a:solidFill>
                      <a:schemeClr val="tx1"/>
                    </a:solidFill>
                    <a:effectLst/>
                    <a:latin typeface="+mn-lt"/>
                    <a:ea typeface="+mn-ea"/>
                    <a:cs typeface="+mn-cs"/>
                  </a:rPr>
                  <a:t>数据集的三个案例上都表现得很好。</a:t>
                </a:r>
              </a:p>
              <a:p>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我们在</a:t>
                </a:r>
                <a:r>
                  <a:rPr lang="en-US" altLang="zh-CN" sz="1200" kern="1200" dirty="0">
                    <a:solidFill>
                      <a:schemeClr val="tx1"/>
                    </a:solidFill>
                    <a:effectLst/>
                    <a:latin typeface="+mn-lt"/>
                    <a:ea typeface="+mn-ea"/>
                    <a:cs typeface="+mn-cs"/>
                  </a:rPr>
                  <a:t>OPTC</a:t>
                </a:r>
                <a:r>
                  <a:rPr lang="zh-CN" altLang="zh-CN" sz="1200" kern="1200" dirty="0">
                    <a:solidFill>
                      <a:schemeClr val="tx1"/>
                    </a:solidFill>
                    <a:effectLst/>
                    <a:latin typeface="+mn-lt"/>
                    <a:ea typeface="+mn-ea"/>
                    <a:cs typeface="+mn-cs"/>
                  </a:rPr>
                  <a:t>的三个案例上进行多点告警关联分析的实验，并统计出真阳性</a:t>
                </a:r>
                <a:r>
                  <a:rPr lang="en-US" altLang="zh-CN" sz="1200" kern="1200" dirty="0">
                    <a:solidFill>
                      <a:schemeClr val="tx1"/>
                    </a:solidFill>
                    <a:effectLst/>
                    <a:latin typeface="+mn-lt"/>
                    <a:ea typeface="+mn-ea"/>
                    <a:cs typeface="+mn-cs"/>
                  </a:rPr>
                  <a:t>(True Positive, TP)</a:t>
                </a:r>
                <a:r>
                  <a:rPr lang="zh-CN" altLang="zh-CN" sz="1200" kern="1200" dirty="0">
                    <a:solidFill>
                      <a:schemeClr val="tx1"/>
                    </a:solidFill>
                    <a:effectLst/>
                    <a:latin typeface="+mn-lt"/>
                    <a:ea typeface="+mn-ea"/>
                    <a:cs typeface="+mn-cs"/>
                  </a:rPr>
                  <a:t>、假阳性</a:t>
                </a:r>
                <a:r>
                  <a:rPr lang="en-US" altLang="zh-CN" sz="1200" kern="1200" dirty="0">
                    <a:solidFill>
                      <a:schemeClr val="tx1"/>
                    </a:solidFill>
                    <a:effectLst/>
                    <a:latin typeface="+mn-lt"/>
                    <a:ea typeface="+mn-ea"/>
                    <a:cs typeface="+mn-cs"/>
                  </a:rPr>
                  <a:t>(False Positive, FP)</a:t>
                </a:r>
                <a:r>
                  <a:rPr lang="zh-CN" altLang="zh-CN" sz="1200" kern="1200" dirty="0">
                    <a:solidFill>
                      <a:schemeClr val="tx1"/>
                    </a:solidFill>
                    <a:effectLst/>
                    <a:latin typeface="+mn-lt"/>
                    <a:ea typeface="+mn-ea"/>
                    <a:cs typeface="+mn-cs"/>
                  </a:rPr>
                  <a:t>、假阴性</a:t>
                </a:r>
                <a:r>
                  <a:rPr lang="en-US" altLang="zh-CN" sz="1200" kern="1200" dirty="0">
                    <a:solidFill>
                      <a:schemeClr val="tx1"/>
                    </a:solidFill>
                    <a:effectLst/>
                    <a:latin typeface="+mn-lt"/>
                    <a:ea typeface="+mn-ea"/>
                    <a:cs typeface="+mn-cs"/>
                  </a:rPr>
                  <a:t>(False Negative, FN)</a:t>
                </a:r>
                <a:r>
                  <a:rPr lang="zh-CN" altLang="zh-CN" sz="1200" kern="1200" dirty="0">
                    <a:solidFill>
                      <a:schemeClr val="tx1"/>
                    </a:solidFill>
                    <a:effectLst/>
                    <a:latin typeface="+mn-lt"/>
                    <a:ea typeface="+mn-ea"/>
                    <a:cs typeface="+mn-cs"/>
                  </a:rPr>
                  <a:t>、真阴性</a:t>
                </a:r>
                <a:r>
                  <a:rPr lang="en-US" altLang="zh-CN" sz="1200" kern="1200" dirty="0">
                    <a:solidFill>
                      <a:schemeClr val="tx1"/>
                    </a:solidFill>
                    <a:effectLst/>
                    <a:latin typeface="+mn-lt"/>
                    <a:ea typeface="+mn-ea"/>
                    <a:cs typeface="+mn-cs"/>
                  </a:rPr>
                  <a:t>(True Negative, TN)</a:t>
                </a:r>
                <a:r>
                  <a:rPr lang="zh-CN" altLang="zh-CN" sz="1200" kern="1200" dirty="0">
                    <a:solidFill>
                      <a:schemeClr val="tx1"/>
                    </a:solidFill>
                    <a:effectLst/>
                    <a:latin typeface="+mn-lt"/>
                    <a:ea typeface="+mn-ea"/>
                    <a:cs typeface="+mn-cs"/>
                  </a:rPr>
                  <a:t>四个基本指标，进一步计算出精确率</a:t>
                </a:r>
                <a:r>
                  <a:rPr lang="en-US" altLang="zh-CN" sz="1200" kern="1200" dirty="0">
                    <a:solidFill>
                      <a:schemeClr val="tx1"/>
                    </a:solidFill>
                    <a:effectLst/>
                    <a:latin typeface="+mn-lt"/>
                    <a:ea typeface="+mn-ea"/>
                    <a:cs typeface="+mn-cs"/>
                  </a:rPr>
                  <a:t>(precision, </a:t>
                </a:r>
                <a:r>
                  <a:rPr lang="en-US" altLang="zh-CN" sz="1200" i="0" kern="1200">
                    <a:solidFill>
                      <a:schemeClr val="tx1"/>
                    </a:solidFill>
                    <a:effectLst/>
                    <a:latin typeface="+mn-lt"/>
                    <a:ea typeface="+mn-ea"/>
                    <a:cs typeface="+mn-cs"/>
                  </a:rPr>
                  <a:t>𝑃𝑅𝐶</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、召回率</a:t>
                </a:r>
                <a:r>
                  <a:rPr lang="en-US" altLang="zh-CN" sz="1200" kern="1200" dirty="0">
                    <a:solidFill>
                      <a:schemeClr val="tx1"/>
                    </a:solidFill>
                    <a:effectLst/>
                    <a:latin typeface="+mn-lt"/>
                    <a:ea typeface="+mn-ea"/>
                    <a:cs typeface="+mn-cs"/>
                  </a:rPr>
                  <a:t>(recall, </a:t>
                </a:r>
                <a:r>
                  <a:rPr lang="en-US" altLang="zh-CN" sz="1200" i="0" kern="1200">
                    <a:solidFill>
                      <a:schemeClr val="tx1"/>
                    </a:solidFill>
                    <a:effectLst/>
                    <a:latin typeface="+mn-lt"/>
                    <a:ea typeface="+mn-ea"/>
                    <a:cs typeface="+mn-cs"/>
                  </a:rPr>
                  <a:t>𝑅𝐸𝐶</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F1</a:t>
                </a:r>
                <a:r>
                  <a:rPr lang="zh-CN" altLang="zh-CN" sz="1200" kern="1200" dirty="0">
                    <a:solidFill>
                      <a:schemeClr val="tx1"/>
                    </a:solidFill>
                    <a:effectLst/>
                    <a:latin typeface="+mn-lt"/>
                    <a:ea typeface="+mn-ea"/>
                    <a:cs typeface="+mn-cs"/>
                  </a:rPr>
                  <a:t>分数</a:t>
                </a:r>
                <a:r>
                  <a:rPr lang="en-US" altLang="zh-CN" sz="1200" kern="1200" dirty="0">
                    <a:solidFill>
                      <a:schemeClr val="tx1"/>
                    </a:solidFill>
                    <a:effectLst/>
                    <a:latin typeface="+mn-lt"/>
                    <a:ea typeface="+mn-ea"/>
                    <a:cs typeface="+mn-cs"/>
                  </a:rPr>
                  <a:t>(F1 score, </a:t>
                </a:r>
                <a:r>
                  <a:rPr lang="en-US" altLang="zh-CN" sz="1200" i="0" kern="1200">
                    <a:solidFill>
                      <a:schemeClr val="tx1"/>
                    </a:solidFill>
                    <a:effectLst/>
                    <a:latin typeface="+mn-lt"/>
                    <a:ea typeface="+mn-ea"/>
                    <a:cs typeface="+mn-cs"/>
                  </a:rPr>
                  <a:t>𝐹</a:t>
                </a:r>
                <a:r>
                  <a:rPr lang="zh-CN" altLang="zh-CN" sz="1200" i="0" u="sng"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作为我们的实验评估指标。实验结果如表</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所示，可以看到，</a:t>
                </a:r>
                <a:r>
                  <a:rPr lang="en-US" altLang="zh-CN" sz="1200" kern="1200" dirty="0">
                    <a:solidFill>
                      <a:schemeClr val="tx1"/>
                    </a:solidFill>
                    <a:effectLst/>
                    <a:latin typeface="+mn-lt"/>
                    <a:ea typeface="+mn-ea"/>
                    <a:cs typeface="+mn-cs"/>
                  </a:rPr>
                  <a:t>Nexus</a:t>
                </a:r>
                <a:r>
                  <a:rPr lang="zh-CN" altLang="zh-CN"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OPTC</a:t>
                </a:r>
                <a:r>
                  <a:rPr lang="zh-CN" altLang="zh-CN" sz="1200" kern="1200" dirty="0">
                    <a:solidFill>
                      <a:schemeClr val="tx1"/>
                    </a:solidFill>
                    <a:effectLst/>
                    <a:latin typeface="+mn-lt"/>
                    <a:ea typeface="+mn-ea"/>
                    <a:cs typeface="+mn-cs"/>
                  </a:rPr>
                  <a:t>数据集的三个案例上都表现得很好。</a:t>
                </a:r>
              </a:p>
              <a:p>
                <a:endParaRPr lang="zh-CN" altLang="en-US" dirty="0"/>
              </a:p>
            </p:txBody>
          </p:sp>
        </mc:Fallback>
      </mc:AlternateContent>
      <p:sp>
        <p:nvSpPr>
          <p:cNvPr id="4" name="灯片编号占位符 3"/>
          <p:cNvSpPr>
            <a:spLocks noGrp="1"/>
          </p:cNvSpPr>
          <p:nvPr>
            <p:ph type="sldNum" sz="quarter" idx="5"/>
          </p:nvPr>
        </p:nvSpPr>
        <p:spPr/>
        <p:txBody>
          <a:bodyPr/>
          <a:lstStyle/>
          <a:p>
            <a:fld id="{E3CFC841-E2E1-4802-8701-94EA307E94B0}" type="slidenum">
              <a:rPr lang="zh-CN" altLang="en-US" smtClean="0"/>
              <a:t>22</a:t>
            </a:fld>
            <a:endParaRPr lang="zh-CN" altLang="en-US"/>
          </a:p>
        </p:txBody>
      </p:sp>
    </p:spTree>
    <p:extLst>
      <p:ext uri="{BB962C8B-B14F-4D97-AF65-F5344CB8AC3E}">
        <p14:creationId xmlns:p14="http://schemas.microsoft.com/office/powerpoint/2010/main" val="27213121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4B605-6651-86D0-FCA9-634B83436E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7ACB9FE-2219-891B-955F-0CD9CE24F60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D7D5F9B-E1DC-9075-15F9-4D79D97E4D08}"/>
              </a:ext>
            </a:extLst>
          </p:cNvPr>
          <p:cNvSpPr>
            <a:spLocks noGrp="1"/>
          </p:cNvSpPr>
          <p:nvPr>
            <p:ph type="body" idx="1"/>
          </p:nvPr>
        </p:nvSpPr>
        <p:spPr/>
        <p:txBody>
          <a:bodyPr/>
          <a:lstStyle/>
          <a:p>
            <a:r>
              <a:rPr lang="zh-CN" altLang="zh-CN" sz="1200" kern="1200" dirty="0">
                <a:solidFill>
                  <a:schemeClr val="tx1"/>
                </a:solidFill>
                <a:effectLst/>
                <a:latin typeface="+mn-lt"/>
                <a:ea typeface="+mn-ea"/>
                <a:cs typeface="+mn-cs"/>
              </a:rPr>
              <a:t>下面的表</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给出</a:t>
            </a:r>
            <a:r>
              <a:rPr lang="en-US" altLang="zh-CN" sz="1200" kern="1200" dirty="0">
                <a:solidFill>
                  <a:schemeClr val="tx1"/>
                </a:solidFill>
                <a:effectLst/>
                <a:latin typeface="+mn-lt"/>
                <a:ea typeface="+mn-ea"/>
                <a:cs typeface="+mn-cs"/>
              </a:rPr>
              <a:t>Nexus</a:t>
            </a:r>
            <a:r>
              <a:rPr lang="zh-CN" altLang="zh-CN" sz="1200" kern="1200" dirty="0">
                <a:solidFill>
                  <a:schemeClr val="tx1"/>
                </a:solidFill>
                <a:effectLst/>
                <a:latin typeface="+mn-lt"/>
                <a:ea typeface="+mn-ea"/>
                <a:cs typeface="+mn-cs"/>
              </a:rPr>
              <a:t>的系统日志异常检测</a:t>
            </a:r>
            <a:r>
              <a:rPr lang="en-US" altLang="zh-CN" sz="1200" kern="1200" dirty="0">
                <a:solidFill>
                  <a:schemeClr val="tx1"/>
                </a:solidFill>
                <a:effectLst/>
                <a:latin typeface="+mn-lt"/>
                <a:ea typeface="+mn-ea"/>
                <a:cs typeface="+mn-cs"/>
              </a:rPr>
              <a:t>(host-detect)</a:t>
            </a:r>
            <a:r>
              <a:rPr lang="zh-CN" altLang="zh-CN" sz="1200" kern="1200" dirty="0">
                <a:solidFill>
                  <a:schemeClr val="tx1"/>
                </a:solidFill>
                <a:effectLst/>
                <a:latin typeface="+mn-lt"/>
                <a:ea typeface="+mn-ea"/>
                <a:cs typeface="+mn-cs"/>
              </a:rPr>
              <a:t>、网络日志异常检测</a:t>
            </a:r>
            <a:r>
              <a:rPr lang="en-US" altLang="zh-CN" sz="1200" kern="1200" dirty="0">
                <a:solidFill>
                  <a:schemeClr val="tx1"/>
                </a:solidFill>
                <a:effectLst/>
                <a:latin typeface="+mn-lt"/>
                <a:ea typeface="+mn-ea"/>
                <a:cs typeface="+mn-cs"/>
              </a:rPr>
              <a:t>(net-detect)</a:t>
            </a:r>
            <a:r>
              <a:rPr lang="zh-CN" altLang="zh-CN" sz="1200" kern="1200" dirty="0">
                <a:solidFill>
                  <a:schemeClr val="tx1"/>
                </a:solidFill>
                <a:effectLst/>
                <a:latin typeface="+mn-lt"/>
                <a:ea typeface="+mn-ea"/>
                <a:cs typeface="+mn-cs"/>
              </a:rPr>
              <a:t>和攻击路径重构</a:t>
            </a:r>
            <a:r>
              <a:rPr lang="en-US" altLang="zh-CN" sz="1200" kern="1200" dirty="0">
                <a:solidFill>
                  <a:schemeClr val="tx1"/>
                </a:solidFill>
                <a:effectLst/>
                <a:latin typeface="+mn-lt"/>
                <a:ea typeface="+mn-ea"/>
                <a:cs typeface="+mn-cs"/>
              </a:rPr>
              <a:t>(investigate)</a:t>
            </a:r>
            <a:r>
              <a:rPr lang="zh-CN" altLang="zh-CN" sz="1200" kern="1200" dirty="0">
                <a:solidFill>
                  <a:schemeClr val="tx1"/>
                </a:solidFill>
                <a:effectLst/>
                <a:latin typeface="+mn-lt"/>
                <a:ea typeface="+mn-ea"/>
                <a:cs typeface="+mn-cs"/>
              </a:rPr>
              <a:t>三个阶段的运行时间，相关的讨论详见第</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节。表中的总运行时间为三个阶段的运行时间之和，均在</a:t>
            </a:r>
            <a:r>
              <a:rPr lang="en-US" altLang="zh-CN" sz="1200" kern="1200" dirty="0">
                <a:solidFill>
                  <a:schemeClr val="tx1"/>
                </a:solidFill>
                <a:effectLst/>
                <a:latin typeface="+mn-lt"/>
                <a:ea typeface="+mn-ea"/>
                <a:cs typeface="+mn-cs"/>
              </a:rPr>
              <a:t>4h</a:t>
            </a:r>
            <a:r>
              <a:rPr lang="zh-CN" altLang="zh-CN" sz="1200" kern="1200" dirty="0">
                <a:solidFill>
                  <a:schemeClr val="tx1"/>
                </a:solidFill>
                <a:effectLst/>
                <a:latin typeface="+mn-lt"/>
                <a:ea typeface="+mn-ea"/>
                <a:cs typeface="+mn-cs"/>
              </a:rPr>
              <a:t>以内。事实上，如图</a:t>
            </a:r>
            <a:r>
              <a:rPr lang="en-US" altLang="zh-CN" sz="1200" kern="1200" dirty="0">
                <a:solidFill>
                  <a:schemeClr val="tx1"/>
                </a:solidFill>
                <a:effectLst/>
                <a:latin typeface="+mn-lt"/>
                <a:ea typeface="+mn-ea"/>
                <a:cs typeface="+mn-cs"/>
              </a:rPr>
              <a:t> 1</a:t>
            </a:r>
            <a:r>
              <a:rPr lang="zh-CN" altLang="zh-CN" sz="1200" kern="1200" dirty="0">
                <a:solidFill>
                  <a:schemeClr val="tx1"/>
                </a:solidFill>
                <a:effectLst/>
                <a:latin typeface="+mn-lt"/>
                <a:ea typeface="+mn-ea"/>
                <a:cs typeface="+mn-cs"/>
              </a:rPr>
              <a:t>所示，系统日志异常检测和网络日志异常检测这两个环节是可以并行的，因此实际所需时间还会更少。</a:t>
            </a:r>
          </a:p>
          <a:p>
            <a:r>
              <a:rPr lang="zh-CN" altLang="zh-CN" sz="1200" kern="1200" dirty="0">
                <a:solidFill>
                  <a:schemeClr val="tx1"/>
                </a:solidFill>
                <a:effectLst/>
                <a:latin typeface="+mn-lt"/>
                <a:ea typeface="+mn-ea"/>
                <a:cs typeface="+mn-cs"/>
              </a:rPr>
              <a:t>下面我们对比综合了系统日志和网络日志的</a:t>
            </a:r>
            <a:r>
              <a:rPr lang="en-US" altLang="zh-CN" sz="1200" kern="1200" dirty="0">
                <a:solidFill>
                  <a:schemeClr val="tx1"/>
                </a:solidFill>
                <a:effectLst/>
                <a:latin typeface="+mn-lt"/>
                <a:ea typeface="+mn-ea"/>
                <a:cs typeface="+mn-cs"/>
              </a:rPr>
              <a:t>Nexus</a:t>
            </a:r>
            <a:r>
              <a:rPr lang="zh-CN" altLang="zh-CN" sz="1200" kern="1200" dirty="0">
                <a:solidFill>
                  <a:schemeClr val="tx1"/>
                </a:solidFill>
                <a:effectLst/>
                <a:latin typeface="+mn-lt"/>
                <a:ea typeface="+mn-ea"/>
                <a:cs typeface="+mn-cs"/>
              </a:rPr>
              <a:t>和仅基于系统日志的</a:t>
            </a:r>
            <a:r>
              <a:rPr lang="en-US" altLang="zh-CN" sz="1200" kern="1200" dirty="0">
                <a:solidFill>
                  <a:schemeClr val="tx1"/>
                </a:solidFill>
                <a:effectLst/>
                <a:latin typeface="+mn-lt"/>
                <a:ea typeface="+mn-ea"/>
                <a:cs typeface="+mn-cs"/>
              </a:rPr>
              <a:t>MAGIC</a:t>
            </a:r>
            <a:r>
              <a:rPr lang="zh-CN" altLang="zh-CN" sz="1200" kern="1200" dirty="0">
                <a:solidFill>
                  <a:schemeClr val="tx1"/>
                </a:solidFill>
                <a:effectLst/>
                <a:latin typeface="+mn-lt"/>
                <a:ea typeface="+mn-ea"/>
                <a:cs typeface="+mn-cs"/>
              </a:rPr>
              <a:t>方法在</a:t>
            </a:r>
            <a:r>
              <a:rPr lang="en-US" altLang="zh-CN" sz="1200" kern="1200" dirty="0">
                <a:solidFill>
                  <a:schemeClr val="tx1"/>
                </a:solidFill>
                <a:effectLst/>
                <a:latin typeface="+mn-lt"/>
                <a:ea typeface="+mn-ea"/>
                <a:cs typeface="+mn-cs"/>
              </a:rPr>
              <a:t>OPTC</a:t>
            </a:r>
            <a:r>
              <a:rPr lang="zh-CN" altLang="zh-CN" sz="1200" kern="1200" dirty="0">
                <a:solidFill>
                  <a:schemeClr val="tx1"/>
                </a:solidFill>
                <a:effectLst/>
                <a:latin typeface="+mn-lt"/>
                <a:ea typeface="+mn-ea"/>
                <a:cs typeface="+mn-cs"/>
              </a:rPr>
              <a:t>数据集上的表现，结果如表</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所示。可以发现，</a:t>
            </a:r>
            <a:r>
              <a:rPr lang="en-US" altLang="zh-CN" sz="1200" kern="1200" dirty="0">
                <a:solidFill>
                  <a:schemeClr val="tx1"/>
                </a:solidFill>
                <a:effectLst/>
                <a:latin typeface="+mn-lt"/>
                <a:ea typeface="+mn-ea"/>
                <a:cs typeface="+mn-cs"/>
              </a:rPr>
              <a:t>Nexus</a:t>
            </a:r>
            <a:r>
              <a:rPr lang="zh-CN" altLang="zh-CN"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OPTC day23</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day25</a:t>
            </a:r>
            <a:r>
              <a:rPr lang="zh-CN" altLang="zh-CN" sz="1200" kern="1200" dirty="0">
                <a:solidFill>
                  <a:schemeClr val="tx1"/>
                </a:solidFill>
                <a:effectLst/>
                <a:latin typeface="+mn-lt"/>
                <a:ea typeface="+mn-ea"/>
                <a:cs typeface="+mn-cs"/>
              </a:rPr>
              <a:t>上表现优于</a:t>
            </a:r>
            <a:r>
              <a:rPr lang="en-US" altLang="zh-CN" sz="1200" kern="1200" dirty="0">
                <a:solidFill>
                  <a:schemeClr val="tx1"/>
                </a:solidFill>
                <a:effectLst/>
                <a:latin typeface="+mn-lt"/>
                <a:ea typeface="+mn-ea"/>
                <a:cs typeface="+mn-cs"/>
              </a:rPr>
              <a:t>MAGIC</a:t>
            </a:r>
            <a:r>
              <a:rPr lang="zh-CN" altLang="zh-CN" sz="1200" kern="1200" dirty="0">
                <a:solidFill>
                  <a:schemeClr val="tx1"/>
                </a:solidFill>
                <a:effectLst/>
                <a:latin typeface="+mn-lt"/>
                <a:ea typeface="+mn-ea"/>
                <a:cs typeface="+mn-cs"/>
              </a:rPr>
              <a:t>，而在</a:t>
            </a:r>
            <a:r>
              <a:rPr lang="en-US" altLang="zh-CN" sz="1200" kern="1200" dirty="0">
                <a:solidFill>
                  <a:schemeClr val="tx1"/>
                </a:solidFill>
                <a:effectLst/>
                <a:latin typeface="+mn-lt"/>
                <a:ea typeface="+mn-ea"/>
                <a:cs typeface="+mn-cs"/>
              </a:rPr>
              <a:t>OPTC day24</a:t>
            </a:r>
            <a:r>
              <a:rPr lang="zh-CN" altLang="zh-CN" sz="1200" kern="1200" dirty="0">
                <a:solidFill>
                  <a:schemeClr val="tx1"/>
                </a:solidFill>
                <a:effectLst/>
                <a:latin typeface="+mn-lt"/>
                <a:ea typeface="+mn-ea"/>
                <a:cs typeface="+mn-cs"/>
              </a:rPr>
              <a:t>上表现与</a:t>
            </a:r>
            <a:r>
              <a:rPr lang="en-US" altLang="zh-CN" sz="1200" kern="1200" dirty="0">
                <a:solidFill>
                  <a:schemeClr val="tx1"/>
                </a:solidFill>
                <a:effectLst/>
                <a:latin typeface="+mn-lt"/>
                <a:ea typeface="+mn-ea"/>
                <a:cs typeface="+mn-cs"/>
              </a:rPr>
              <a:t>MAGIC</a:t>
            </a:r>
            <a:r>
              <a:rPr lang="zh-CN" altLang="zh-CN" sz="1200" kern="1200" dirty="0">
                <a:solidFill>
                  <a:schemeClr val="tx1"/>
                </a:solidFill>
                <a:effectLst/>
                <a:latin typeface="+mn-lt"/>
                <a:ea typeface="+mn-ea"/>
                <a:cs typeface="+mn-cs"/>
              </a:rPr>
              <a:t>持平。</a:t>
            </a:r>
            <a:endParaRPr lang="zh-CN" altLang="en-US" dirty="0"/>
          </a:p>
        </p:txBody>
      </p:sp>
      <p:sp>
        <p:nvSpPr>
          <p:cNvPr id="4" name="灯片编号占位符 3">
            <a:extLst>
              <a:ext uri="{FF2B5EF4-FFF2-40B4-BE49-F238E27FC236}">
                <a16:creationId xmlns:a16="http://schemas.microsoft.com/office/drawing/2014/main" id="{97809FF3-3F5F-D1CD-D62F-D941C61EE633}"/>
              </a:ext>
            </a:extLst>
          </p:cNvPr>
          <p:cNvSpPr>
            <a:spLocks noGrp="1"/>
          </p:cNvSpPr>
          <p:nvPr>
            <p:ph type="sldNum" sz="quarter" idx="5"/>
          </p:nvPr>
        </p:nvSpPr>
        <p:spPr/>
        <p:txBody>
          <a:bodyPr/>
          <a:lstStyle/>
          <a:p>
            <a:fld id="{E3CFC841-E2E1-4802-8701-94EA307E94B0}" type="slidenum">
              <a:rPr lang="zh-CN" altLang="en-US" smtClean="0"/>
              <a:t>23</a:t>
            </a:fld>
            <a:endParaRPr lang="zh-CN" altLang="en-US"/>
          </a:p>
        </p:txBody>
      </p:sp>
    </p:spTree>
    <p:extLst>
      <p:ext uri="{BB962C8B-B14F-4D97-AF65-F5344CB8AC3E}">
        <p14:creationId xmlns:p14="http://schemas.microsoft.com/office/powerpoint/2010/main" val="14765573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关于斯坦纳树问题</a:t>
                </a:r>
                <a:r>
                  <a:rPr lang="zh-CN" altLang="zh-CN" sz="1200" kern="1200" dirty="0">
                    <a:solidFill>
                      <a:schemeClr val="tx1"/>
                    </a:solidFill>
                    <a:effectLst/>
                    <a:latin typeface="+mn-lt"/>
                    <a:ea typeface="+mn-ea"/>
                    <a:cs typeface="+mn-cs"/>
                  </a:rPr>
                  <a:t>。我们在</a:t>
                </a:r>
                <a:r>
                  <a:rPr lang="en-US" altLang="zh-CN" sz="1200" kern="1200" dirty="0">
                    <a:solidFill>
                      <a:schemeClr val="tx1"/>
                    </a:solidFill>
                    <a:effectLst/>
                    <a:latin typeface="+mn-lt"/>
                    <a:ea typeface="+mn-ea"/>
                    <a:cs typeface="+mn-cs"/>
                  </a:rPr>
                  <a:t>2.5</a:t>
                </a:r>
                <a:r>
                  <a:rPr lang="zh-CN" altLang="zh-CN" sz="1200" kern="1200" dirty="0">
                    <a:solidFill>
                      <a:schemeClr val="tx1"/>
                    </a:solidFill>
                    <a:effectLst/>
                    <a:latin typeface="+mn-lt"/>
                    <a:ea typeface="+mn-ea"/>
                    <a:cs typeface="+mn-cs"/>
                  </a:rPr>
                  <a:t>节将攻击链路重构建模为斯坦纳树问题受到了</a:t>
                </a:r>
                <a:r>
                  <a:rPr lang="en-US" altLang="zh-CN" sz="1200" kern="1200" dirty="0" err="1">
                    <a:solidFill>
                      <a:schemeClr val="tx1"/>
                    </a:solidFill>
                    <a:effectLst/>
                    <a:latin typeface="+mn-lt"/>
                    <a:ea typeface="+mn-ea"/>
                    <a:cs typeface="+mn-cs"/>
                  </a:rPr>
                  <a:t>Nodlink</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的出色应用效果的启发。</a:t>
                </a:r>
                <a:r>
                  <a:rPr lang="en-US" altLang="zh-CN" sz="1200" kern="1200" dirty="0" err="1">
                    <a:solidFill>
                      <a:schemeClr val="tx1"/>
                    </a:solidFill>
                    <a:effectLst/>
                    <a:latin typeface="+mn-lt"/>
                    <a:ea typeface="+mn-ea"/>
                    <a:cs typeface="+mn-cs"/>
                  </a:rPr>
                  <a:t>Nodlink</a:t>
                </a:r>
                <a:r>
                  <a:rPr lang="zh-CN" altLang="zh-CN" sz="1200" kern="1200" dirty="0">
                    <a:solidFill>
                      <a:schemeClr val="tx1"/>
                    </a:solidFill>
                    <a:effectLst/>
                    <a:latin typeface="+mn-lt"/>
                    <a:ea typeface="+mn-ea"/>
                    <a:cs typeface="+mn-cs"/>
                  </a:rPr>
                  <a:t>由于是实时模型，采用的建模是动态斯坦纳树问题</a:t>
                </a:r>
                <a:r>
                  <a:rPr lang="en-US" altLang="zh-CN" sz="1200" kern="1200" dirty="0">
                    <a:solidFill>
                      <a:schemeClr val="tx1"/>
                    </a:solidFill>
                    <a:effectLst/>
                    <a:latin typeface="+mn-lt"/>
                    <a:ea typeface="+mn-ea"/>
                    <a:cs typeface="+mn-cs"/>
                  </a:rPr>
                  <a:t>[25]</a:t>
                </a:r>
                <a:r>
                  <a:rPr lang="zh-CN" altLang="zh-CN" sz="1200" kern="1200" dirty="0">
                    <a:solidFill>
                      <a:schemeClr val="tx1"/>
                    </a:solidFill>
                    <a:effectLst/>
                    <a:latin typeface="+mn-lt"/>
                    <a:ea typeface="+mn-ea"/>
                    <a:cs typeface="+mn-cs"/>
                  </a:rPr>
                  <a:t>；而我们的</a:t>
                </a:r>
                <a:r>
                  <a:rPr lang="en-US" altLang="zh-CN" sz="1200" kern="1200" dirty="0">
                    <a:solidFill>
                      <a:schemeClr val="tx1"/>
                    </a:solidFill>
                    <a:effectLst/>
                    <a:latin typeface="+mn-lt"/>
                    <a:ea typeface="+mn-ea"/>
                    <a:cs typeface="+mn-cs"/>
                  </a:rPr>
                  <a:t>Nexus</a:t>
                </a:r>
                <a:r>
                  <a:rPr lang="zh-CN" altLang="zh-CN" sz="1200" kern="1200" dirty="0">
                    <a:solidFill>
                      <a:schemeClr val="tx1"/>
                    </a:solidFill>
                    <a:effectLst/>
                    <a:latin typeface="+mn-lt"/>
                    <a:ea typeface="+mn-ea"/>
                    <a:cs typeface="+mn-cs"/>
                  </a:rPr>
                  <a:t>专注于离线场景的异常检测和攻击路径重构，故采用的建模是静态的斯坦纳树问题</a:t>
                </a:r>
                <a:r>
                  <a:rPr lang="en-US" altLang="zh-CN" sz="1200" kern="1200" dirty="0">
                    <a:solidFill>
                      <a:schemeClr val="tx1"/>
                    </a:solidFill>
                    <a:effectLst/>
                    <a:latin typeface="+mn-lt"/>
                    <a:ea typeface="+mn-ea"/>
                    <a:cs typeface="+mn-cs"/>
                  </a:rPr>
                  <a:t>[20]</a:t>
                </a:r>
                <a:r>
                  <a:rPr lang="zh-CN" altLang="zh-CN" sz="1200" kern="1200" dirty="0">
                    <a:solidFill>
                      <a:schemeClr val="tx1"/>
                    </a:solidFill>
                    <a:effectLst/>
                    <a:latin typeface="+mn-lt"/>
                    <a:ea typeface="+mn-ea"/>
                    <a:cs typeface="+mn-cs"/>
                  </a:rPr>
                  <a:t>。二者的决策问题都是</a:t>
                </a:r>
                <a:r>
                  <a:rPr lang="en-US" altLang="zh-CN" sz="1200" kern="1200" dirty="0">
                    <a:solidFill>
                      <a:schemeClr val="tx1"/>
                    </a:solidFill>
                    <a:effectLst/>
                    <a:latin typeface="+mn-lt"/>
                    <a:ea typeface="+mn-ea"/>
                    <a:cs typeface="+mn-cs"/>
                  </a:rPr>
                  <a:t>NP</a:t>
                </a:r>
                <a:r>
                  <a:rPr lang="zh-CN" altLang="zh-CN" sz="1200" kern="1200" dirty="0">
                    <a:solidFill>
                      <a:schemeClr val="tx1"/>
                    </a:solidFill>
                    <a:effectLst/>
                    <a:latin typeface="+mn-lt"/>
                    <a:ea typeface="+mn-ea"/>
                    <a:cs typeface="+mn-cs"/>
                  </a:rPr>
                  <a:t>完全的，因而优化问题都是</a:t>
                </a:r>
                <a:r>
                  <a:rPr lang="en-US" altLang="zh-CN" sz="1200" kern="1200" dirty="0">
                    <a:solidFill>
                      <a:schemeClr val="tx1"/>
                    </a:solidFill>
                    <a:effectLst/>
                    <a:latin typeface="+mn-lt"/>
                    <a:ea typeface="+mn-ea"/>
                    <a:cs typeface="+mn-cs"/>
                  </a:rPr>
                  <a:t>NP</a:t>
                </a:r>
                <a:r>
                  <a:rPr lang="zh-CN" altLang="zh-CN" sz="1200" kern="1200" dirty="0">
                    <a:solidFill>
                      <a:schemeClr val="tx1"/>
                    </a:solidFill>
                    <a:effectLst/>
                    <a:latin typeface="+mn-lt"/>
                    <a:ea typeface="+mn-ea"/>
                    <a:cs typeface="+mn-cs"/>
                  </a:rPr>
                  <a:t>困难的</a:t>
                </a:r>
                <a:r>
                  <a:rPr lang="en-US" altLang="zh-CN" sz="1200" kern="1200" dirty="0">
                    <a:solidFill>
                      <a:schemeClr val="tx1"/>
                    </a:solidFill>
                    <a:effectLst/>
                    <a:latin typeface="+mn-lt"/>
                    <a:ea typeface="+mn-ea"/>
                    <a:cs typeface="+mn-cs"/>
                  </a:rPr>
                  <a:t>[26]</a:t>
                </a:r>
                <a:r>
                  <a:rPr lang="zh-CN" altLang="zh-CN" sz="1200" kern="1200" dirty="0">
                    <a:solidFill>
                      <a:schemeClr val="tx1"/>
                    </a:solidFill>
                    <a:effectLst/>
                    <a:latin typeface="+mn-lt"/>
                    <a:ea typeface="+mn-ea"/>
                    <a:cs typeface="+mn-cs"/>
                  </a:rPr>
                  <a:t>。我们在</a:t>
                </a:r>
                <a:r>
                  <a:rPr lang="en-US" altLang="zh-CN" sz="1200" kern="1200" dirty="0">
                    <a:solidFill>
                      <a:schemeClr val="tx1"/>
                    </a:solidFill>
                    <a:effectLst/>
                    <a:latin typeface="+mn-lt"/>
                    <a:ea typeface="+mn-ea"/>
                    <a:cs typeface="+mn-cs"/>
                  </a:rPr>
                  <a:t>2.5</a:t>
                </a:r>
                <a:r>
                  <a:rPr lang="zh-CN" altLang="zh-CN" sz="1200" kern="1200" dirty="0">
                    <a:solidFill>
                      <a:schemeClr val="tx1"/>
                    </a:solidFill>
                    <a:effectLst/>
                    <a:latin typeface="+mn-lt"/>
                    <a:ea typeface="+mn-ea"/>
                    <a:cs typeface="+mn-cs"/>
                  </a:rPr>
                  <a:t>节中提到，我们使用多项式时间的</a:t>
                </a:r>
                <a:r>
                  <a:rPr lang="en-US" altLang="zh-CN" sz="1200" kern="1200" dirty="0">
                    <a:solidFill>
                      <a:schemeClr val="tx1"/>
                    </a:solidFill>
                    <a:effectLst/>
                    <a:latin typeface="+mn-lt"/>
                    <a:ea typeface="+mn-ea"/>
                    <a:cs typeface="+mn-cs"/>
                  </a:rPr>
                  <a:t>Kou–Markowsky–Berman</a:t>
                </a:r>
                <a:r>
                  <a:rPr lang="zh-CN" altLang="zh-CN" sz="1200" kern="1200" dirty="0">
                    <a:solidFill>
                      <a:schemeClr val="tx1"/>
                    </a:solidFill>
                    <a:effectLst/>
                    <a:latin typeface="+mn-lt"/>
                    <a:ea typeface="+mn-ea"/>
                    <a:cs typeface="+mn-cs"/>
                  </a:rPr>
                  <a:t>近似算法，而非指数时间的精确算法，这是因为，如表</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所示，我们在</a:t>
                </a:r>
                <a:r>
                  <a:rPr lang="en-US" altLang="zh-CN" sz="1200" kern="1200" dirty="0">
                    <a:solidFill>
                      <a:schemeClr val="tx1"/>
                    </a:solidFill>
                    <a:effectLst/>
                    <a:latin typeface="+mn-lt"/>
                    <a:ea typeface="+mn-ea"/>
                    <a:cs typeface="+mn-cs"/>
                  </a:rPr>
                  <a:t>OPTC</a:t>
                </a:r>
                <a:r>
                  <a:rPr lang="zh-CN" altLang="zh-CN" sz="1200" kern="1200" dirty="0">
                    <a:solidFill>
                      <a:schemeClr val="tx1"/>
                    </a:solidFill>
                    <a:effectLst/>
                    <a:latin typeface="+mn-lt"/>
                    <a:ea typeface="+mn-ea"/>
                    <a:cs typeface="+mn-cs"/>
                  </a:rPr>
                  <a:t>数据集上实验得到的告警节点达到了</a:t>
                </a:r>
                <a14:m>
                  <m:oMath xmlns:m="http://schemas.openxmlformats.org/officeDocument/2006/math">
                    <m:r>
                      <a:rPr lang="zh-CN" altLang="zh-CN" sz="1200" i="1" kern="1200">
                        <a:solidFill>
                          <a:schemeClr val="tx1"/>
                        </a:solidFill>
                        <a:effectLst/>
                        <a:latin typeface="Cambria Math" panose="02040503050406030204" pitchFamily="18" charset="0"/>
                        <a:ea typeface="+mn-ea"/>
                        <a:cs typeface="+mn-cs"/>
                      </a:rPr>
                      <m:t> </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10</m:t>
                        </m:r>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 </m:t>
                    </m:r>
                  </m:oMath>
                </a14:m>
                <a:r>
                  <a:rPr lang="zh-CN" altLang="zh-CN" sz="1200" kern="1200" dirty="0">
                    <a:solidFill>
                      <a:schemeClr val="tx1"/>
                    </a:solidFill>
                    <a:effectLst/>
                    <a:latin typeface="+mn-lt"/>
                    <a:ea typeface="+mn-ea"/>
                    <a:cs typeface="+mn-cs"/>
                  </a:rPr>
                  <a:t>级别，接近</a:t>
                </a:r>
                <a14:m>
                  <m:oMath xmlns:m="http://schemas.openxmlformats.org/officeDocument/2006/math">
                    <m:r>
                      <a:rPr lang="zh-CN" altLang="zh-CN" sz="1200" i="1" kern="1200">
                        <a:solidFill>
                          <a:schemeClr val="tx1"/>
                        </a:solidFill>
                        <a:effectLst/>
                        <a:latin typeface="Cambria Math" panose="02040503050406030204" pitchFamily="18" charset="0"/>
                        <a:ea typeface="+mn-ea"/>
                        <a:cs typeface="+mn-cs"/>
                      </a:rPr>
                      <m:t> </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10</m:t>
                        </m:r>
                      </m:e>
                      <m:sup>
                        <m:r>
                          <a:rPr lang="en-US" altLang="zh-CN" sz="1200" i="1" kern="1200">
                            <a:solidFill>
                              <a:schemeClr val="tx1"/>
                            </a:solidFill>
                            <a:effectLst/>
                            <a:latin typeface="Cambria Math" panose="02040503050406030204" pitchFamily="18" charset="0"/>
                            <a:ea typeface="+mn-ea"/>
                            <a:cs typeface="+mn-cs"/>
                          </a:rPr>
                          <m:t>3</m:t>
                        </m:r>
                      </m:sup>
                    </m:sSup>
                  </m:oMath>
                </a14:m>
                <a:r>
                  <a:rPr lang="zh-CN" altLang="zh-CN" sz="1200" kern="1200" dirty="0">
                    <a:solidFill>
                      <a:schemeClr val="tx1"/>
                    </a:solidFill>
                    <a:effectLst/>
                    <a:latin typeface="+mn-lt"/>
                    <a:ea typeface="+mn-ea"/>
                    <a:cs typeface="+mn-cs"/>
                  </a:rPr>
                  <a:t>，在这种数据规模下，考虑到算法的效率，我们选择牺牲算法的精确性。实验证明，</a:t>
                </a:r>
                <a:r>
                  <a:rPr lang="en-US" altLang="zh-CN" sz="1200" kern="1200" dirty="0">
                    <a:solidFill>
                      <a:schemeClr val="tx1"/>
                    </a:solidFill>
                    <a:effectLst/>
                    <a:latin typeface="+mn-lt"/>
                    <a:ea typeface="+mn-ea"/>
                    <a:cs typeface="+mn-cs"/>
                  </a:rPr>
                  <a:t>Nexus</a:t>
                </a:r>
                <a:r>
                  <a:rPr lang="zh-CN" altLang="zh-CN"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OPTC</a:t>
                </a:r>
                <a:r>
                  <a:rPr lang="zh-CN" altLang="zh-CN" sz="1200" kern="1200" dirty="0">
                    <a:solidFill>
                      <a:schemeClr val="tx1"/>
                    </a:solidFill>
                    <a:effectLst/>
                    <a:latin typeface="+mn-lt"/>
                    <a:ea typeface="+mn-ea"/>
                    <a:cs typeface="+mn-cs"/>
                  </a:rPr>
                  <a:t>数据集上的效果依然非常优秀。</a:t>
                </a:r>
              </a:p>
              <a:p>
                <a:r>
                  <a:rPr lang="zh-CN" altLang="zh-CN" sz="1200" kern="1200" dirty="0">
                    <a:solidFill>
                      <a:schemeClr val="tx1"/>
                    </a:solidFill>
                    <a:effectLst/>
                    <a:latin typeface="+mn-lt"/>
                    <a:ea typeface="+mn-ea"/>
                    <a:cs typeface="+mn-cs"/>
                  </a:rPr>
                  <a:t>另外，在众多近似算法中，</a:t>
                </a:r>
                <a:r>
                  <a:rPr lang="en-US" altLang="zh-CN" sz="1200" kern="1200" dirty="0">
                    <a:solidFill>
                      <a:schemeClr val="tx1"/>
                    </a:solidFill>
                    <a:effectLst/>
                    <a:latin typeface="+mn-lt"/>
                    <a:ea typeface="+mn-ea"/>
                    <a:cs typeface="+mn-cs"/>
                  </a:rPr>
                  <a:t>Kou–Markowsky–Berman</a:t>
                </a:r>
                <a:r>
                  <a:rPr lang="zh-CN" altLang="zh-CN" sz="1200" kern="1200" dirty="0">
                    <a:solidFill>
                      <a:schemeClr val="tx1"/>
                    </a:solidFill>
                    <a:effectLst/>
                    <a:latin typeface="+mn-lt"/>
                    <a:ea typeface="+mn-ea"/>
                    <a:cs typeface="+mn-cs"/>
                  </a:rPr>
                  <a:t>算法并非最优秀的，自上世纪</a:t>
                </a:r>
                <a:r>
                  <a:rPr lang="en-US" altLang="zh-CN" sz="1200" kern="1200" dirty="0">
                    <a:solidFill>
                      <a:schemeClr val="tx1"/>
                    </a:solidFill>
                    <a:effectLst/>
                    <a:latin typeface="+mn-lt"/>
                    <a:ea typeface="+mn-ea"/>
                    <a:cs typeface="+mn-cs"/>
                  </a:rPr>
                  <a:t>80</a:t>
                </a:r>
                <a:r>
                  <a:rPr lang="zh-CN" altLang="zh-CN" sz="1200" kern="1200" dirty="0">
                    <a:solidFill>
                      <a:schemeClr val="tx1"/>
                    </a:solidFill>
                    <a:effectLst/>
                    <a:latin typeface="+mn-lt"/>
                    <a:ea typeface="+mn-ea"/>
                    <a:cs typeface="+mn-cs"/>
                  </a:rPr>
                  <a:t>年代起，许多高效算法被提出</a:t>
                </a:r>
                <a:r>
                  <a:rPr lang="en-US" altLang="zh-CN" sz="1200" kern="1200" dirty="0">
                    <a:solidFill>
                      <a:schemeClr val="tx1"/>
                    </a:solidFill>
                    <a:effectLst/>
                    <a:latin typeface="+mn-lt"/>
                    <a:ea typeface="+mn-ea"/>
                    <a:cs typeface="+mn-cs"/>
                  </a:rPr>
                  <a:t>[27-29]</a:t>
                </a:r>
                <a:r>
                  <a:rPr lang="zh-CN" altLang="zh-CN" sz="1200" kern="1200" dirty="0">
                    <a:solidFill>
                      <a:schemeClr val="tx1"/>
                    </a:solidFill>
                    <a:effectLst/>
                    <a:latin typeface="+mn-lt"/>
                    <a:ea typeface="+mn-ea"/>
                    <a:cs typeface="+mn-cs"/>
                  </a:rPr>
                  <a:t>，斯坦纳树的近似比的理论上限不断降低，在精确性上，我们的算法仍有待改进。</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Kou, L., Markowsky, G., &amp; Berman, L. (1981). A fast algorithm for Steiner trees. </a:t>
                </a:r>
                <a:r>
                  <a:rPr lang="en-US" altLang="zh-CN" sz="1200" i="1" kern="1200" dirty="0">
                    <a:solidFill>
                      <a:schemeClr val="tx1"/>
                    </a:solidFill>
                    <a:effectLst/>
                    <a:latin typeface="+mn-lt"/>
                    <a:ea typeface="+mn-ea"/>
                    <a:cs typeface="+mn-cs"/>
                  </a:rPr>
                  <a:t>Acta informatica</a:t>
                </a:r>
                <a:r>
                  <a:rPr lang="en-US" altLang="zh-CN" sz="1200"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15</a:t>
                </a:r>
                <a:r>
                  <a:rPr lang="en-US" altLang="zh-CN" sz="1200" kern="1200" dirty="0">
                    <a:solidFill>
                      <a:schemeClr val="tx1"/>
                    </a:solidFill>
                    <a:effectLst/>
                    <a:latin typeface="+mn-lt"/>
                    <a:ea typeface="+mn-ea"/>
                    <a:cs typeface="+mn-cs"/>
                  </a:rPr>
                  <a:t>(2), 141-145.</a:t>
                </a:r>
                <a:endParaRPr lang="zh-CN" altLang="zh-CN" sz="1200" kern="1200" dirty="0">
                  <a:solidFill>
                    <a:schemeClr val="tx1"/>
                  </a:solidFill>
                  <a:effectLst/>
                  <a:latin typeface="+mn-lt"/>
                  <a:ea typeface="+mn-ea"/>
                  <a:cs typeface="+mn-cs"/>
                </a:endParaRPr>
              </a:p>
              <a:p>
                <a:endParaRPr lang="zh-CN" altLang="en-US" dirty="0"/>
              </a:p>
            </p:txBody>
          </p:sp>
        </mc:Choice>
        <mc:Fallback xmlns="">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关于斯坦纳树问题</a:t>
                </a:r>
                <a:r>
                  <a:rPr lang="zh-CN" altLang="zh-CN" sz="1200" kern="1200" dirty="0">
                    <a:solidFill>
                      <a:schemeClr val="tx1"/>
                    </a:solidFill>
                    <a:effectLst/>
                    <a:latin typeface="+mn-lt"/>
                    <a:ea typeface="+mn-ea"/>
                    <a:cs typeface="+mn-cs"/>
                  </a:rPr>
                  <a:t>。我们在</a:t>
                </a:r>
                <a:r>
                  <a:rPr lang="en-US" altLang="zh-CN" sz="1200" kern="1200" dirty="0">
                    <a:solidFill>
                      <a:schemeClr val="tx1"/>
                    </a:solidFill>
                    <a:effectLst/>
                    <a:latin typeface="+mn-lt"/>
                    <a:ea typeface="+mn-ea"/>
                    <a:cs typeface="+mn-cs"/>
                  </a:rPr>
                  <a:t>2.5</a:t>
                </a:r>
                <a:r>
                  <a:rPr lang="zh-CN" altLang="zh-CN" sz="1200" kern="1200" dirty="0">
                    <a:solidFill>
                      <a:schemeClr val="tx1"/>
                    </a:solidFill>
                    <a:effectLst/>
                    <a:latin typeface="+mn-lt"/>
                    <a:ea typeface="+mn-ea"/>
                    <a:cs typeface="+mn-cs"/>
                  </a:rPr>
                  <a:t>节将攻击链路重构建模为斯坦纳树问题受到了</a:t>
                </a:r>
                <a:r>
                  <a:rPr lang="en-US" altLang="zh-CN" sz="1200" kern="1200" dirty="0" err="1">
                    <a:solidFill>
                      <a:schemeClr val="tx1"/>
                    </a:solidFill>
                    <a:effectLst/>
                    <a:latin typeface="+mn-lt"/>
                    <a:ea typeface="+mn-ea"/>
                    <a:cs typeface="+mn-cs"/>
                  </a:rPr>
                  <a:t>Nodlink</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的出色应用效果的启发。</a:t>
                </a:r>
                <a:r>
                  <a:rPr lang="en-US" altLang="zh-CN" sz="1200" kern="1200" dirty="0" err="1">
                    <a:solidFill>
                      <a:schemeClr val="tx1"/>
                    </a:solidFill>
                    <a:effectLst/>
                    <a:latin typeface="+mn-lt"/>
                    <a:ea typeface="+mn-ea"/>
                    <a:cs typeface="+mn-cs"/>
                  </a:rPr>
                  <a:t>Nodlink</a:t>
                </a:r>
                <a:r>
                  <a:rPr lang="zh-CN" altLang="zh-CN" sz="1200" kern="1200" dirty="0">
                    <a:solidFill>
                      <a:schemeClr val="tx1"/>
                    </a:solidFill>
                    <a:effectLst/>
                    <a:latin typeface="+mn-lt"/>
                    <a:ea typeface="+mn-ea"/>
                    <a:cs typeface="+mn-cs"/>
                  </a:rPr>
                  <a:t>由于是实时模型，采用的建模是动态斯坦纳树问题</a:t>
                </a:r>
                <a:r>
                  <a:rPr lang="en-US" altLang="zh-CN" sz="1200" kern="1200" dirty="0">
                    <a:solidFill>
                      <a:schemeClr val="tx1"/>
                    </a:solidFill>
                    <a:effectLst/>
                    <a:latin typeface="+mn-lt"/>
                    <a:ea typeface="+mn-ea"/>
                    <a:cs typeface="+mn-cs"/>
                  </a:rPr>
                  <a:t>[25]</a:t>
                </a:r>
                <a:r>
                  <a:rPr lang="zh-CN" altLang="zh-CN" sz="1200" kern="1200" dirty="0">
                    <a:solidFill>
                      <a:schemeClr val="tx1"/>
                    </a:solidFill>
                    <a:effectLst/>
                    <a:latin typeface="+mn-lt"/>
                    <a:ea typeface="+mn-ea"/>
                    <a:cs typeface="+mn-cs"/>
                  </a:rPr>
                  <a:t>；而我们的</a:t>
                </a:r>
                <a:r>
                  <a:rPr lang="en-US" altLang="zh-CN" sz="1200" kern="1200" dirty="0">
                    <a:solidFill>
                      <a:schemeClr val="tx1"/>
                    </a:solidFill>
                    <a:effectLst/>
                    <a:latin typeface="+mn-lt"/>
                    <a:ea typeface="+mn-ea"/>
                    <a:cs typeface="+mn-cs"/>
                  </a:rPr>
                  <a:t>Nexus</a:t>
                </a:r>
                <a:r>
                  <a:rPr lang="zh-CN" altLang="zh-CN" sz="1200" kern="1200" dirty="0">
                    <a:solidFill>
                      <a:schemeClr val="tx1"/>
                    </a:solidFill>
                    <a:effectLst/>
                    <a:latin typeface="+mn-lt"/>
                    <a:ea typeface="+mn-ea"/>
                    <a:cs typeface="+mn-cs"/>
                  </a:rPr>
                  <a:t>专注于离线场景的异常检测和攻击路径重构，故采用的建模是静态的斯坦纳树问题</a:t>
                </a:r>
                <a:r>
                  <a:rPr lang="en-US" altLang="zh-CN" sz="1200" kern="1200" dirty="0">
                    <a:solidFill>
                      <a:schemeClr val="tx1"/>
                    </a:solidFill>
                    <a:effectLst/>
                    <a:latin typeface="+mn-lt"/>
                    <a:ea typeface="+mn-ea"/>
                    <a:cs typeface="+mn-cs"/>
                  </a:rPr>
                  <a:t>[20]</a:t>
                </a:r>
                <a:r>
                  <a:rPr lang="zh-CN" altLang="zh-CN" sz="1200" kern="1200" dirty="0">
                    <a:solidFill>
                      <a:schemeClr val="tx1"/>
                    </a:solidFill>
                    <a:effectLst/>
                    <a:latin typeface="+mn-lt"/>
                    <a:ea typeface="+mn-ea"/>
                    <a:cs typeface="+mn-cs"/>
                  </a:rPr>
                  <a:t>。二者的决策问题都是</a:t>
                </a:r>
                <a:r>
                  <a:rPr lang="en-US" altLang="zh-CN" sz="1200" kern="1200" dirty="0">
                    <a:solidFill>
                      <a:schemeClr val="tx1"/>
                    </a:solidFill>
                    <a:effectLst/>
                    <a:latin typeface="+mn-lt"/>
                    <a:ea typeface="+mn-ea"/>
                    <a:cs typeface="+mn-cs"/>
                  </a:rPr>
                  <a:t>NP</a:t>
                </a:r>
                <a:r>
                  <a:rPr lang="zh-CN" altLang="zh-CN" sz="1200" kern="1200" dirty="0">
                    <a:solidFill>
                      <a:schemeClr val="tx1"/>
                    </a:solidFill>
                    <a:effectLst/>
                    <a:latin typeface="+mn-lt"/>
                    <a:ea typeface="+mn-ea"/>
                    <a:cs typeface="+mn-cs"/>
                  </a:rPr>
                  <a:t>完全的，因而优化问题都是</a:t>
                </a:r>
                <a:r>
                  <a:rPr lang="en-US" altLang="zh-CN" sz="1200" kern="1200" dirty="0">
                    <a:solidFill>
                      <a:schemeClr val="tx1"/>
                    </a:solidFill>
                    <a:effectLst/>
                    <a:latin typeface="+mn-lt"/>
                    <a:ea typeface="+mn-ea"/>
                    <a:cs typeface="+mn-cs"/>
                  </a:rPr>
                  <a:t>NP</a:t>
                </a:r>
                <a:r>
                  <a:rPr lang="zh-CN" altLang="zh-CN" sz="1200" kern="1200" dirty="0">
                    <a:solidFill>
                      <a:schemeClr val="tx1"/>
                    </a:solidFill>
                    <a:effectLst/>
                    <a:latin typeface="+mn-lt"/>
                    <a:ea typeface="+mn-ea"/>
                    <a:cs typeface="+mn-cs"/>
                  </a:rPr>
                  <a:t>困难的</a:t>
                </a:r>
                <a:r>
                  <a:rPr lang="en-US" altLang="zh-CN" sz="1200" kern="1200" dirty="0">
                    <a:solidFill>
                      <a:schemeClr val="tx1"/>
                    </a:solidFill>
                    <a:effectLst/>
                    <a:latin typeface="+mn-lt"/>
                    <a:ea typeface="+mn-ea"/>
                    <a:cs typeface="+mn-cs"/>
                  </a:rPr>
                  <a:t>[26]</a:t>
                </a:r>
                <a:r>
                  <a:rPr lang="zh-CN" altLang="zh-CN" sz="1200" kern="1200" dirty="0">
                    <a:solidFill>
                      <a:schemeClr val="tx1"/>
                    </a:solidFill>
                    <a:effectLst/>
                    <a:latin typeface="+mn-lt"/>
                    <a:ea typeface="+mn-ea"/>
                    <a:cs typeface="+mn-cs"/>
                  </a:rPr>
                  <a:t>。我们在</a:t>
                </a:r>
                <a:r>
                  <a:rPr lang="en-US" altLang="zh-CN" sz="1200" kern="1200" dirty="0">
                    <a:solidFill>
                      <a:schemeClr val="tx1"/>
                    </a:solidFill>
                    <a:effectLst/>
                    <a:latin typeface="+mn-lt"/>
                    <a:ea typeface="+mn-ea"/>
                    <a:cs typeface="+mn-cs"/>
                  </a:rPr>
                  <a:t>2.5</a:t>
                </a:r>
                <a:r>
                  <a:rPr lang="zh-CN" altLang="zh-CN" sz="1200" kern="1200" dirty="0">
                    <a:solidFill>
                      <a:schemeClr val="tx1"/>
                    </a:solidFill>
                    <a:effectLst/>
                    <a:latin typeface="+mn-lt"/>
                    <a:ea typeface="+mn-ea"/>
                    <a:cs typeface="+mn-cs"/>
                  </a:rPr>
                  <a:t>节中提到，我们使用多项式时间的</a:t>
                </a:r>
                <a:r>
                  <a:rPr lang="en-US" altLang="zh-CN" sz="1200" kern="1200" dirty="0">
                    <a:solidFill>
                      <a:schemeClr val="tx1"/>
                    </a:solidFill>
                    <a:effectLst/>
                    <a:latin typeface="+mn-lt"/>
                    <a:ea typeface="+mn-ea"/>
                    <a:cs typeface="+mn-cs"/>
                  </a:rPr>
                  <a:t>Kou–Markowsky–Berman</a:t>
                </a:r>
                <a:r>
                  <a:rPr lang="zh-CN" altLang="zh-CN" sz="1200" kern="1200" dirty="0">
                    <a:solidFill>
                      <a:schemeClr val="tx1"/>
                    </a:solidFill>
                    <a:effectLst/>
                    <a:latin typeface="+mn-lt"/>
                    <a:ea typeface="+mn-ea"/>
                    <a:cs typeface="+mn-cs"/>
                  </a:rPr>
                  <a:t>近似算法，而非指数时间的精确算法，这是因为，如表</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所示，我们在</a:t>
                </a:r>
                <a:r>
                  <a:rPr lang="en-US" altLang="zh-CN" sz="1200" kern="1200" dirty="0">
                    <a:solidFill>
                      <a:schemeClr val="tx1"/>
                    </a:solidFill>
                    <a:effectLst/>
                    <a:latin typeface="+mn-lt"/>
                    <a:ea typeface="+mn-ea"/>
                    <a:cs typeface="+mn-cs"/>
                  </a:rPr>
                  <a:t>OPTC</a:t>
                </a:r>
                <a:r>
                  <a:rPr lang="zh-CN" altLang="zh-CN" sz="1200" kern="1200" dirty="0">
                    <a:solidFill>
                      <a:schemeClr val="tx1"/>
                    </a:solidFill>
                    <a:effectLst/>
                    <a:latin typeface="+mn-lt"/>
                    <a:ea typeface="+mn-ea"/>
                    <a:cs typeface="+mn-cs"/>
                  </a:rPr>
                  <a:t>数据集上实验得到的告警节点达到了</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10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级别，接近</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10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，在这种数据规模下，考虑到算法的效率，我们选择牺牲算法的精确性。实验证明，</a:t>
                </a:r>
                <a:r>
                  <a:rPr lang="en-US" altLang="zh-CN" sz="1200" kern="1200" dirty="0">
                    <a:solidFill>
                      <a:schemeClr val="tx1"/>
                    </a:solidFill>
                    <a:effectLst/>
                    <a:latin typeface="+mn-lt"/>
                    <a:ea typeface="+mn-ea"/>
                    <a:cs typeface="+mn-cs"/>
                  </a:rPr>
                  <a:t>Nexus</a:t>
                </a:r>
                <a:r>
                  <a:rPr lang="zh-CN" altLang="zh-CN"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OPTC</a:t>
                </a:r>
                <a:r>
                  <a:rPr lang="zh-CN" altLang="zh-CN" sz="1200" kern="1200" dirty="0">
                    <a:solidFill>
                      <a:schemeClr val="tx1"/>
                    </a:solidFill>
                    <a:effectLst/>
                    <a:latin typeface="+mn-lt"/>
                    <a:ea typeface="+mn-ea"/>
                    <a:cs typeface="+mn-cs"/>
                  </a:rPr>
                  <a:t>数据集上的效果依然非常优秀。</a:t>
                </a:r>
              </a:p>
              <a:p>
                <a:r>
                  <a:rPr lang="zh-CN" altLang="zh-CN" sz="1200" kern="1200" dirty="0">
                    <a:solidFill>
                      <a:schemeClr val="tx1"/>
                    </a:solidFill>
                    <a:effectLst/>
                    <a:latin typeface="+mn-lt"/>
                    <a:ea typeface="+mn-ea"/>
                    <a:cs typeface="+mn-cs"/>
                  </a:rPr>
                  <a:t>另外，在众多近似算法中，</a:t>
                </a:r>
                <a:r>
                  <a:rPr lang="en-US" altLang="zh-CN" sz="1200" kern="1200" dirty="0">
                    <a:solidFill>
                      <a:schemeClr val="tx1"/>
                    </a:solidFill>
                    <a:effectLst/>
                    <a:latin typeface="+mn-lt"/>
                    <a:ea typeface="+mn-ea"/>
                    <a:cs typeface="+mn-cs"/>
                  </a:rPr>
                  <a:t>Kou–Markowsky–Berman</a:t>
                </a:r>
                <a:r>
                  <a:rPr lang="zh-CN" altLang="zh-CN" sz="1200" kern="1200" dirty="0">
                    <a:solidFill>
                      <a:schemeClr val="tx1"/>
                    </a:solidFill>
                    <a:effectLst/>
                    <a:latin typeface="+mn-lt"/>
                    <a:ea typeface="+mn-ea"/>
                    <a:cs typeface="+mn-cs"/>
                  </a:rPr>
                  <a:t>算法并非最优秀的，自上世纪</a:t>
                </a:r>
                <a:r>
                  <a:rPr lang="en-US" altLang="zh-CN" sz="1200" kern="1200" dirty="0">
                    <a:solidFill>
                      <a:schemeClr val="tx1"/>
                    </a:solidFill>
                    <a:effectLst/>
                    <a:latin typeface="+mn-lt"/>
                    <a:ea typeface="+mn-ea"/>
                    <a:cs typeface="+mn-cs"/>
                  </a:rPr>
                  <a:t>80</a:t>
                </a:r>
                <a:r>
                  <a:rPr lang="zh-CN" altLang="zh-CN" sz="1200" kern="1200" dirty="0">
                    <a:solidFill>
                      <a:schemeClr val="tx1"/>
                    </a:solidFill>
                    <a:effectLst/>
                    <a:latin typeface="+mn-lt"/>
                    <a:ea typeface="+mn-ea"/>
                    <a:cs typeface="+mn-cs"/>
                  </a:rPr>
                  <a:t>年代起，许多高效算法被提出</a:t>
                </a:r>
                <a:r>
                  <a:rPr lang="en-US" altLang="zh-CN" sz="1200" kern="1200" dirty="0">
                    <a:solidFill>
                      <a:schemeClr val="tx1"/>
                    </a:solidFill>
                    <a:effectLst/>
                    <a:latin typeface="+mn-lt"/>
                    <a:ea typeface="+mn-ea"/>
                    <a:cs typeface="+mn-cs"/>
                  </a:rPr>
                  <a:t>[27-29]</a:t>
                </a:r>
                <a:r>
                  <a:rPr lang="zh-CN" altLang="zh-CN" sz="1200" kern="1200" dirty="0">
                    <a:solidFill>
                      <a:schemeClr val="tx1"/>
                    </a:solidFill>
                    <a:effectLst/>
                    <a:latin typeface="+mn-lt"/>
                    <a:ea typeface="+mn-ea"/>
                    <a:cs typeface="+mn-cs"/>
                  </a:rPr>
                  <a:t>，斯坦纳树的近似比的理论上限不断降低，在精确性上，我们的算法仍有待改进。</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Kou, L., Markowsky, G., &amp; Berman, L. (1981). A fast algorithm for Steiner trees. </a:t>
                </a:r>
                <a:r>
                  <a:rPr lang="en-US" altLang="zh-CN" sz="1200" i="1" kern="1200" dirty="0">
                    <a:solidFill>
                      <a:schemeClr val="tx1"/>
                    </a:solidFill>
                    <a:effectLst/>
                    <a:latin typeface="+mn-lt"/>
                    <a:ea typeface="+mn-ea"/>
                    <a:cs typeface="+mn-cs"/>
                  </a:rPr>
                  <a:t>Acta informatica</a:t>
                </a:r>
                <a:r>
                  <a:rPr lang="en-US" altLang="zh-CN" sz="1200"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15</a:t>
                </a:r>
                <a:r>
                  <a:rPr lang="en-US" altLang="zh-CN" sz="1200" kern="1200" dirty="0">
                    <a:solidFill>
                      <a:schemeClr val="tx1"/>
                    </a:solidFill>
                    <a:effectLst/>
                    <a:latin typeface="+mn-lt"/>
                    <a:ea typeface="+mn-ea"/>
                    <a:cs typeface="+mn-cs"/>
                  </a:rPr>
                  <a:t>(2), 141-145.</a:t>
                </a:r>
                <a:endParaRPr lang="zh-CN" altLang="zh-CN" sz="1200" kern="1200" dirty="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5"/>
          </p:nvPr>
        </p:nvSpPr>
        <p:spPr/>
        <p:txBody>
          <a:bodyPr/>
          <a:lstStyle/>
          <a:p>
            <a:fld id="{E3CFC841-E2E1-4802-8701-94EA307E94B0}" type="slidenum">
              <a:rPr lang="zh-CN" altLang="en-US" smtClean="0"/>
              <a:t>25</a:t>
            </a:fld>
            <a:endParaRPr lang="zh-CN" altLang="en-US"/>
          </a:p>
        </p:txBody>
      </p:sp>
    </p:spTree>
    <p:extLst>
      <p:ext uri="{BB962C8B-B14F-4D97-AF65-F5344CB8AC3E}">
        <p14:creationId xmlns:p14="http://schemas.microsoft.com/office/powerpoint/2010/main" val="29160636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时间开销</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2.3.2</a:t>
            </a:r>
            <a:r>
              <a:rPr lang="zh-CN" altLang="zh-CN" sz="1200" kern="1200" dirty="0">
                <a:solidFill>
                  <a:schemeClr val="tx1"/>
                </a:solidFill>
                <a:effectLst/>
                <a:latin typeface="+mn-lt"/>
                <a:ea typeface="+mn-ea"/>
                <a:cs typeface="+mn-cs"/>
              </a:rPr>
              <a:t>节提到在网络日志异常检测模块中我们预训练了</a:t>
            </a:r>
            <a:r>
              <a:rPr lang="en-US" altLang="zh-CN" sz="1200" kern="1200" dirty="0" err="1">
                <a:solidFill>
                  <a:schemeClr val="tx1"/>
                </a:solidFill>
                <a:effectLst/>
                <a:latin typeface="+mn-lt"/>
                <a:ea typeface="+mn-ea"/>
                <a:cs typeface="+mn-cs"/>
              </a:rPr>
              <a:t>FastText</a:t>
            </a:r>
            <a:r>
              <a:rPr lang="zh-CN" altLang="zh-CN" sz="1200" kern="1200" dirty="0">
                <a:solidFill>
                  <a:schemeClr val="tx1"/>
                </a:solidFill>
                <a:effectLst/>
                <a:latin typeface="+mn-lt"/>
                <a:ea typeface="+mn-ea"/>
                <a:cs typeface="+mn-cs"/>
              </a:rPr>
              <a:t>模型来进行原始日志的语义解析，将其处理为</a:t>
            </a:r>
            <a:r>
              <a:rPr lang="en-US" altLang="zh-CN" sz="1200" kern="1200" dirty="0">
                <a:solidFill>
                  <a:schemeClr val="tx1"/>
                </a:solidFill>
                <a:effectLst/>
                <a:latin typeface="+mn-lt"/>
                <a:ea typeface="+mn-ea"/>
                <a:cs typeface="+mn-cs"/>
              </a:rPr>
              <a:t>64</a:t>
            </a:r>
            <a:r>
              <a:rPr lang="zh-CN" altLang="zh-CN" sz="1200" kern="1200" dirty="0">
                <a:solidFill>
                  <a:schemeClr val="tx1"/>
                </a:solidFill>
                <a:effectLst/>
                <a:latin typeface="+mn-lt"/>
                <a:ea typeface="+mn-ea"/>
                <a:cs typeface="+mn-cs"/>
              </a:rPr>
              <a:t>维嵌入向量。然而，</a:t>
            </a:r>
            <a:r>
              <a:rPr lang="en-US" altLang="zh-CN" sz="1200" kern="1200" dirty="0" err="1">
                <a:solidFill>
                  <a:schemeClr val="tx1"/>
                </a:solidFill>
                <a:effectLst/>
                <a:latin typeface="+mn-lt"/>
                <a:ea typeface="+mn-ea"/>
                <a:cs typeface="+mn-cs"/>
              </a:rPr>
              <a:t>FastText</a:t>
            </a:r>
            <a:r>
              <a:rPr lang="zh-CN" altLang="zh-CN" sz="1200" kern="1200" dirty="0">
                <a:solidFill>
                  <a:schemeClr val="tx1"/>
                </a:solidFill>
                <a:effectLst/>
                <a:latin typeface="+mn-lt"/>
                <a:ea typeface="+mn-ea"/>
                <a:cs typeface="+mn-cs"/>
              </a:rPr>
              <a:t>作为使用</a:t>
            </a:r>
            <a:r>
              <a:rPr lang="en-US" altLang="zh-CN" sz="1200" kern="1200" dirty="0">
                <a:solidFill>
                  <a:schemeClr val="tx1"/>
                </a:solidFill>
                <a:effectLst/>
                <a:latin typeface="+mn-lt"/>
                <a:ea typeface="+mn-ea"/>
                <a:cs typeface="+mn-cs"/>
              </a:rPr>
              <a:t>CPU</a:t>
            </a:r>
            <a:r>
              <a:rPr lang="zh-CN" altLang="zh-CN" sz="1200" kern="1200" dirty="0">
                <a:solidFill>
                  <a:schemeClr val="tx1"/>
                </a:solidFill>
                <a:effectLst/>
                <a:latin typeface="+mn-lt"/>
                <a:ea typeface="+mn-ea"/>
                <a:cs typeface="+mn-cs"/>
              </a:rPr>
              <a:t>进行训练的轻量级模型，尽管相比于同类模型在耗时上已经表现得十分优异，但是在面对海量的网络流量日志数据时，依然有些不尽人意。当使用</a:t>
            </a:r>
            <a:r>
              <a:rPr lang="en-US" altLang="zh-CN" sz="1200" kern="1200" dirty="0">
                <a:solidFill>
                  <a:schemeClr val="tx1"/>
                </a:solidFill>
                <a:effectLst/>
                <a:latin typeface="+mn-lt"/>
                <a:ea typeface="+mn-ea"/>
                <a:cs typeface="+mn-cs"/>
              </a:rPr>
              <a:t>OPTC day23</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0:00-12:00</a:t>
            </a:r>
            <a:r>
              <a:rPr lang="zh-CN" altLang="zh-CN" sz="1200" kern="1200" dirty="0">
                <a:solidFill>
                  <a:schemeClr val="tx1"/>
                </a:solidFill>
                <a:effectLst/>
                <a:latin typeface="+mn-lt"/>
                <a:ea typeface="+mn-ea"/>
                <a:cs typeface="+mn-cs"/>
              </a:rPr>
              <a:t>的流量日志进行训练时，</a:t>
            </a:r>
            <a:r>
              <a:rPr lang="en-US" altLang="zh-CN" sz="1200" kern="1200" dirty="0" err="1">
                <a:solidFill>
                  <a:schemeClr val="tx1"/>
                </a:solidFill>
                <a:effectLst/>
                <a:latin typeface="+mn-lt"/>
                <a:ea typeface="+mn-ea"/>
                <a:cs typeface="+mn-cs"/>
              </a:rPr>
              <a:t>FastText</a:t>
            </a:r>
            <a:r>
              <a:rPr lang="zh-CN" altLang="zh-CN" sz="1200" kern="1200" dirty="0">
                <a:solidFill>
                  <a:schemeClr val="tx1"/>
                </a:solidFill>
                <a:effectLst/>
                <a:latin typeface="+mn-lt"/>
                <a:ea typeface="+mn-ea"/>
                <a:cs typeface="+mn-cs"/>
              </a:rPr>
              <a:t>训练步骤的平均耗费时长大概在</a:t>
            </a:r>
            <a:r>
              <a:rPr lang="en-US" altLang="zh-CN" sz="1200" kern="1200" dirty="0">
                <a:solidFill>
                  <a:schemeClr val="tx1"/>
                </a:solidFill>
                <a:effectLst/>
                <a:latin typeface="+mn-lt"/>
                <a:ea typeface="+mn-ea"/>
                <a:cs typeface="+mn-cs"/>
              </a:rPr>
              <a:t>14</a:t>
            </a:r>
            <a:r>
              <a:rPr lang="zh-CN" altLang="zh-CN" sz="1200" kern="1200" dirty="0">
                <a:solidFill>
                  <a:schemeClr val="tx1"/>
                </a:solidFill>
                <a:effectLst/>
                <a:latin typeface="+mn-lt"/>
                <a:ea typeface="+mn-ea"/>
                <a:cs typeface="+mn-cs"/>
              </a:rPr>
              <a:t>分钟左右，以这样的时间开销来估计，在实践中其作为离线部分的组成，可能要求更低的模型更新频率或者不同训练集的训练的并行进行。</a:t>
            </a:r>
            <a:r>
              <a:rPr lang="en-US" altLang="zh-CN" sz="1200" kern="1200" dirty="0" err="1">
                <a:solidFill>
                  <a:schemeClr val="tx1"/>
                </a:solidFill>
                <a:effectLst/>
                <a:latin typeface="+mn-lt"/>
                <a:ea typeface="+mn-ea"/>
                <a:cs typeface="+mn-cs"/>
              </a:rPr>
              <a:t>FastText</a:t>
            </a:r>
            <a:r>
              <a:rPr lang="zh-CN" altLang="zh-CN" sz="1200" kern="1200" dirty="0">
                <a:solidFill>
                  <a:schemeClr val="tx1"/>
                </a:solidFill>
                <a:effectLst/>
                <a:latin typeface="+mn-lt"/>
                <a:ea typeface="+mn-ea"/>
                <a:cs typeface="+mn-cs"/>
              </a:rPr>
              <a:t>团队在其原始论文中提到：“我们可以在标准多核</a:t>
            </a:r>
            <a:r>
              <a:rPr lang="en-US" altLang="zh-CN" sz="1200" kern="1200" dirty="0">
                <a:solidFill>
                  <a:schemeClr val="tx1"/>
                </a:solidFill>
                <a:effectLst/>
                <a:latin typeface="+mn-lt"/>
                <a:ea typeface="+mn-ea"/>
                <a:cs typeface="+mn-cs"/>
              </a:rPr>
              <a:t>CPU</a:t>
            </a:r>
            <a:r>
              <a:rPr lang="zh-CN" altLang="zh-CN" sz="1200" kern="1200" dirty="0">
                <a:solidFill>
                  <a:schemeClr val="tx1"/>
                </a:solidFill>
                <a:effectLst/>
                <a:latin typeface="+mn-lt"/>
                <a:ea typeface="+mn-ea"/>
                <a:cs typeface="+mn-cs"/>
              </a:rPr>
              <a:t>上用不到十分钟的时间训练超过十亿个单词的</a:t>
            </a:r>
            <a:r>
              <a:rPr lang="en-US" altLang="zh-CN" sz="1200" kern="1200" dirty="0" err="1">
                <a:solidFill>
                  <a:schemeClr val="tx1"/>
                </a:solidFill>
                <a:effectLst/>
                <a:latin typeface="+mn-lt"/>
                <a:ea typeface="+mn-ea"/>
                <a:cs typeface="+mn-cs"/>
              </a:rPr>
              <a:t>FastText</a:t>
            </a:r>
            <a:r>
              <a:rPr lang="zh-CN" altLang="zh-CN" sz="1200" kern="1200" dirty="0">
                <a:solidFill>
                  <a:schemeClr val="tx1"/>
                </a:solidFill>
                <a:effectLst/>
                <a:latin typeface="+mn-lt"/>
                <a:ea typeface="+mn-ea"/>
                <a:cs typeface="+mn-cs"/>
              </a:rPr>
              <a:t>模型，并在不到一分钟内对</a:t>
            </a:r>
            <a:r>
              <a:rPr lang="en-US" altLang="zh-CN" sz="1200" kern="1200" dirty="0">
                <a:solidFill>
                  <a:schemeClr val="tx1"/>
                </a:solidFill>
                <a:effectLst/>
                <a:latin typeface="+mn-lt"/>
                <a:ea typeface="+mn-ea"/>
                <a:cs typeface="+mn-cs"/>
              </a:rPr>
              <a:t>312K</a:t>
            </a:r>
            <a:r>
              <a:rPr lang="zh-CN" altLang="zh-CN" sz="1200" kern="1200" dirty="0">
                <a:solidFill>
                  <a:schemeClr val="tx1"/>
                </a:solidFill>
                <a:effectLst/>
                <a:latin typeface="+mn-lt"/>
                <a:ea typeface="+mn-ea"/>
                <a:cs typeface="+mn-cs"/>
              </a:rPr>
              <a:t>类别中的</a:t>
            </a:r>
            <a:r>
              <a:rPr lang="en-US" altLang="zh-CN" sz="1200" kern="1200" dirty="0">
                <a:solidFill>
                  <a:schemeClr val="tx1"/>
                </a:solidFill>
                <a:effectLst/>
                <a:latin typeface="+mn-lt"/>
                <a:ea typeface="+mn-ea"/>
                <a:cs typeface="+mn-cs"/>
              </a:rPr>
              <a:t>50</a:t>
            </a:r>
            <a:r>
              <a:rPr lang="zh-CN" altLang="zh-CN" sz="1200" kern="1200" dirty="0">
                <a:solidFill>
                  <a:schemeClr val="tx1"/>
                </a:solidFill>
                <a:effectLst/>
                <a:latin typeface="+mn-lt"/>
                <a:ea typeface="+mn-ea"/>
                <a:cs typeface="+mn-cs"/>
              </a:rPr>
              <a:t>万个句子进行分类。”</a:t>
            </a:r>
            <a:r>
              <a:rPr lang="en-US" altLang="zh-CN" sz="1200" kern="1200" dirty="0">
                <a:solidFill>
                  <a:schemeClr val="tx1"/>
                </a:solidFill>
                <a:effectLst/>
                <a:latin typeface="+mn-lt"/>
                <a:ea typeface="+mn-ea"/>
                <a:cs typeface="+mn-cs"/>
              </a:rPr>
              <a:t>[30]</a:t>
            </a:r>
            <a:r>
              <a:rPr lang="zh-CN" altLang="zh-CN" sz="1200" kern="1200" dirty="0">
                <a:solidFill>
                  <a:schemeClr val="tx1"/>
                </a:solidFill>
                <a:effectLst/>
                <a:latin typeface="+mn-lt"/>
                <a:ea typeface="+mn-ea"/>
                <a:cs typeface="+mn-cs"/>
              </a:rPr>
              <a:t>这表明</a:t>
            </a:r>
            <a:r>
              <a:rPr lang="en-US" altLang="zh-CN" sz="1200" kern="1200" dirty="0" err="1">
                <a:solidFill>
                  <a:schemeClr val="tx1"/>
                </a:solidFill>
                <a:effectLst/>
                <a:latin typeface="+mn-lt"/>
                <a:ea typeface="+mn-ea"/>
                <a:cs typeface="+mn-cs"/>
              </a:rPr>
              <a:t>FastText</a:t>
            </a:r>
            <a:r>
              <a:rPr lang="zh-CN" altLang="zh-CN" sz="1200" kern="1200" dirty="0">
                <a:solidFill>
                  <a:schemeClr val="tx1"/>
                </a:solidFill>
                <a:effectLst/>
                <a:latin typeface="+mn-lt"/>
                <a:ea typeface="+mn-ea"/>
                <a:cs typeface="+mn-cs"/>
              </a:rPr>
              <a:t>或许在商用的多核</a:t>
            </a:r>
            <a:r>
              <a:rPr lang="en-US" altLang="zh-CN" sz="1200" kern="1200" dirty="0">
                <a:solidFill>
                  <a:schemeClr val="tx1"/>
                </a:solidFill>
                <a:effectLst/>
                <a:latin typeface="+mn-lt"/>
                <a:ea typeface="+mn-ea"/>
                <a:cs typeface="+mn-cs"/>
              </a:rPr>
              <a:t>CPU</a:t>
            </a:r>
            <a:r>
              <a:rPr lang="zh-CN" altLang="zh-CN" sz="1200" kern="1200" dirty="0">
                <a:solidFill>
                  <a:schemeClr val="tx1"/>
                </a:solidFill>
                <a:effectLst/>
                <a:latin typeface="+mn-lt"/>
                <a:ea typeface="+mn-ea"/>
                <a:cs typeface="+mn-cs"/>
              </a:rPr>
              <a:t>上能够有更好的表现，或许为后续实验优化的可行方向。类似的，</a:t>
            </a:r>
            <a:r>
              <a:rPr lang="en-US" altLang="zh-CN" sz="1200" kern="1200" dirty="0">
                <a:solidFill>
                  <a:schemeClr val="tx1"/>
                </a:solidFill>
                <a:effectLst/>
                <a:latin typeface="+mn-lt"/>
                <a:ea typeface="+mn-ea"/>
                <a:cs typeface="+mn-cs"/>
              </a:rPr>
              <a:t>VAE</a:t>
            </a:r>
            <a:r>
              <a:rPr lang="zh-CN" altLang="zh-CN" sz="1200" kern="1200" dirty="0">
                <a:solidFill>
                  <a:schemeClr val="tx1"/>
                </a:solidFill>
                <a:effectLst/>
                <a:latin typeface="+mn-lt"/>
                <a:ea typeface="+mn-ea"/>
                <a:cs typeface="+mn-cs"/>
              </a:rPr>
              <a:t>模型的训练也有着类似的情况，其在同样的训练集上的训练时长一度达到了</a:t>
            </a:r>
            <a:r>
              <a:rPr lang="en-US" altLang="zh-CN" sz="1200" kern="1200" dirty="0">
                <a:solidFill>
                  <a:schemeClr val="tx1"/>
                </a:solidFill>
                <a:effectLst/>
                <a:latin typeface="+mn-lt"/>
                <a:ea typeface="+mn-ea"/>
                <a:cs typeface="+mn-cs"/>
              </a:rPr>
              <a:t>70</a:t>
            </a:r>
            <a:r>
              <a:rPr lang="zh-CN" altLang="zh-CN" sz="1200" kern="1200" dirty="0">
                <a:solidFill>
                  <a:schemeClr val="tx1"/>
                </a:solidFill>
                <a:effectLst/>
                <a:latin typeface="+mn-lt"/>
                <a:ea typeface="+mn-ea"/>
                <a:cs typeface="+mn-cs"/>
              </a:rPr>
              <a:t>分钟，其耗时之长也值得关注。</a:t>
            </a:r>
          </a:p>
          <a:p>
            <a:r>
              <a:rPr lang="zh-CN" altLang="zh-CN" sz="1200" kern="1200" dirty="0">
                <a:solidFill>
                  <a:schemeClr val="tx1"/>
                </a:solidFill>
                <a:effectLst/>
                <a:latin typeface="+mn-lt"/>
                <a:ea typeface="+mn-ea"/>
                <a:cs typeface="+mn-cs"/>
              </a:rPr>
              <a:t>在实验流程中我们也对减少时间开销做了一些简单的尝试，比如在</a:t>
            </a:r>
            <a:r>
              <a:rPr lang="en-US" altLang="zh-CN" sz="1200" kern="1200" dirty="0">
                <a:solidFill>
                  <a:schemeClr val="tx1"/>
                </a:solidFill>
                <a:effectLst/>
                <a:latin typeface="+mn-lt"/>
                <a:ea typeface="+mn-ea"/>
                <a:cs typeface="+mn-cs"/>
              </a:rPr>
              <a:t>net-detect</a:t>
            </a:r>
            <a:r>
              <a:rPr lang="zh-CN" altLang="zh-CN" sz="1200" kern="1200" dirty="0">
                <a:solidFill>
                  <a:schemeClr val="tx1"/>
                </a:solidFill>
                <a:effectLst/>
                <a:latin typeface="+mn-lt"/>
                <a:ea typeface="+mn-ea"/>
                <a:cs typeface="+mn-cs"/>
              </a:rPr>
              <a:t>模块的预处理阶段抛弃相关短语小于</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的网络节点，因为他们所具有的有效信息量过小，从而起到一个初步筛选有效节点的作用，进而减少后续在</a:t>
            </a:r>
            <a:r>
              <a:rPr lang="en-US" altLang="zh-CN" sz="1200" kern="1200" dirty="0">
                <a:solidFill>
                  <a:schemeClr val="tx1"/>
                </a:solidFill>
                <a:effectLst/>
                <a:latin typeface="+mn-lt"/>
                <a:ea typeface="+mn-ea"/>
                <a:cs typeface="+mn-cs"/>
              </a:rPr>
              <a:t>VAE</a:t>
            </a:r>
            <a:r>
              <a:rPr lang="zh-CN" altLang="zh-CN" sz="1200" kern="1200" dirty="0">
                <a:solidFill>
                  <a:schemeClr val="tx1"/>
                </a:solidFill>
                <a:effectLst/>
                <a:latin typeface="+mn-lt"/>
                <a:ea typeface="+mn-ea"/>
                <a:cs typeface="+mn-cs"/>
              </a:rPr>
              <a:t>模型中参与训练的节点的规模，可以减少一定的时间开销。</a:t>
            </a:r>
          </a:p>
          <a:p>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26</a:t>
            </a:fld>
            <a:endParaRPr lang="zh-CN" altLang="en-US"/>
          </a:p>
        </p:txBody>
      </p:sp>
    </p:spTree>
    <p:extLst>
      <p:ext uri="{BB962C8B-B14F-4D97-AF65-F5344CB8AC3E}">
        <p14:creationId xmlns:p14="http://schemas.microsoft.com/office/powerpoint/2010/main" val="9139239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1" kern="1200" dirty="0">
                <a:solidFill>
                  <a:schemeClr val="tx1"/>
                </a:solidFill>
                <a:effectLst/>
                <a:latin typeface="+mn-lt"/>
                <a:ea typeface="+mn-ea"/>
                <a:cs typeface="+mn-cs"/>
              </a:rPr>
              <a:t>数据集局限性</a:t>
            </a:r>
            <a:r>
              <a:rPr lang="zh-CN" altLang="zh-CN" sz="1200" kern="1200" dirty="0">
                <a:solidFill>
                  <a:schemeClr val="tx1"/>
                </a:solidFill>
                <a:effectLst/>
                <a:latin typeface="+mn-lt"/>
                <a:ea typeface="+mn-ea"/>
                <a:cs typeface="+mn-cs"/>
              </a:rPr>
              <a:t>。在网络安全领域，具有适量文档的优质数据集相对稀缺。实验中我们主要在</a:t>
            </a:r>
            <a:r>
              <a:rPr lang="en-US" altLang="zh-CN" sz="1200" kern="1200" dirty="0">
                <a:solidFill>
                  <a:schemeClr val="tx1"/>
                </a:solidFill>
                <a:effectLst/>
                <a:latin typeface="+mn-lt"/>
                <a:ea typeface="+mn-ea"/>
                <a:cs typeface="+mn-cs"/>
              </a:rPr>
              <a:t>OPTC</a:t>
            </a:r>
            <a:r>
              <a:rPr lang="zh-CN" altLang="zh-CN" sz="1200" kern="1200" dirty="0">
                <a:solidFill>
                  <a:schemeClr val="tx1"/>
                </a:solidFill>
                <a:effectLst/>
                <a:latin typeface="+mn-lt"/>
                <a:ea typeface="+mn-ea"/>
                <a:cs typeface="+mn-cs"/>
              </a:rPr>
              <a:t>单个数据集中采样处理作为我们的训练与测试数据，其对网络流量与主机级时间的详细记录使得其的确具有一定代表性。然而有关该数据集的讨论也指出，</a:t>
            </a:r>
            <a:r>
              <a:rPr lang="en-US" altLang="zh-CN" sz="1200" kern="1200" dirty="0">
                <a:solidFill>
                  <a:schemeClr val="tx1"/>
                </a:solidFill>
                <a:effectLst/>
                <a:latin typeface="+mn-lt"/>
                <a:ea typeface="+mn-ea"/>
                <a:cs typeface="+mn-cs"/>
              </a:rPr>
              <a:t>OPTC</a:t>
            </a:r>
            <a:r>
              <a:rPr lang="zh-CN" altLang="zh-CN" sz="1200" kern="1200" dirty="0">
                <a:solidFill>
                  <a:schemeClr val="tx1"/>
                </a:solidFill>
                <a:effectLst/>
                <a:latin typeface="+mn-lt"/>
                <a:ea typeface="+mn-ea"/>
                <a:cs typeface="+mn-cs"/>
              </a:rPr>
              <a:t>数据集中恶意事件和良性事件在分布上存在一定不平衡特征，比如</a:t>
            </a:r>
            <a:r>
              <a:rPr lang="en-US" altLang="zh-CN" sz="1200" kern="1200" dirty="0">
                <a:solidFill>
                  <a:schemeClr val="tx1"/>
                </a:solidFill>
                <a:effectLst/>
                <a:latin typeface="+mn-lt"/>
                <a:ea typeface="+mn-ea"/>
                <a:cs typeface="+mn-cs"/>
              </a:rPr>
              <a:t>SHELL-COMMAND</a:t>
            </a:r>
            <a:r>
              <a:rPr lang="zh-CN" altLang="zh-CN" sz="1200" kern="1200" dirty="0">
                <a:solidFill>
                  <a:schemeClr val="tx1"/>
                </a:solidFill>
                <a:effectLst/>
                <a:latin typeface="+mn-lt"/>
                <a:ea typeface="+mn-ea"/>
                <a:cs typeface="+mn-cs"/>
              </a:rPr>
              <a:t>在恶意事件中占有相当大的百分比，而其在良性事件中的占比几乎可以忽略不计，当然这也是网络安全领域的数据集普遍存在的一个问题。从另一个角度看，该数据集虽然包含大量网络事件，但其生成是基于网络攻防战风格的试验性攻击测试，其在真实世界代表性方面仍需要进一步验证。</a:t>
            </a:r>
            <a:r>
              <a:rPr lang="en-US" altLang="zh-CN" sz="1200" kern="1200" dirty="0">
                <a:solidFill>
                  <a:schemeClr val="tx1"/>
                </a:solidFill>
                <a:effectLst/>
                <a:latin typeface="+mn-lt"/>
                <a:ea typeface="+mn-ea"/>
                <a:cs typeface="+mn-cs"/>
              </a:rPr>
              <a:t>[31]</a:t>
            </a: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Md. </a:t>
            </a:r>
            <a:r>
              <a:rPr lang="en-US" altLang="zh-CN" sz="1200" kern="1200" dirty="0" err="1">
                <a:solidFill>
                  <a:schemeClr val="tx1"/>
                </a:solidFill>
                <a:effectLst/>
                <a:latin typeface="+mn-lt"/>
                <a:ea typeface="+mn-ea"/>
                <a:cs typeface="+mn-cs"/>
              </a:rPr>
              <a:t>Monowar</a:t>
            </a:r>
            <a:r>
              <a:rPr lang="en-US" altLang="zh-CN" sz="1200" kern="1200" dirty="0">
                <a:solidFill>
                  <a:schemeClr val="tx1"/>
                </a:solidFill>
                <a:effectLst/>
                <a:latin typeface="+mn-lt"/>
                <a:ea typeface="+mn-ea"/>
                <a:cs typeface="+mn-cs"/>
              </a:rPr>
              <a:t> Anjum, </a:t>
            </a:r>
            <a:r>
              <a:rPr lang="en-US" altLang="zh-CN" sz="1200" kern="1200" dirty="0" err="1">
                <a:solidFill>
                  <a:schemeClr val="tx1"/>
                </a:solidFill>
                <a:effectLst/>
                <a:latin typeface="+mn-lt"/>
                <a:ea typeface="+mn-ea"/>
                <a:cs typeface="+mn-cs"/>
              </a:rPr>
              <a:t>Shahrear</a:t>
            </a:r>
            <a:r>
              <a:rPr lang="en-US" altLang="zh-CN" sz="1200" kern="1200" dirty="0">
                <a:solidFill>
                  <a:schemeClr val="tx1"/>
                </a:solidFill>
                <a:effectLst/>
                <a:latin typeface="+mn-lt"/>
                <a:ea typeface="+mn-ea"/>
                <a:cs typeface="+mn-cs"/>
              </a:rPr>
              <a:t> Iqbal, Analyzing the Usefulness of the DARPA </a:t>
            </a:r>
            <a:r>
              <a:rPr lang="en-US" altLang="zh-CN" sz="1200" kern="1200" dirty="0" err="1">
                <a:solidFill>
                  <a:schemeClr val="tx1"/>
                </a:solidFill>
                <a:effectLst/>
                <a:latin typeface="+mn-lt"/>
                <a:ea typeface="+mn-ea"/>
                <a:cs typeface="+mn-cs"/>
              </a:rPr>
              <a:t>OpTC</a:t>
            </a:r>
            <a:r>
              <a:rPr lang="en-US" altLang="zh-CN" sz="1200" kern="1200" dirty="0">
                <a:solidFill>
                  <a:schemeClr val="tx1"/>
                </a:solidFill>
                <a:effectLst/>
                <a:latin typeface="+mn-lt"/>
                <a:ea typeface="+mn-ea"/>
                <a:cs typeface="+mn-cs"/>
              </a:rPr>
              <a:t> Dataset in Cyber Threat Detection, </a:t>
            </a:r>
            <a:r>
              <a:rPr lang="en-US" altLang="zh-CN" sz="1200" kern="1200" dirty="0" err="1">
                <a:solidFill>
                  <a:schemeClr val="tx1"/>
                </a:solidFill>
                <a:effectLst/>
                <a:latin typeface="+mn-lt"/>
                <a:ea typeface="+mn-ea"/>
                <a:cs typeface="+mn-cs"/>
              </a:rPr>
              <a:t>arXiv</a:t>
            </a:r>
            <a:r>
              <a:rPr lang="en-US" altLang="zh-CN" sz="1200" kern="1200" dirty="0">
                <a:solidFill>
                  <a:schemeClr val="tx1"/>
                </a:solidFill>
                <a:effectLst/>
                <a:latin typeface="+mn-lt"/>
                <a:ea typeface="+mn-ea"/>
                <a:cs typeface="+mn-cs"/>
              </a:rPr>
              <a:t> preprint, 2021, arXiv:2103.03080v2</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27</a:t>
            </a:fld>
            <a:endParaRPr lang="zh-CN" altLang="en-US"/>
          </a:p>
        </p:txBody>
      </p:sp>
    </p:spTree>
    <p:extLst>
      <p:ext uri="{BB962C8B-B14F-4D97-AF65-F5344CB8AC3E}">
        <p14:creationId xmlns:p14="http://schemas.microsoft.com/office/powerpoint/2010/main" val="9909068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在本项目中，我们对多种基于不同类型日志的入侵检测系统进行了调研，同时也考察了多种相关的数据集，并进行了复现结果的尝试。在实际实验中，我们验证了我们的多点告警关联系统在</a:t>
            </a:r>
            <a:r>
              <a:rPr lang="en-US" altLang="zh-CN" sz="1200" kern="1200" dirty="0">
                <a:solidFill>
                  <a:schemeClr val="tx1"/>
                </a:solidFill>
                <a:effectLst/>
                <a:latin typeface="+mn-lt"/>
                <a:ea typeface="+mn-ea"/>
                <a:cs typeface="+mn-cs"/>
              </a:rPr>
              <a:t>OPTC</a:t>
            </a:r>
            <a:r>
              <a:rPr lang="zh-CN" altLang="zh-CN" sz="1200" kern="1200" dirty="0">
                <a:solidFill>
                  <a:schemeClr val="tx1"/>
                </a:solidFill>
                <a:effectLst/>
                <a:latin typeface="+mn-lt"/>
                <a:ea typeface="+mn-ea"/>
                <a:cs typeface="+mn-cs"/>
              </a:rPr>
              <a:t>数据集上的优异表现，也从中得到了关于未来多源入侵检测设计的启示与思考</a:t>
            </a:r>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29</a:t>
            </a:fld>
            <a:endParaRPr lang="zh-CN" altLang="en-US"/>
          </a:p>
        </p:txBody>
      </p:sp>
    </p:spTree>
    <p:extLst>
      <p:ext uri="{BB962C8B-B14F-4D97-AF65-F5344CB8AC3E}">
        <p14:creationId xmlns:p14="http://schemas.microsoft.com/office/powerpoint/2010/main" val="22996127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bg>
      <p:bgPr>
        <a:solidFill>
          <a:schemeClr val="accent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4149566"/>
            <a:ext cx="10515600" cy="899510"/>
          </a:xfrm>
          <a:prstGeom prst="rect">
            <a:avLst/>
          </a:prstGeom>
        </p:spPr>
        <p:txBody>
          <a:bodyPr anchor="ctr">
            <a:noAutofit/>
          </a:bodyPr>
          <a:lstStyle>
            <a:lvl1pPr algn="ctr">
              <a:defRPr sz="4800" b="1">
                <a:solidFill>
                  <a:schemeClr val="bg1"/>
                </a:solidFill>
                <a:latin typeface="+mj-ea"/>
                <a:ea typeface="+mj-ea"/>
              </a:defRPr>
            </a:lvl1pPr>
          </a:lstStyle>
          <a:p>
            <a:r>
              <a:rPr lang="zh-CN" altLang="en-US"/>
              <a:t>单击此处编辑母版标题样式</a:t>
            </a:r>
            <a:endParaRPr lang="zh-CN" altLang="en-US" dirty="0"/>
          </a:p>
        </p:txBody>
      </p:sp>
      <p:sp>
        <p:nvSpPr>
          <p:cNvPr id="6" name="副标题 2"/>
          <p:cNvSpPr>
            <a:spLocks noGrp="1"/>
          </p:cNvSpPr>
          <p:nvPr>
            <p:ph type="subTitle" idx="1"/>
          </p:nvPr>
        </p:nvSpPr>
        <p:spPr>
          <a:xfrm>
            <a:off x="838200" y="5114030"/>
            <a:ext cx="10515600" cy="604299"/>
          </a:xfrm>
        </p:spPr>
        <p:txBody>
          <a:bodyPr anchor="ctr">
            <a:noAutofit/>
          </a:bodyPr>
          <a:lstStyle>
            <a:lvl1pPr algn="ctr">
              <a:defRPr lang="zh-CN" altLang="en-US" sz="2400" b="0">
                <a:solidFill>
                  <a:schemeClr val="bg1"/>
                </a:solidFill>
                <a:latin typeface="+mn-ea"/>
                <a:cs typeface="+mj-cs"/>
              </a:defRPr>
            </a:lvl1pPr>
          </a:lstStyle>
          <a:p>
            <a:pPr lvl="0" algn="ctr">
              <a:lnSpc>
                <a:spcPct val="90000"/>
              </a:lnSpc>
              <a:spcBef>
                <a:spcPct val="0"/>
              </a:spcBef>
              <a:buNone/>
            </a:pPr>
            <a:r>
              <a:rPr lang="zh-CN" altLang="en-US"/>
              <a:t>单击此处编辑母版副标题样式</a:t>
            </a:r>
          </a:p>
        </p:txBody>
      </p:sp>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9" name="直接连接符 8"/>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图片 7">
            <a:extLst>
              <a:ext uri="{FF2B5EF4-FFF2-40B4-BE49-F238E27FC236}">
                <a16:creationId xmlns:a16="http://schemas.microsoft.com/office/drawing/2014/main" id="{D2DB5976-5F79-41F1-9EF0-EF036EBBF02C}"/>
              </a:ext>
            </a:extLst>
          </p:cNvPr>
          <p:cNvPicPr>
            <a:picLocks/>
          </p:cNvPicPr>
          <p:nvPr userDrawn="1"/>
        </p:nvPicPr>
        <p:blipFill>
          <a:blip r:embed="rId3" cstate="print">
            <a:extLst>
              <a:ext uri="{28A0092B-C50C-407E-A947-70E740481C1C}">
                <a14:useLocalDpi xmlns:a14="http://schemas.microsoft.com/office/drawing/2010/main" val="0"/>
              </a:ext>
            </a:extLst>
          </a:blip>
          <a:stretch>
            <a:fillRect/>
          </a:stretch>
        </p:blipFill>
        <p:spPr>
          <a:xfrm>
            <a:off x="9356006" y="6034568"/>
            <a:ext cx="2458800" cy="650876"/>
          </a:xfrm>
          <a:prstGeom prst="rect">
            <a:avLst/>
          </a:prstGeom>
        </p:spPr>
      </p:pic>
    </p:spTree>
    <p:extLst>
      <p:ext uri="{BB962C8B-B14F-4D97-AF65-F5344CB8AC3E}">
        <p14:creationId xmlns:p14="http://schemas.microsoft.com/office/powerpoint/2010/main" val="1380489643"/>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2160" userDrawn="1">
          <p15:clr>
            <a:srgbClr val="FBAE40"/>
          </p15:clr>
        </p15:guide>
        <p15:guide id="4"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内页">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58701" y="1685678"/>
            <a:ext cx="11162884" cy="4921498"/>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5" name="标题 4"/>
          <p:cNvSpPr>
            <a:spLocks noGrp="1"/>
          </p:cNvSpPr>
          <p:nvPr>
            <p:ph type="title"/>
          </p:nvPr>
        </p:nvSpPr>
        <p:spPr>
          <a:xfrm>
            <a:off x="658699" y="974278"/>
            <a:ext cx="11162884" cy="574183"/>
          </a:xfrm>
          <a:prstGeom prst="rect">
            <a:avLst/>
          </a:prstGeom>
        </p:spPr>
        <p:txBody>
          <a:bodyPr/>
          <a:lstStyle>
            <a:lvl1pPr>
              <a:defRPr sz="3200" b="1">
                <a:solidFill>
                  <a:schemeClr val="accent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4905017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内页-有页码">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58701" y="1685678"/>
            <a:ext cx="11162884" cy="4921498"/>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5" name="标题 4"/>
          <p:cNvSpPr>
            <a:spLocks noGrp="1"/>
          </p:cNvSpPr>
          <p:nvPr>
            <p:ph type="title"/>
          </p:nvPr>
        </p:nvSpPr>
        <p:spPr>
          <a:xfrm>
            <a:off x="658701" y="975600"/>
            <a:ext cx="11162884" cy="576000"/>
          </a:xfrm>
          <a:prstGeom prst="rect">
            <a:avLst/>
          </a:prstGeom>
        </p:spPr>
        <p:txBody>
          <a:bodyPr/>
          <a:lstStyle>
            <a:lvl1pPr>
              <a:defRPr sz="3200" b="1">
                <a:solidFill>
                  <a:schemeClr val="accent1"/>
                </a:solidFill>
              </a:defRPr>
            </a:lvl1pPr>
          </a:lstStyle>
          <a:p>
            <a:r>
              <a:rPr lang="zh-CN" altLang="en-US"/>
              <a:t>单击此处编辑母版标题样式</a:t>
            </a:r>
          </a:p>
        </p:txBody>
      </p:sp>
      <p:sp>
        <p:nvSpPr>
          <p:cNvPr id="10" name="灯片编号占位符 5"/>
          <p:cNvSpPr txBox="1">
            <a:spLocks/>
          </p:cNvSpPr>
          <p:nvPr/>
        </p:nvSpPr>
        <p:spPr>
          <a:xfrm>
            <a:off x="11596801" y="311755"/>
            <a:ext cx="365165" cy="276999"/>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z="1200" smtClean="0"/>
              <a:pPr lvl="0"/>
              <a:t>‹#›</a:t>
            </a:fld>
            <a:endParaRPr lang="zh-CN" altLang="en-US" sz="1200" dirty="0"/>
          </a:p>
        </p:txBody>
      </p:sp>
      <p:sp>
        <p:nvSpPr>
          <p:cNvPr id="9" name="文本框 8"/>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5974537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内页-极简">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58701" y="1685678"/>
            <a:ext cx="11162884" cy="4921498"/>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5" name="标题 4"/>
          <p:cNvSpPr>
            <a:spLocks noGrp="1"/>
          </p:cNvSpPr>
          <p:nvPr>
            <p:ph type="title"/>
          </p:nvPr>
        </p:nvSpPr>
        <p:spPr>
          <a:xfrm>
            <a:off x="658699" y="974278"/>
            <a:ext cx="11162884" cy="574183"/>
          </a:xfrm>
          <a:prstGeom prst="rect">
            <a:avLst/>
          </a:prstGeom>
        </p:spPr>
        <p:txBody>
          <a:bodyPr/>
          <a:lstStyle>
            <a:lvl1pPr>
              <a:defRPr sz="3200" b="1">
                <a:solidFill>
                  <a:schemeClr val="accent1"/>
                </a:solidFill>
              </a:defRPr>
            </a:lvl1pPr>
          </a:lstStyle>
          <a:p>
            <a:r>
              <a:rPr lang="zh-CN" altLang="en-US"/>
              <a:t>单击此处编辑母版标题样式</a:t>
            </a:r>
            <a:endParaRPr lang="zh-CN" altLang="en-US" dirty="0"/>
          </a:p>
        </p:txBody>
      </p:sp>
      <p:sp>
        <p:nvSpPr>
          <p:cNvPr id="9" name="矩形 8"/>
          <p:cNvSpPr/>
          <p:nvPr/>
        </p:nvSpPr>
        <p:spPr>
          <a:xfrm>
            <a:off x="0" y="2"/>
            <a:ext cx="12192000" cy="6688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0" name="矩形 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1" name="矩形 10"/>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3" name="图片 12">
            <a:extLst>
              <a:ext uri="{FF2B5EF4-FFF2-40B4-BE49-F238E27FC236}">
                <a16:creationId xmlns:a16="http://schemas.microsoft.com/office/drawing/2014/main" id="{1AEE4564-8414-4FEE-ABEB-35584A5AB39F}"/>
              </a:ext>
            </a:extLst>
          </p:cNvPr>
          <p:cNvPicPr>
            <a:picLocks/>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26039" y="134326"/>
            <a:ext cx="460800" cy="460086"/>
          </a:xfrm>
          <a:prstGeom prst="rect">
            <a:avLst/>
          </a:prstGeom>
        </p:spPr>
      </p:pic>
    </p:spTree>
    <p:extLst>
      <p:ext uri="{BB962C8B-B14F-4D97-AF65-F5344CB8AC3E}">
        <p14:creationId xmlns:p14="http://schemas.microsoft.com/office/powerpoint/2010/main" val="5272837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内页-极简-有页码">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58701" y="1685678"/>
            <a:ext cx="11162884" cy="4921498"/>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5" name="标题 4"/>
          <p:cNvSpPr>
            <a:spLocks noGrp="1"/>
          </p:cNvSpPr>
          <p:nvPr>
            <p:ph type="title"/>
          </p:nvPr>
        </p:nvSpPr>
        <p:spPr>
          <a:xfrm>
            <a:off x="658699" y="974278"/>
            <a:ext cx="11162884" cy="574183"/>
          </a:xfrm>
          <a:prstGeom prst="rect">
            <a:avLst/>
          </a:prstGeom>
        </p:spPr>
        <p:txBody>
          <a:bodyPr/>
          <a:lstStyle>
            <a:lvl1pPr>
              <a:defRPr sz="3200" b="1">
                <a:solidFill>
                  <a:schemeClr val="accent1"/>
                </a:solidFill>
              </a:defRPr>
            </a:lvl1pPr>
          </a:lstStyle>
          <a:p>
            <a:r>
              <a:rPr lang="zh-CN" altLang="en-US"/>
              <a:t>单击此处编辑母版标题样式</a:t>
            </a:r>
            <a:endParaRPr lang="zh-CN" altLang="en-US" dirty="0"/>
          </a:p>
        </p:txBody>
      </p:sp>
      <p:sp>
        <p:nvSpPr>
          <p:cNvPr id="9" name="矩形 8"/>
          <p:cNvSpPr/>
          <p:nvPr/>
        </p:nvSpPr>
        <p:spPr>
          <a:xfrm>
            <a:off x="0" y="2"/>
            <a:ext cx="12192000" cy="6688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0" name="矩形 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7" name="灯片编号占位符 8"/>
          <p:cNvSpPr>
            <a:spLocks noGrp="1"/>
          </p:cNvSpPr>
          <p:nvPr>
            <p:ph type="sldNum" sz="quarter" idx="12"/>
          </p:nvPr>
        </p:nvSpPr>
        <p:spPr>
          <a:xfrm>
            <a:off x="11596801" y="313201"/>
            <a:ext cx="365165" cy="276999"/>
          </a:xfrm>
          <a:prstGeom prst="rect">
            <a:avLst/>
          </a:prstGeom>
          <a:noFill/>
        </p:spPr>
        <p:txBody>
          <a:bodyPr wrap="none" rtlCol="0">
            <a:spAutoFit/>
          </a:bodyPr>
          <a:lstStyle>
            <a:lvl1pPr>
              <a:defRPr lang="zh-CN" altLang="en-US" sz="1200" spc="-60" baseline="0" smtClean="0">
                <a:solidFill>
                  <a:schemeClr val="bg1"/>
                </a:solidFill>
                <a:latin typeface="微软雅黑" panose="020B0503020204020204" pitchFamily="34" charset="-122"/>
                <a:ea typeface="微软雅黑" panose="020B0503020204020204" pitchFamily="34" charset="-122"/>
              </a:defRPr>
            </a:lvl1pPr>
          </a:lstStyle>
          <a:p>
            <a:fld id="{D4CE0C3C-47D3-4455-AB34-8268314DB49D}" type="slidenum">
              <a:rPr lang="en-US" altLang="zh-CN" smtClean="0"/>
              <a:pPr/>
              <a:t>‹#›</a:t>
            </a:fld>
            <a:endParaRPr lang="en-US" altLang="zh-CN"/>
          </a:p>
        </p:txBody>
      </p:sp>
      <p:sp>
        <p:nvSpPr>
          <p:cNvPr id="8" name="文本框 7"/>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13" name="矩形 12"/>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4" name="文本框 13"/>
          <p:cNvSpPr txBox="1"/>
          <p:nvPr userDrawn="1"/>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pic>
        <p:nvPicPr>
          <p:cNvPr id="17" name="图片 16">
            <a:extLst>
              <a:ext uri="{FF2B5EF4-FFF2-40B4-BE49-F238E27FC236}">
                <a16:creationId xmlns:a16="http://schemas.microsoft.com/office/drawing/2014/main" id="{E6CA16D4-0290-44EE-94F1-FC2C75A69881}"/>
              </a:ext>
            </a:extLst>
          </p:cNvPr>
          <p:cNvPicPr>
            <a:picLocks/>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26039" y="134326"/>
            <a:ext cx="460800" cy="460086"/>
          </a:xfrm>
          <a:prstGeom prst="rect">
            <a:avLst/>
          </a:prstGeom>
        </p:spPr>
      </p:pic>
    </p:spTree>
    <p:extLst>
      <p:ext uri="{BB962C8B-B14F-4D97-AF65-F5344CB8AC3E}">
        <p14:creationId xmlns:p14="http://schemas.microsoft.com/office/powerpoint/2010/main" val="3571174895"/>
      </p:ext>
    </p:extLst>
  </p:cSld>
  <p:clrMapOvr>
    <a:masterClrMapping/>
  </p:clrMapOvr>
  <p:hf hdr="0" ft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目录">
    <p:spTree>
      <p:nvGrpSpPr>
        <p:cNvPr id="1" name=""/>
        <p:cNvGrpSpPr/>
        <p:nvPr/>
      </p:nvGrpSpPr>
      <p:grpSpPr>
        <a:xfrm>
          <a:off x="0" y="0"/>
          <a:ext cx="0" cy="0"/>
          <a:chOff x="0" y="0"/>
          <a:chExt cx="0" cy="0"/>
        </a:xfrm>
      </p:grpSpPr>
      <p:pic>
        <p:nvPicPr>
          <p:cNvPr id="10" name="图片 9"/>
          <p:cNvPicPr>
            <a:picLocks noChangeAspect="1"/>
          </p:cNvPicPr>
          <p:nvPr/>
        </p:nvPicPr>
        <p:blipFill>
          <a:blip r:embed="rId2"/>
          <a:stretch>
            <a:fillRect/>
          </a:stretch>
        </p:blipFill>
        <p:spPr>
          <a:xfrm>
            <a:off x="1" y="0"/>
            <a:ext cx="12193057" cy="664522"/>
          </a:xfrm>
          <a:prstGeom prst="rect">
            <a:avLst/>
          </a:prstGeom>
        </p:spPr>
      </p:pic>
      <p:sp>
        <p:nvSpPr>
          <p:cNvPr id="7" name="矩形 6"/>
          <p:cNvSpPr/>
          <p:nvPr/>
        </p:nvSpPr>
        <p:spPr>
          <a:xfrm>
            <a:off x="0" y="5821680"/>
            <a:ext cx="12192000" cy="1036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 name="标题 1"/>
          <p:cNvSpPr>
            <a:spLocks noGrp="1"/>
          </p:cNvSpPr>
          <p:nvPr>
            <p:ph type="title"/>
          </p:nvPr>
        </p:nvSpPr>
        <p:spPr>
          <a:xfrm>
            <a:off x="431801" y="235137"/>
            <a:ext cx="8632687" cy="337358"/>
          </a:xfrm>
          <a:prstGeom prst="rect">
            <a:avLst/>
          </a:prstGeom>
        </p:spPr>
        <p:txBody>
          <a:bodyPr anchor="ctr"/>
          <a:lstStyle>
            <a:lvl1pPr>
              <a:defRPr sz="2000">
                <a:solidFill>
                  <a:schemeClr val="bg1"/>
                </a:solidFill>
                <a:effectLst/>
              </a:defRPr>
            </a:lvl1pPr>
          </a:lstStyle>
          <a:p>
            <a:r>
              <a:rPr lang="zh-CN" altLang="en-US"/>
              <a:t>单击此处编辑母版标题样式</a:t>
            </a:r>
            <a:endParaRPr lang="zh-CN" altLang="en-US" dirty="0"/>
          </a:p>
        </p:txBody>
      </p:sp>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pic>
        <p:nvPicPr>
          <p:cNvPr id="9" name="图片 8"/>
          <p:cNvPicPr>
            <a:picLocks noChangeAspect="1"/>
          </p:cNvPicPr>
          <p:nvPr userDrawn="1"/>
        </p:nvPicPr>
        <p:blipFill>
          <a:blip r:embed="rId2"/>
          <a:stretch>
            <a:fillRect/>
          </a:stretch>
        </p:blipFill>
        <p:spPr>
          <a:xfrm>
            <a:off x="1" y="0"/>
            <a:ext cx="12193057" cy="664522"/>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pic>
        <p:nvPicPr>
          <p:cNvPr id="15" name="图片 14">
            <a:extLst>
              <a:ext uri="{FF2B5EF4-FFF2-40B4-BE49-F238E27FC236}">
                <a16:creationId xmlns:a16="http://schemas.microsoft.com/office/drawing/2014/main" id="{868EC634-9AC0-47BC-9B63-CF588D91D64F}"/>
              </a:ext>
            </a:extLst>
          </p:cNvPr>
          <p:cNvPicPr>
            <a:picLocks/>
          </p:cNvPicPr>
          <p:nvPr userDrawn="1"/>
        </p:nvPicPr>
        <p:blipFill>
          <a:blip r:embed="rId4" cstate="print">
            <a:extLst>
              <a:ext uri="{28A0092B-C50C-407E-A947-70E740481C1C}">
                <a14:useLocalDpi xmlns:a14="http://schemas.microsoft.com/office/drawing/2010/main" val="0"/>
              </a:ext>
            </a:extLst>
          </a:blip>
          <a:stretch>
            <a:fillRect/>
          </a:stretch>
        </p:blipFill>
        <p:spPr>
          <a:xfrm>
            <a:off x="9356006" y="6034568"/>
            <a:ext cx="2458800" cy="650876"/>
          </a:xfrm>
          <a:prstGeom prst="rect">
            <a:avLst/>
          </a:prstGeom>
        </p:spPr>
      </p:pic>
    </p:spTree>
    <p:extLst>
      <p:ext uri="{BB962C8B-B14F-4D97-AF65-F5344CB8AC3E}">
        <p14:creationId xmlns:p14="http://schemas.microsoft.com/office/powerpoint/2010/main" val="1186249892"/>
      </p:ext>
    </p:extLst>
  </p:cSld>
  <p:clrMapOvr>
    <a:masterClrMapping/>
  </p:clrMapOvr>
  <p:extLst>
    <p:ext uri="{DCECCB84-F9BA-43D5-87BE-67443E8EF086}">
      <p15:sldGuideLst xmlns:p15="http://schemas.microsoft.com/office/powerpoint/2012/main">
        <p15:guide id="1" pos="7408" userDrawn="1">
          <p15:clr>
            <a:srgbClr val="FBAE40"/>
          </p15:clr>
        </p15:guide>
        <p15:guide id="2" pos="272" userDrawn="1">
          <p15:clr>
            <a:srgbClr val="FBAE40"/>
          </p15:clr>
        </p15:guide>
        <p15:guide id="5" pos="4167" userDrawn="1">
          <p15:clr>
            <a:srgbClr val="FBAE40"/>
          </p15:clr>
        </p15:guide>
        <p15:guide id="6" pos="153" userDrawn="1">
          <p15:clr>
            <a:srgbClr val="FBAE40"/>
          </p15:clr>
        </p15:guide>
        <p15:guide id="7" pos="5556" userDrawn="1">
          <p15:clr>
            <a:srgbClr val="FBAE40"/>
          </p15:clr>
        </p15:guide>
        <p15:guide id="8" pos="20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纯标题">
    <p:spTree>
      <p:nvGrpSpPr>
        <p:cNvPr id="1" name=""/>
        <p:cNvGrpSpPr/>
        <p:nvPr/>
      </p:nvGrpSpPr>
      <p:grpSpPr>
        <a:xfrm>
          <a:off x="0" y="0"/>
          <a:ext cx="0" cy="0"/>
          <a:chOff x="0" y="0"/>
          <a:chExt cx="0" cy="0"/>
        </a:xfrm>
      </p:grpSpPr>
      <p:sp>
        <p:nvSpPr>
          <p:cNvPr id="5" name="标题 4"/>
          <p:cNvSpPr>
            <a:spLocks noGrp="1"/>
          </p:cNvSpPr>
          <p:nvPr>
            <p:ph type="title"/>
          </p:nvPr>
        </p:nvSpPr>
        <p:spPr>
          <a:xfrm>
            <a:off x="658701" y="975601"/>
            <a:ext cx="11162884" cy="574183"/>
          </a:xfrm>
          <a:prstGeom prst="rect">
            <a:avLst/>
          </a:prstGeom>
        </p:spPr>
        <p:txBody>
          <a:bodyPr/>
          <a:lstStyle>
            <a:lvl1pPr>
              <a:defRPr sz="3200" b="1">
                <a:solidFill>
                  <a:schemeClr val="accent1"/>
                </a:solidFill>
              </a:defRPr>
            </a:lvl1pPr>
          </a:lstStyle>
          <a:p>
            <a:r>
              <a:rPr lang="zh-CN" altLang="en-US"/>
              <a:t>单击此处编辑母版标题样式</a:t>
            </a:r>
          </a:p>
        </p:txBody>
      </p:sp>
    </p:spTree>
    <p:extLst>
      <p:ext uri="{BB962C8B-B14F-4D97-AF65-F5344CB8AC3E}">
        <p14:creationId xmlns:p14="http://schemas.microsoft.com/office/powerpoint/2010/main" val="1866588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纯标题-有页码">
    <p:spTree>
      <p:nvGrpSpPr>
        <p:cNvPr id="1" name=""/>
        <p:cNvGrpSpPr/>
        <p:nvPr/>
      </p:nvGrpSpPr>
      <p:grpSpPr>
        <a:xfrm>
          <a:off x="0" y="0"/>
          <a:ext cx="0" cy="0"/>
          <a:chOff x="0" y="0"/>
          <a:chExt cx="0" cy="0"/>
        </a:xfrm>
      </p:grpSpPr>
      <p:sp>
        <p:nvSpPr>
          <p:cNvPr id="5" name="标题 4"/>
          <p:cNvSpPr>
            <a:spLocks noGrp="1"/>
          </p:cNvSpPr>
          <p:nvPr>
            <p:ph type="title"/>
          </p:nvPr>
        </p:nvSpPr>
        <p:spPr>
          <a:xfrm>
            <a:off x="658701" y="975601"/>
            <a:ext cx="11162884" cy="574183"/>
          </a:xfrm>
          <a:prstGeom prst="rect">
            <a:avLst/>
          </a:prstGeom>
        </p:spPr>
        <p:txBody>
          <a:bodyPr/>
          <a:lstStyle>
            <a:lvl1pPr>
              <a:defRPr sz="3200" b="1">
                <a:solidFill>
                  <a:schemeClr val="accent1"/>
                </a:solidFill>
              </a:defRPr>
            </a:lvl1pPr>
          </a:lstStyle>
          <a:p>
            <a:r>
              <a:rPr lang="zh-CN" altLang="en-US"/>
              <a:t>单击此处编辑母版标题样式</a:t>
            </a:r>
            <a:endParaRPr lang="zh-CN" altLang="en-US" dirty="0"/>
          </a:p>
        </p:txBody>
      </p:sp>
      <p:sp>
        <p:nvSpPr>
          <p:cNvPr id="10" name="文本框 9"/>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12" name="灯片编号占位符 5"/>
          <p:cNvSpPr txBox="1">
            <a:spLocks/>
          </p:cNvSpPr>
          <p:nvPr/>
        </p:nvSpPr>
        <p:spPr>
          <a:xfrm>
            <a:off x="11595421" y="311755"/>
            <a:ext cx="596580" cy="276999"/>
          </a:xfrm>
          <a:prstGeom prst="rect">
            <a:avLst/>
          </a:prstGeom>
          <a:noFill/>
        </p:spPr>
        <p:txBody>
          <a:bodyPr wrap="squar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7E0B4DC1-AB35-4259-8072-EA8F5B8A0BBF}" type="slidenum">
              <a:rPr lang="zh-CN" altLang="en-US" sz="1200" smtClean="0"/>
              <a:pPr lvl="0"/>
              <a:t>‹#›</a:t>
            </a:fld>
            <a:endParaRPr lang="zh-CN" altLang="en-US" sz="1200" dirty="0"/>
          </a:p>
        </p:txBody>
      </p:sp>
    </p:spTree>
    <p:extLst>
      <p:ext uri="{BB962C8B-B14F-4D97-AF65-F5344CB8AC3E}">
        <p14:creationId xmlns:p14="http://schemas.microsoft.com/office/powerpoint/2010/main" val="113261993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空白">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stretch>
            <a:fillRect/>
          </a:stretch>
        </p:blipFill>
        <p:spPr>
          <a:xfrm>
            <a:off x="1" y="0"/>
            <a:ext cx="12193057" cy="664522"/>
          </a:xfrm>
          <a:prstGeom prst="rect">
            <a:avLst/>
          </a:prstGeom>
        </p:spPr>
      </p:pic>
      <p:sp>
        <p:nvSpPr>
          <p:cNvPr id="11" name="矩形 10"/>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7" name="矩形 6"/>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0" name="矩形 9"/>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a:extLst>
              <a:ext uri="{FF2B5EF4-FFF2-40B4-BE49-F238E27FC236}">
                <a16:creationId xmlns:a16="http://schemas.microsoft.com/office/drawing/2014/main" id="{49330132-A4AE-4000-83EB-2350EE54A9A1}"/>
              </a:ext>
            </a:extLst>
          </p:cNvPr>
          <p:cNvPicPr>
            <a:picLocks/>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1519200" cy="401413"/>
          </a:xfrm>
          <a:prstGeom prst="rect">
            <a:avLst/>
          </a:prstGeom>
        </p:spPr>
      </p:pic>
    </p:spTree>
    <p:extLst>
      <p:ext uri="{BB962C8B-B14F-4D97-AF65-F5344CB8AC3E}">
        <p14:creationId xmlns:p14="http://schemas.microsoft.com/office/powerpoint/2010/main" val="1119330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空白-有页码">
    <p:spTree>
      <p:nvGrpSpPr>
        <p:cNvPr id="1" name=""/>
        <p:cNvGrpSpPr/>
        <p:nvPr/>
      </p:nvGrpSpPr>
      <p:grpSpPr>
        <a:xfrm>
          <a:off x="0" y="0"/>
          <a:ext cx="0" cy="0"/>
          <a:chOff x="0" y="0"/>
          <a:chExt cx="0" cy="0"/>
        </a:xfrm>
      </p:grpSpPr>
      <p:pic>
        <p:nvPicPr>
          <p:cNvPr id="14" name="图片 13"/>
          <p:cNvPicPr>
            <a:picLocks noChangeAspect="1"/>
          </p:cNvPicPr>
          <p:nvPr/>
        </p:nvPicPr>
        <p:blipFill>
          <a:blip r:embed="rId2"/>
          <a:stretch>
            <a:fillRect/>
          </a:stretch>
        </p:blipFill>
        <p:spPr>
          <a:xfrm>
            <a:off x="1" y="0"/>
            <a:ext cx="12193057" cy="664522"/>
          </a:xfrm>
          <a:prstGeom prst="rect">
            <a:avLst/>
          </a:prstGeom>
        </p:spPr>
      </p:pic>
      <p:sp>
        <p:nvSpPr>
          <p:cNvPr id="15" name="矩形 14"/>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7" name="矩形 16"/>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文本框 4"/>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7" name="灯片编号占位符 5"/>
          <p:cNvSpPr>
            <a:spLocks noGrp="1"/>
          </p:cNvSpPr>
          <p:nvPr>
            <p:ph type="sldNum" sz="quarter" idx="12"/>
          </p:nvPr>
        </p:nvSpPr>
        <p:spPr>
          <a:xfrm>
            <a:off x="11596801" y="313201"/>
            <a:ext cx="365165" cy="276999"/>
          </a:xfrm>
          <a:prstGeom prst="rect">
            <a:avLst/>
          </a:prstGeom>
          <a:noFill/>
        </p:spPr>
        <p:txBody>
          <a:bodyPr wrap="none" rtlCol="0">
            <a:spAutoFit/>
          </a:bodyPr>
          <a:lstStyle>
            <a:lvl1pPr>
              <a:defRPr lang="zh-CN" altLang="en-US" sz="1200" spc="-60" baseline="0" smtClean="0">
                <a:solidFill>
                  <a:schemeClr val="bg1"/>
                </a:solidFill>
                <a:latin typeface="微软雅黑" panose="020B0503020204020204" pitchFamily="34" charset="-122"/>
                <a:ea typeface="微软雅黑" panose="020B0503020204020204" pitchFamily="34" charset="-122"/>
              </a:defRPr>
            </a:lvl1pPr>
          </a:lstStyle>
          <a:p>
            <a:fld id="{E1703B59-C883-4B8B-974E-AFB30A6C43A7}" type="slidenum">
              <a:rPr lang="en-US" altLang="zh-CN" smtClean="0"/>
              <a:pPr/>
              <a:t>‹#›</a:t>
            </a:fld>
            <a:endParaRPr lang="en-US" altLang="zh-CN"/>
          </a:p>
        </p:txBody>
      </p:sp>
      <p:sp>
        <p:nvSpPr>
          <p:cNvPr id="9" name="矩形 8"/>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a:extLst>
              <a:ext uri="{FF2B5EF4-FFF2-40B4-BE49-F238E27FC236}">
                <a16:creationId xmlns:a16="http://schemas.microsoft.com/office/drawing/2014/main" id="{69236C0F-7906-45C5-8289-C6152EBC9057}"/>
              </a:ext>
            </a:extLst>
          </p:cNvPr>
          <p:cNvPicPr>
            <a:picLocks/>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1519200" cy="401413"/>
          </a:xfrm>
          <a:prstGeom prst="rect">
            <a:avLst/>
          </a:prstGeom>
        </p:spPr>
      </p:pic>
    </p:spTree>
    <p:extLst>
      <p:ext uri="{BB962C8B-B14F-4D97-AF65-F5344CB8AC3E}">
        <p14:creationId xmlns:p14="http://schemas.microsoft.com/office/powerpoint/2010/main" val="2942350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两栏">
    <p:spTree>
      <p:nvGrpSpPr>
        <p:cNvPr id="1" name=""/>
        <p:cNvGrpSpPr/>
        <p:nvPr/>
      </p:nvGrpSpPr>
      <p:grpSpPr>
        <a:xfrm>
          <a:off x="0" y="0"/>
          <a:ext cx="0" cy="0"/>
          <a:chOff x="0" y="0"/>
          <a:chExt cx="0" cy="0"/>
        </a:xfrm>
      </p:grpSpPr>
      <p:sp>
        <p:nvSpPr>
          <p:cNvPr id="12" name="内容占位符 11"/>
          <p:cNvSpPr>
            <a:spLocks noGrp="1"/>
          </p:cNvSpPr>
          <p:nvPr>
            <p:ph sz="quarter" idx="10"/>
          </p:nvPr>
        </p:nvSpPr>
        <p:spPr>
          <a:xfrm>
            <a:off x="349859" y="1717675"/>
            <a:ext cx="5376000" cy="4826248"/>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16" name="内容占位符 15"/>
          <p:cNvSpPr>
            <a:spLocks noGrp="1"/>
          </p:cNvSpPr>
          <p:nvPr>
            <p:ph sz="quarter" idx="11"/>
          </p:nvPr>
        </p:nvSpPr>
        <p:spPr>
          <a:xfrm>
            <a:off x="6381751" y="1717675"/>
            <a:ext cx="5376333" cy="4826248"/>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2" name="标题 1"/>
          <p:cNvSpPr>
            <a:spLocks noGrp="1"/>
          </p:cNvSpPr>
          <p:nvPr>
            <p:ph type="title"/>
          </p:nvPr>
        </p:nvSpPr>
        <p:spPr>
          <a:xfrm>
            <a:off x="349858" y="975600"/>
            <a:ext cx="11408225" cy="576000"/>
          </a:xfrm>
          <a:prstGeom prst="rect">
            <a:avLst/>
          </a:prstGeom>
        </p:spPr>
        <p:txBody>
          <a:bodyPr/>
          <a:lstStyle>
            <a:lvl1pPr>
              <a:defRPr lang="zh-CN" altLang="en-US" sz="3200" b="1">
                <a:solidFill>
                  <a:schemeClr val="accent1"/>
                </a:solidFill>
              </a:defRPr>
            </a:lvl1pPr>
          </a:lstStyle>
          <a:p>
            <a:pPr lvl="0"/>
            <a:r>
              <a:rPr lang="zh-CN" altLang="en-US"/>
              <a:t>单击此处编辑母版标题样式</a:t>
            </a:r>
          </a:p>
        </p:txBody>
      </p:sp>
    </p:spTree>
    <p:extLst>
      <p:ext uri="{BB962C8B-B14F-4D97-AF65-F5344CB8AC3E}">
        <p14:creationId xmlns:p14="http://schemas.microsoft.com/office/powerpoint/2010/main" val="1942321589"/>
      </p:ext>
    </p:extLst>
  </p:cSld>
  <p:clrMapOvr>
    <a:masterClrMapping/>
  </p:clrMapOvr>
  <p:extLst>
    <p:ext uri="{DCECCB84-F9BA-43D5-87BE-67443E8EF086}">
      <p15:sldGuideLst xmlns:p15="http://schemas.microsoft.com/office/powerpoint/2012/main">
        <p15:guide id="1" pos="3840" userDrawn="1">
          <p15:clr>
            <a:srgbClr val="FBAE40"/>
          </p15:clr>
        </p15:guide>
        <p15:guide id="3" pos="2160" userDrawn="1">
          <p15:clr>
            <a:srgbClr val="FBAE40"/>
          </p15:clr>
        </p15:guide>
        <p15:guide id="4"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两栏-有页码">
    <p:spTree>
      <p:nvGrpSpPr>
        <p:cNvPr id="1" name=""/>
        <p:cNvGrpSpPr/>
        <p:nvPr/>
      </p:nvGrpSpPr>
      <p:grpSpPr>
        <a:xfrm>
          <a:off x="0" y="0"/>
          <a:ext cx="0" cy="0"/>
          <a:chOff x="0" y="0"/>
          <a:chExt cx="0" cy="0"/>
        </a:xfrm>
      </p:grpSpPr>
      <p:pic>
        <p:nvPicPr>
          <p:cNvPr id="20" name="图片 19"/>
          <p:cNvPicPr>
            <a:picLocks noChangeAspect="1"/>
          </p:cNvPicPr>
          <p:nvPr/>
        </p:nvPicPr>
        <p:blipFill>
          <a:blip r:embed="rId2"/>
          <a:stretch>
            <a:fillRect/>
          </a:stretch>
        </p:blipFill>
        <p:spPr>
          <a:xfrm>
            <a:off x="0" y="1231683"/>
            <a:ext cx="12192000" cy="332713"/>
          </a:xfrm>
          <a:prstGeom prst="rect">
            <a:avLst/>
          </a:prstGeom>
        </p:spPr>
      </p:pic>
      <p:sp>
        <p:nvSpPr>
          <p:cNvPr id="6" name="文本框 5"/>
          <p:cNvSpPr txBox="1"/>
          <p:nvPr/>
        </p:nvSpPr>
        <p:spPr>
          <a:xfrm>
            <a:off x="11000035" y="313201"/>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12" name="内容占位符 11"/>
          <p:cNvSpPr>
            <a:spLocks noGrp="1"/>
          </p:cNvSpPr>
          <p:nvPr>
            <p:ph sz="quarter" idx="10"/>
          </p:nvPr>
        </p:nvSpPr>
        <p:spPr>
          <a:xfrm>
            <a:off x="349859" y="1717675"/>
            <a:ext cx="5376000" cy="4826248"/>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16" name="内容占位符 15"/>
          <p:cNvSpPr>
            <a:spLocks noGrp="1"/>
          </p:cNvSpPr>
          <p:nvPr>
            <p:ph sz="quarter" idx="11"/>
          </p:nvPr>
        </p:nvSpPr>
        <p:spPr>
          <a:xfrm>
            <a:off x="6381751" y="1717675"/>
            <a:ext cx="5376333" cy="4826248"/>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21" name="灯片编号占位符 8"/>
          <p:cNvSpPr>
            <a:spLocks noGrp="1"/>
          </p:cNvSpPr>
          <p:nvPr>
            <p:ph type="sldNum" sz="quarter" idx="12"/>
          </p:nvPr>
        </p:nvSpPr>
        <p:spPr>
          <a:xfrm>
            <a:off x="11595420" y="313201"/>
            <a:ext cx="649587" cy="276999"/>
          </a:xfrm>
          <a:prstGeom prst="rect">
            <a:avLst/>
          </a:prstGeom>
          <a:noFill/>
        </p:spPr>
        <p:txBody>
          <a:bodyPr wrap="square" rtlCol="0">
            <a:spAutoFit/>
          </a:bodyPr>
          <a:lstStyle>
            <a:lvl1pPr>
              <a:defRPr lang="zh-CN" altLang="en-US" sz="1200" spc="-60" baseline="0" smtClean="0">
                <a:solidFill>
                  <a:schemeClr val="bg1"/>
                </a:solidFill>
                <a:latin typeface="微软雅黑" panose="020B0503020204020204" pitchFamily="34" charset="-122"/>
                <a:ea typeface="微软雅黑" panose="020B0503020204020204" pitchFamily="34" charset="-122"/>
              </a:defRPr>
            </a:lvl1pPr>
          </a:lstStyle>
          <a:p>
            <a:fld id="{54BD5A17-3153-4A95-988E-B577C14000F1}" type="slidenum">
              <a:rPr lang="en-US" altLang="zh-CN" smtClean="0"/>
              <a:pPr/>
              <a:t>‹#›</a:t>
            </a:fld>
            <a:endParaRPr lang="en-US" altLang="zh-CN" dirty="0"/>
          </a:p>
        </p:txBody>
      </p:sp>
      <p:sp>
        <p:nvSpPr>
          <p:cNvPr id="2" name="标题 1"/>
          <p:cNvSpPr>
            <a:spLocks noGrp="1"/>
          </p:cNvSpPr>
          <p:nvPr>
            <p:ph type="title"/>
          </p:nvPr>
        </p:nvSpPr>
        <p:spPr>
          <a:xfrm>
            <a:off x="349858" y="975600"/>
            <a:ext cx="11421927" cy="576000"/>
          </a:xfrm>
          <a:prstGeom prst="rect">
            <a:avLst/>
          </a:prstGeom>
        </p:spPr>
        <p:txBody>
          <a:bodyPr/>
          <a:lstStyle>
            <a:lvl1pPr>
              <a:defRPr lang="zh-CN" altLang="en-US" sz="3200" b="1">
                <a:solidFill>
                  <a:schemeClr val="accent1"/>
                </a:solidFill>
              </a:defRPr>
            </a:lvl1pPr>
          </a:lstStyle>
          <a:p>
            <a:pPr lvl="0"/>
            <a:r>
              <a:rPr lang="zh-CN" altLang="en-US"/>
              <a:t>单击此处编辑母版标题样式</a:t>
            </a:r>
            <a:endParaRPr lang="zh-CN" altLang="en-US" dirty="0"/>
          </a:p>
        </p:txBody>
      </p:sp>
      <p:pic>
        <p:nvPicPr>
          <p:cNvPr id="8" name="图片 7"/>
          <p:cNvPicPr>
            <a:picLocks noChangeAspect="1"/>
          </p:cNvPicPr>
          <p:nvPr userDrawn="1"/>
        </p:nvPicPr>
        <p:blipFill>
          <a:blip r:embed="rId2"/>
          <a:stretch>
            <a:fillRect/>
          </a:stretch>
        </p:blipFill>
        <p:spPr>
          <a:xfrm>
            <a:off x="0" y="1231683"/>
            <a:ext cx="12192000" cy="332713"/>
          </a:xfrm>
          <a:prstGeom prst="rect">
            <a:avLst/>
          </a:prstGeom>
        </p:spPr>
      </p:pic>
    </p:spTree>
    <p:extLst>
      <p:ext uri="{BB962C8B-B14F-4D97-AF65-F5344CB8AC3E}">
        <p14:creationId xmlns:p14="http://schemas.microsoft.com/office/powerpoint/2010/main" val="4007102441"/>
      </p:ext>
    </p:extLst>
  </p:cSld>
  <p:clrMapOvr>
    <a:masterClrMapping/>
  </p:clrMapOvr>
  <p:extLst>
    <p:ext uri="{DCECCB84-F9BA-43D5-87BE-67443E8EF086}">
      <p15:sldGuideLst xmlns:p15="http://schemas.microsoft.com/office/powerpoint/2012/main">
        <p15:guide id="1" pos="3840" userDrawn="1">
          <p15:clr>
            <a:srgbClr val="FBAE40"/>
          </p15:clr>
        </p15:guide>
        <p15:guide id="2" pos="6924" userDrawn="1">
          <p15:clr>
            <a:srgbClr val="FBAE40"/>
          </p15:clr>
        </p15:guide>
        <p15:guide id="5" pos="2160" userDrawn="1">
          <p15:clr>
            <a:srgbClr val="FBAE40"/>
          </p15:clr>
        </p15:guide>
        <p15:guide id="6" pos="3895" userDrawn="1">
          <p15:clr>
            <a:srgbClr val="FBAE40"/>
          </p15:clr>
        </p15:guide>
        <p15:guide id="7" pos="2880" userDrawn="1">
          <p15:clr>
            <a:srgbClr val="FBAE40"/>
          </p15:clr>
        </p15:guide>
        <p15:guide id="8" pos="5193"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对比">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349859" y="960115"/>
            <a:ext cx="5376000" cy="574183"/>
          </a:xfrm>
          <a:prstGeom prst="rect">
            <a:avLst/>
          </a:prstGeom>
        </p:spPr>
        <p:txBody>
          <a:bodyPr anchor="b">
            <a:normAutofit/>
          </a:bodyPr>
          <a:lstStyle>
            <a:lvl1pPr algn="ctr">
              <a:defRPr sz="2800" b="1">
                <a:solidFill>
                  <a:schemeClr val="accent1"/>
                </a:solidFill>
              </a:defRPr>
            </a:lvl1pPr>
          </a:lstStyle>
          <a:p>
            <a:r>
              <a:rPr lang="zh-CN" altLang="en-US" dirty="0"/>
              <a:t>单击此处编辑标题</a:t>
            </a:r>
          </a:p>
        </p:txBody>
      </p:sp>
      <p:cxnSp>
        <p:nvCxnSpPr>
          <p:cNvPr id="3" name="直接连接符 2"/>
          <p:cNvCxnSpPr/>
          <p:nvPr/>
        </p:nvCxnSpPr>
        <p:spPr>
          <a:xfrm flipV="1">
            <a:off x="0" y="1550505"/>
            <a:ext cx="12192000" cy="7952"/>
          </a:xfrm>
          <a:prstGeom prst="line">
            <a:avLst/>
          </a:prstGeom>
        </p:spPr>
        <p:style>
          <a:lnRef idx="1">
            <a:schemeClr val="accent1"/>
          </a:lnRef>
          <a:fillRef idx="0">
            <a:schemeClr val="accent1"/>
          </a:fillRef>
          <a:effectRef idx="0">
            <a:schemeClr val="accent1"/>
          </a:effectRef>
          <a:fontRef idx="minor">
            <a:schemeClr val="tx1"/>
          </a:fontRef>
        </p:style>
      </p:cxnSp>
      <p:sp>
        <p:nvSpPr>
          <p:cNvPr id="12" name="内容占位符 11"/>
          <p:cNvSpPr>
            <a:spLocks noGrp="1"/>
          </p:cNvSpPr>
          <p:nvPr>
            <p:ph sz="quarter" idx="10"/>
          </p:nvPr>
        </p:nvSpPr>
        <p:spPr>
          <a:xfrm>
            <a:off x="349859" y="1717675"/>
            <a:ext cx="5376000" cy="4826248"/>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16" name="内容占位符 15"/>
          <p:cNvSpPr>
            <a:spLocks noGrp="1"/>
          </p:cNvSpPr>
          <p:nvPr>
            <p:ph sz="quarter" idx="11"/>
          </p:nvPr>
        </p:nvSpPr>
        <p:spPr>
          <a:xfrm>
            <a:off x="6381751" y="1717675"/>
            <a:ext cx="5376333" cy="4826248"/>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18" name="文本占位符 4"/>
          <p:cNvSpPr>
            <a:spLocks noGrp="1"/>
          </p:cNvSpPr>
          <p:nvPr>
            <p:ph type="body" sz="quarter" idx="3" hasCustomPrompt="1"/>
          </p:nvPr>
        </p:nvSpPr>
        <p:spPr>
          <a:xfrm>
            <a:off x="6381751" y="958297"/>
            <a:ext cx="5376000" cy="576000"/>
          </a:xfrm>
        </p:spPr>
        <p:txBody>
          <a:bodyPr anchor="b">
            <a:normAutofit/>
          </a:bodyPr>
          <a:lstStyle>
            <a:lvl1pPr marL="0" indent="0" algn="ctr">
              <a:buNone/>
              <a:defRPr lang="zh-CN" altLang="en-US" sz="2800" b="1" dirty="0" smtClean="0">
                <a:solidFill>
                  <a:schemeClr val="accent1"/>
                </a:solidFill>
                <a:latin typeface="+mj-lt"/>
                <a:ea typeface="+mj-ea"/>
                <a:cs typeface="+mj-cs"/>
              </a:defRPr>
            </a:lvl1pPr>
          </a:lstStyle>
          <a:p>
            <a:pPr marL="228600" lvl="0" indent="-228600" algn="ctr">
              <a:lnSpc>
                <a:spcPct val="90000"/>
              </a:lnSpc>
              <a:spcBef>
                <a:spcPct val="0"/>
              </a:spcBef>
            </a:pPr>
            <a:r>
              <a:rPr lang="zh-CN" altLang="en-US" dirty="0"/>
              <a:t>单击此处编辑标题</a:t>
            </a:r>
          </a:p>
        </p:txBody>
      </p:sp>
      <p:pic>
        <p:nvPicPr>
          <p:cNvPr id="19" name="图片 18"/>
          <p:cNvPicPr>
            <a:picLocks noChangeAspect="1"/>
          </p:cNvPicPr>
          <p:nvPr/>
        </p:nvPicPr>
        <p:blipFill>
          <a:blip r:embed="rId2"/>
          <a:stretch>
            <a:fillRect/>
          </a:stretch>
        </p:blipFill>
        <p:spPr>
          <a:xfrm>
            <a:off x="1" y="0"/>
            <a:ext cx="12193057" cy="664522"/>
          </a:xfrm>
          <a:prstGeom prst="rect">
            <a:avLst/>
          </a:prstGeom>
        </p:spPr>
      </p:pic>
      <p:sp>
        <p:nvSpPr>
          <p:cNvPr id="20" name="矩形 1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2" name="矩形 21"/>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矩形 12"/>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5" name="矩形 14"/>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7" name="图片 16">
            <a:extLst>
              <a:ext uri="{FF2B5EF4-FFF2-40B4-BE49-F238E27FC236}">
                <a16:creationId xmlns:a16="http://schemas.microsoft.com/office/drawing/2014/main" id="{B2215100-2895-4EC8-90C4-59B1A5A74020}"/>
              </a:ext>
            </a:extLst>
          </p:cNvPr>
          <p:cNvPicPr>
            <a:picLocks/>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1519200" cy="401413"/>
          </a:xfrm>
          <a:prstGeom prst="rect">
            <a:avLst/>
          </a:prstGeom>
        </p:spPr>
      </p:pic>
    </p:spTree>
    <p:extLst>
      <p:ext uri="{BB962C8B-B14F-4D97-AF65-F5344CB8AC3E}">
        <p14:creationId xmlns:p14="http://schemas.microsoft.com/office/powerpoint/2010/main" val="3019475642"/>
      </p:ext>
    </p:extLst>
  </p:cSld>
  <p:clrMapOvr>
    <a:masterClrMapping/>
  </p:clrMapOvr>
  <p:extLst>
    <p:ext uri="{DCECCB84-F9BA-43D5-87BE-67443E8EF086}">
      <p15:sldGuideLst xmlns:p15="http://schemas.microsoft.com/office/powerpoint/2012/main">
        <p15:guide id="1" pos="3840" userDrawn="1">
          <p15:clr>
            <a:srgbClr val="FBAE40"/>
          </p15:clr>
        </p15:guide>
        <p15:guide id="3" pos="2160" userDrawn="1">
          <p15:clr>
            <a:srgbClr val="FBAE40"/>
          </p15:clr>
        </p15:guide>
        <p15:guide id="4"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对比-有页码">
    <p:spTree>
      <p:nvGrpSpPr>
        <p:cNvPr id="1" name=""/>
        <p:cNvGrpSpPr/>
        <p:nvPr/>
      </p:nvGrpSpPr>
      <p:grpSpPr>
        <a:xfrm>
          <a:off x="0" y="0"/>
          <a:ext cx="0" cy="0"/>
          <a:chOff x="0" y="0"/>
          <a:chExt cx="0" cy="0"/>
        </a:xfrm>
      </p:grpSpPr>
      <p:pic>
        <p:nvPicPr>
          <p:cNvPr id="15" name="图片 14"/>
          <p:cNvPicPr>
            <a:picLocks noChangeAspect="1"/>
          </p:cNvPicPr>
          <p:nvPr/>
        </p:nvPicPr>
        <p:blipFill>
          <a:blip r:embed="rId2"/>
          <a:stretch>
            <a:fillRect/>
          </a:stretch>
        </p:blipFill>
        <p:spPr>
          <a:xfrm>
            <a:off x="1" y="0"/>
            <a:ext cx="12193057" cy="664522"/>
          </a:xfrm>
          <a:prstGeom prst="rect">
            <a:avLst/>
          </a:prstGeom>
        </p:spPr>
      </p:pic>
      <p:sp>
        <p:nvSpPr>
          <p:cNvPr id="22" name="矩形 21"/>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23" name="图片 22"/>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24" name="矩形 23"/>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6" name="文本框 5"/>
          <p:cNvSpPr txBox="1"/>
          <p:nvPr/>
        </p:nvSpPr>
        <p:spPr>
          <a:xfrm>
            <a:off x="11000035" y="313201"/>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5" name="标题 4"/>
          <p:cNvSpPr>
            <a:spLocks noGrp="1"/>
          </p:cNvSpPr>
          <p:nvPr>
            <p:ph type="title" hasCustomPrompt="1"/>
          </p:nvPr>
        </p:nvSpPr>
        <p:spPr>
          <a:xfrm>
            <a:off x="349859" y="960115"/>
            <a:ext cx="5376000" cy="574183"/>
          </a:xfrm>
          <a:prstGeom prst="rect">
            <a:avLst/>
          </a:prstGeom>
        </p:spPr>
        <p:txBody>
          <a:bodyPr anchor="b">
            <a:normAutofit/>
          </a:bodyPr>
          <a:lstStyle>
            <a:lvl1pPr algn="ctr">
              <a:defRPr sz="2800" b="1">
                <a:solidFill>
                  <a:schemeClr val="accent1"/>
                </a:solidFill>
              </a:defRPr>
            </a:lvl1pPr>
          </a:lstStyle>
          <a:p>
            <a:r>
              <a:rPr lang="zh-CN" altLang="en-US" dirty="0"/>
              <a:t>单击此处编辑标题</a:t>
            </a:r>
          </a:p>
        </p:txBody>
      </p:sp>
      <p:cxnSp>
        <p:nvCxnSpPr>
          <p:cNvPr id="3" name="直接连接符 2"/>
          <p:cNvCxnSpPr/>
          <p:nvPr/>
        </p:nvCxnSpPr>
        <p:spPr>
          <a:xfrm flipV="1">
            <a:off x="0" y="1550505"/>
            <a:ext cx="12192000" cy="7952"/>
          </a:xfrm>
          <a:prstGeom prst="line">
            <a:avLst/>
          </a:prstGeom>
        </p:spPr>
        <p:style>
          <a:lnRef idx="1">
            <a:schemeClr val="accent1"/>
          </a:lnRef>
          <a:fillRef idx="0">
            <a:schemeClr val="accent1"/>
          </a:fillRef>
          <a:effectRef idx="0">
            <a:schemeClr val="accent1"/>
          </a:effectRef>
          <a:fontRef idx="minor">
            <a:schemeClr val="tx1"/>
          </a:fontRef>
        </p:style>
      </p:cxnSp>
      <p:sp>
        <p:nvSpPr>
          <p:cNvPr id="12" name="内容占位符 11"/>
          <p:cNvSpPr>
            <a:spLocks noGrp="1"/>
          </p:cNvSpPr>
          <p:nvPr>
            <p:ph sz="quarter" idx="10"/>
          </p:nvPr>
        </p:nvSpPr>
        <p:spPr>
          <a:xfrm>
            <a:off x="349859" y="1717675"/>
            <a:ext cx="5376000" cy="4826248"/>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16" name="内容占位符 15"/>
          <p:cNvSpPr>
            <a:spLocks noGrp="1"/>
          </p:cNvSpPr>
          <p:nvPr>
            <p:ph sz="quarter" idx="11"/>
          </p:nvPr>
        </p:nvSpPr>
        <p:spPr>
          <a:xfrm>
            <a:off x="6381751" y="1717675"/>
            <a:ext cx="5376333" cy="4826248"/>
          </a:xfrm>
        </p:spPr>
        <p:txBody>
          <a:bodyPr>
            <a:normAutofit/>
          </a:bodyPr>
          <a:lstStyle>
            <a:lvl1pPr>
              <a:buClr>
                <a:schemeClr val="accent1"/>
              </a:buClr>
              <a:defRPr sz="2000"/>
            </a:lvl1pPr>
            <a:lvl2pPr>
              <a:buClr>
                <a:schemeClr val="accent1"/>
              </a:buClr>
              <a:defRPr sz="1800"/>
            </a:lvl2pPr>
            <a:lvl3pPr>
              <a:buClr>
                <a:schemeClr val="accent1"/>
              </a:buClr>
              <a:defRPr sz="1600"/>
            </a:lvl3pPr>
            <a:lvl4pPr>
              <a:buClr>
                <a:schemeClr val="accent1"/>
              </a:buClr>
              <a:defRPr sz="1400"/>
            </a:lvl4pPr>
            <a:lvl5pPr>
              <a:buClr>
                <a:schemeClr val="accent1"/>
              </a:buClr>
              <a:defRPr sz="14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18" name="文本占位符 4"/>
          <p:cNvSpPr>
            <a:spLocks noGrp="1"/>
          </p:cNvSpPr>
          <p:nvPr>
            <p:ph type="body" sz="quarter" idx="3" hasCustomPrompt="1"/>
          </p:nvPr>
        </p:nvSpPr>
        <p:spPr>
          <a:xfrm>
            <a:off x="6381751" y="958297"/>
            <a:ext cx="5376000" cy="576000"/>
          </a:xfrm>
        </p:spPr>
        <p:txBody>
          <a:bodyPr anchor="b">
            <a:normAutofit/>
          </a:bodyPr>
          <a:lstStyle>
            <a:lvl1pPr marL="0" indent="0" algn="ctr">
              <a:buNone/>
              <a:defRPr lang="zh-CN" altLang="en-US" sz="2800" b="1" dirty="0" smtClean="0">
                <a:solidFill>
                  <a:schemeClr val="accent1"/>
                </a:solidFill>
                <a:latin typeface="+mj-lt"/>
                <a:ea typeface="+mj-ea"/>
                <a:cs typeface="+mj-cs"/>
              </a:defRPr>
            </a:lvl1pPr>
          </a:lstStyle>
          <a:p>
            <a:pPr marL="228600" lvl="0" indent="-228600" algn="ctr">
              <a:lnSpc>
                <a:spcPct val="90000"/>
              </a:lnSpc>
              <a:spcBef>
                <a:spcPct val="0"/>
              </a:spcBef>
            </a:pPr>
            <a:r>
              <a:rPr lang="zh-CN" altLang="en-US" dirty="0"/>
              <a:t>单击此处编辑标题</a:t>
            </a:r>
          </a:p>
        </p:txBody>
      </p:sp>
      <p:sp>
        <p:nvSpPr>
          <p:cNvPr id="21" name="灯片编号占位符 8"/>
          <p:cNvSpPr>
            <a:spLocks noGrp="1"/>
          </p:cNvSpPr>
          <p:nvPr>
            <p:ph type="sldNum" sz="quarter" idx="12"/>
          </p:nvPr>
        </p:nvSpPr>
        <p:spPr>
          <a:xfrm>
            <a:off x="11595420" y="313201"/>
            <a:ext cx="649587" cy="276999"/>
          </a:xfrm>
          <a:prstGeom prst="rect">
            <a:avLst/>
          </a:prstGeom>
          <a:noFill/>
        </p:spPr>
        <p:txBody>
          <a:bodyPr wrap="square" rtlCol="0">
            <a:spAutoFit/>
          </a:bodyPr>
          <a:lstStyle>
            <a:lvl1pPr>
              <a:defRPr lang="zh-CN" altLang="en-US" sz="1200" spc="-60" baseline="0" smtClean="0">
                <a:solidFill>
                  <a:schemeClr val="bg1"/>
                </a:solidFill>
                <a:latin typeface="微软雅黑" panose="020B0503020204020204" pitchFamily="34" charset="-122"/>
                <a:ea typeface="微软雅黑" panose="020B0503020204020204" pitchFamily="34" charset="-122"/>
              </a:defRPr>
            </a:lvl1pPr>
          </a:lstStyle>
          <a:p>
            <a:fld id="{54BD5A17-3153-4A95-988E-B577C14000F1}" type="slidenum">
              <a:rPr lang="en-US" altLang="zh-CN" smtClean="0"/>
              <a:pPr/>
              <a:t>‹#›</a:t>
            </a:fld>
            <a:endParaRPr lang="en-US" altLang="zh-CN" dirty="0"/>
          </a:p>
        </p:txBody>
      </p:sp>
      <p:pic>
        <p:nvPicPr>
          <p:cNvPr id="13" name="图片 12"/>
          <p:cNvPicPr>
            <a:picLocks noChangeAspect="1"/>
          </p:cNvPicPr>
          <p:nvPr userDrawn="1"/>
        </p:nvPicPr>
        <p:blipFill>
          <a:blip r:embed="rId2"/>
          <a:stretch>
            <a:fillRect/>
          </a:stretch>
        </p:blipFill>
        <p:spPr>
          <a:xfrm>
            <a:off x="1" y="0"/>
            <a:ext cx="12193057" cy="664522"/>
          </a:xfrm>
          <a:prstGeom prst="rect">
            <a:avLst/>
          </a:prstGeom>
        </p:spPr>
      </p:pic>
      <p:sp>
        <p:nvSpPr>
          <p:cNvPr id="14" name="矩形 13"/>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9" name="矩形 18"/>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20" name="图片 19">
            <a:extLst>
              <a:ext uri="{FF2B5EF4-FFF2-40B4-BE49-F238E27FC236}">
                <a16:creationId xmlns:a16="http://schemas.microsoft.com/office/drawing/2014/main" id="{58D0DA17-9DEE-4C1A-A905-971DE981161A}"/>
              </a:ext>
            </a:extLst>
          </p:cNvPr>
          <p:cNvPicPr>
            <a:picLocks/>
          </p:cNvPicPr>
          <p:nvPr userDrawn="1"/>
        </p:nvPicPr>
        <p:blipFill>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1519200" cy="401413"/>
          </a:xfrm>
          <a:prstGeom prst="rect">
            <a:avLst/>
          </a:prstGeom>
        </p:spPr>
      </p:pic>
    </p:spTree>
    <p:extLst>
      <p:ext uri="{BB962C8B-B14F-4D97-AF65-F5344CB8AC3E}">
        <p14:creationId xmlns:p14="http://schemas.microsoft.com/office/powerpoint/2010/main" val="651306052"/>
      </p:ext>
    </p:extLst>
  </p:cSld>
  <p:clrMapOvr>
    <a:masterClrMapping/>
  </p:clrMapOvr>
  <p:extLst>
    <p:ext uri="{DCECCB84-F9BA-43D5-87BE-67443E8EF086}">
      <p15:sldGuideLst xmlns:p15="http://schemas.microsoft.com/office/powerpoint/2012/main">
        <p15:guide id="1" pos="3840" userDrawn="1">
          <p15:clr>
            <a:srgbClr val="FBAE40"/>
          </p15:clr>
        </p15:guide>
        <p15:guide id="2" pos="6924" userDrawn="1">
          <p15:clr>
            <a:srgbClr val="FBAE40"/>
          </p15:clr>
        </p15:guide>
        <p15:guide id="5" pos="2160" userDrawn="1">
          <p15:clr>
            <a:srgbClr val="FBAE40"/>
          </p15:clr>
        </p15:guide>
        <p15:guide id="6" pos="3895" userDrawn="1">
          <p15:clr>
            <a:srgbClr val="FBAE40"/>
          </p15:clr>
        </p15:guide>
        <p15:guide id="7" pos="2880" userDrawn="1">
          <p15:clr>
            <a:srgbClr val="FBAE40"/>
          </p15:clr>
        </p15:guide>
        <p15:guide id="8" pos="5193"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1_封面">
    <p:bg>
      <p:bgPr>
        <a:solidFill>
          <a:schemeClr val="accent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5498" y="4006448"/>
            <a:ext cx="11100025" cy="1114192"/>
          </a:xfrm>
          <a:prstGeom prst="rect">
            <a:avLst/>
          </a:prstGeom>
        </p:spPr>
        <p:txBody>
          <a:bodyPr anchor="ctr">
            <a:noAutofit/>
          </a:bodyPr>
          <a:lstStyle>
            <a:lvl1pPr algn="l">
              <a:lnSpc>
                <a:spcPct val="100000"/>
              </a:lnSpc>
              <a:defRPr sz="4000" b="1">
                <a:solidFill>
                  <a:schemeClr val="bg1"/>
                </a:solidFill>
                <a:latin typeface="+mj-ea"/>
                <a:ea typeface="+mj-ea"/>
              </a:defRPr>
            </a:lvl1pPr>
          </a:lstStyle>
          <a:p>
            <a:r>
              <a:rPr lang="zh-CN" altLang="en-US"/>
              <a:t>单击此处编辑母版标题样式</a:t>
            </a:r>
            <a:endParaRPr lang="zh-CN" altLang="en-US" dirty="0"/>
          </a:p>
        </p:txBody>
      </p:sp>
      <p:sp>
        <p:nvSpPr>
          <p:cNvPr id="6" name="副标题 2"/>
          <p:cNvSpPr>
            <a:spLocks noGrp="1"/>
          </p:cNvSpPr>
          <p:nvPr>
            <p:ph type="subTitle" idx="1"/>
          </p:nvPr>
        </p:nvSpPr>
        <p:spPr>
          <a:xfrm>
            <a:off x="625499" y="5245247"/>
            <a:ext cx="7760477" cy="468179"/>
          </a:xfrm>
        </p:spPr>
        <p:txBody>
          <a:bodyPr anchor="ctr">
            <a:noAutofit/>
          </a:bodyPr>
          <a:lstStyle>
            <a:lvl1pPr marL="0" indent="0" algn="l">
              <a:lnSpc>
                <a:spcPct val="100000"/>
              </a:lnSpc>
              <a:buNone/>
              <a:defRPr lang="zh-CN" altLang="en-US" sz="2400" b="0">
                <a:solidFill>
                  <a:schemeClr val="bg1"/>
                </a:solidFill>
                <a:latin typeface="+mn-ea"/>
                <a:cs typeface="+mj-cs"/>
              </a:defRPr>
            </a:lvl1pPr>
          </a:lstStyle>
          <a:p>
            <a:pPr marL="228600" lvl="0" indent="-228600" algn="ctr">
              <a:lnSpc>
                <a:spcPct val="90000"/>
              </a:lnSpc>
              <a:spcBef>
                <a:spcPct val="0"/>
              </a:spcBef>
            </a:pPr>
            <a:r>
              <a:rPr lang="zh-CN" altLang="en-US"/>
              <a:t>单击此处编辑母版副标题样式</a:t>
            </a:r>
            <a:endParaRPr lang="zh-CN" altLang="en-US" dirty="0"/>
          </a:p>
        </p:txBody>
      </p:sp>
      <p:sp>
        <p:nvSpPr>
          <p:cNvPr id="7" name="文本占位符 6"/>
          <p:cNvSpPr>
            <a:spLocks noGrp="1"/>
          </p:cNvSpPr>
          <p:nvPr>
            <p:ph type="body" sz="quarter" idx="10" hasCustomPrompt="1"/>
          </p:nvPr>
        </p:nvSpPr>
        <p:spPr>
          <a:xfrm>
            <a:off x="625499" y="5815087"/>
            <a:ext cx="5545667" cy="499004"/>
          </a:xfrm>
        </p:spPr>
        <p:txBody>
          <a:bodyPr>
            <a:noAutofit/>
          </a:bodyPr>
          <a:lstStyle>
            <a:lvl1pPr marL="0" indent="0">
              <a:lnSpc>
                <a:spcPct val="100000"/>
              </a:lnSpc>
              <a:buNone/>
              <a:defRPr sz="2400">
                <a:solidFill>
                  <a:schemeClr val="bg1"/>
                </a:solidFill>
              </a:defRPr>
            </a:lvl1pPr>
          </a:lstStyle>
          <a:p>
            <a:pPr lvl="0"/>
            <a:r>
              <a:rPr lang="zh-CN" altLang="en-US" dirty="0"/>
              <a:t>单击此处添加日期</a:t>
            </a:r>
          </a:p>
        </p:txBody>
      </p:sp>
      <p:pic>
        <p:nvPicPr>
          <p:cNvPr id="10" name="图片 9"/>
          <p:cNvPicPr>
            <a:picLocks noChangeAspect="1"/>
          </p:cNvPicPr>
          <p:nvPr/>
        </p:nvPicPr>
        <p:blipFill rotWithShape="1">
          <a:blip r:embed="rId2">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11" name="直接连接符 10"/>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userDrawn="1"/>
        </p:nvPicPr>
        <p:blipFill rotWithShape="1">
          <a:blip r:embed="rId2">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9" name="直接连接符 8"/>
          <p:cNvCxnSpPr/>
          <p:nvPr userDrawn="1"/>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CB80D6CC-DE37-4710-B760-C4B00A25F13B}"/>
              </a:ext>
            </a:extLst>
          </p:cNvPr>
          <p:cNvPicPr>
            <a:picLocks/>
          </p:cNvPicPr>
          <p:nvPr userDrawn="1"/>
        </p:nvPicPr>
        <p:blipFill>
          <a:blip r:embed="rId3" cstate="print">
            <a:extLst>
              <a:ext uri="{28A0092B-C50C-407E-A947-70E740481C1C}">
                <a14:useLocalDpi xmlns:a14="http://schemas.microsoft.com/office/drawing/2010/main" val="0"/>
              </a:ext>
            </a:extLst>
          </a:blip>
          <a:stretch>
            <a:fillRect/>
          </a:stretch>
        </p:blipFill>
        <p:spPr>
          <a:xfrm>
            <a:off x="9356006" y="6034568"/>
            <a:ext cx="2458800" cy="650876"/>
          </a:xfrm>
          <a:prstGeom prst="rect">
            <a:avLst/>
          </a:prstGeom>
        </p:spPr>
      </p:pic>
    </p:spTree>
    <p:extLst>
      <p:ext uri="{BB962C8B-B14F-4D97-AF65-F5344CB8AC3E}">
        <p14:creationId xmlns:p14="http://schemas.microsoft.com/office/powerpoint/2010/main" val="2252060996"/>
      </p:ext>
    </p:extLst>
  </p:cSld>
  <p:clrMapOvr>
    <a:masterClrMapping/>
  </p:clrMapOvr>
  <p:extLst>
    <p:ext uri="{DCECCB84-F9BA-43D5-87BE-67443E8EF086}">
      <p15:sldGuideLst xmlns:p15="http://schemas.microsoft.com/office/powerpoint/2012/main">
        <p15:guide id="2" pos="393" userDrawn="1">
          <p15:clr>
            <a:srgbClr val="FBAE40"/>
          </p15:clr>
        </p15:guide>
        <p15:guide id="3" orient="horz" pos="2160" userDrawn="1">
          <p15:clr>
            <a:srgbClr val="FBAE40"/>
          </p15:clr>
        </p15:guide>
        <p15:guide id="4" pos="221"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cSld name="封底">
    <p:bg>
      <p:bgPr>
        <a:solidFill>
          <a:schemeClr val="accent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1966" y="3608990"/>
            <a:ext cx="4029124" cy="799946"/>
          </a:xfrm>
          <a:prstGeom prst="rect">
            <a:avLst/>
          </a:prstGeom>
        </p:spPr>
      </p:pic>
      <p:sp>
        <p:nvSpPr>
          <p:cNvPr id="3" name="标题 2"/>
          <p:cNvSpPr>
            <a:spLocks noGrp="1"/>
          </p:cNvSpPr>
          <p:nvPr>
            <p:ph type="title"/>
          </p:nvPr>
        </p:nvSpPr>
        <p:spPr>
          <a:xfrm>
            <a:off x="650528" y="1371600"/>
            <a:ext cx="11213989" cy="926932"/>
          </a:xfrm>
        </p:spPr>
        <p:txBody>
          <a:bodyPr>
            <a:noAutofit/>
          </a:bodyPr>
          <a:lstStyle>
            <a:lvl1pPr algn="ctr">
              <a:defRPr sz="6600" b="1">
                <a:solidFill>
                  <a:schemeClr val="bg1"/>
                </a:solidFill>
              </a:defRPr>
            </a:lvl1pPr>
          </a:lstStyle>
          <a:p>
            <a:r>
              <a:rPr lang="zh-CN" altLang="en-US"/>
              <a:t>单击此处编辑母版标题样式</a:t>
            </a:r>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spTree>
    <p:extLst>
      <p:ext uri="{BB962C8B-B14F-4D97-AF65-F5344CB8AC3E}">
        <p14:creationId xmlns:p14="http://schemas.microsoft.com/office/powerpoint/2010/main" val="1380372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image" Target="../media/image3.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microsoft.com/office/2007/relationships/hdphoto" Target="../media/hdphoto2.wdp"/><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p:nvPicPr>
        <p:blipFill>
          <a:blip r:embed="rId18"/>
          <a:stretch>
            <a:fillRect/>
          </a:stretch>
        </p:blipFill>
        <p:spPr>
          <a:xfrm>
            <a:off x="1" y="0"/>
            <a:ext cx="12193057" cy="664522"/>
          </a:xfrm>
          <a:prstGeom prst="rect">
            <a:avLst/>
          </a:prstGeom>
        </p:spPr>
      </p:pic>
      <p:sp>
        <p:nvSpPr>
          <p:cNvPr id="6" name="文本占位符 5"/>
          <p:cNvSpPr>
            <a:spLocks noGrp="1"/>
          </p:cNvSpPr>
          <p:nvPr>
            <p:ph type="body" idx="1"/>
          </p:nvPr>
        </p:nvSpPr>
        <p:spPr>
          <a:xfrm>
            <a:off x="551292" y="1673352"/>
            <a:ext cx="11120561" cy="4999840"/>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矩形 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p:nvPicPr>
        <p:blipFill>
          <a:blip r:embed="rId19" cstate="print">
            <a:extLst>
              <a:ext uri="{BEBA8EAE-BF5A-486C-A8C5-ECC9F3942E4B}">
                <a14:imgProps xmlns:a14="http://schemas.microsoft.com/office/drawing/2010/main">
                  <a14:imgLayer r:embed="rId20">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p:nvPicPr>
        <p:blipFill>
          <a:blip r:embed="rId21"/>
          <a:stretch>
            <a:fillRect/>
          </a:stretch>
        </p:blipFill>
        <p:spPr>
          <a:xfrm>
            <a:off x="0" y="1231683"/>
            <a:ext cx="12192000" cy="332713"/>
          </a:xfrm>
          <a:prstGeom prst="rect">
            <a:avLst/>
          </a:prstGeom>
        </p:spPr>
      </p:pic>
      <p:sp>
        <p:nvSpPr>
          <p:cNvPr id="4" name="标题占位符 3"/>
          <p:cNvSpPr>
            <a:spLocks noGrp="1"/>
          </p:cNvSpPr>
          <p:nvPr>
            <p:ph type="title"/>
          </p:nvPr>
        </p:nvSpPr>
        <p:spPr>
          <a:xfrm>
            <a:off x="551291" y="863021"/>
            <a:ext cx="11213989" cy="701375"/>
          </a:xfrm>
          <a:prstGeom prst="rect">
            <a:avLst/>
          </a:prstGeom>
        </p:spPr>
        <p:txBody>
          <a:bodyPr vert="horz" lIns="91440" tIns="45720" rIns="91440" bIns="45720" rtlCol="0" anchor="ctr">
            <a:normAutofit/>
          </a:bodyPr>
          <a:lstStyle/>
          <a:p>
            <a:r>
              <a:rPr lang="zh-CN" altLang="en-US"/>
              <a:t>单击此处编辑母版标题样式</a:t>
            </a:r>
          </a:p>
        </p:txBody>
      </p:sp>
      <p:pic>
        <p:nvPicPr>
          <p:cNvPr id="9" name="图片 8"/>
          <p:cNvPicPr>
            <a:picLocks noChangeAspect="1"/>
          </p:cNvPicPr>
          <p:nvPr userDrawn="1"/>
        </p:nvPicPr>
        <p:blipFill>
          <a:blip r:embed="rId18"/>
          <a:stretch>
            <a:fillRect/>
          </a:stretch>
        </p:blipFill>
        <p:spPr>
          <a:xfrm>
            <a:off x="1" y="0"/>
            <a:ext cx="12193057" cy="664522"/>
          </a:xfrm>
          <a:prstGeom prst="rect">
            <a:avLst/>
          </a:prstGeom>
        </p:spPr>
      </p:pic>
      <p:sp>
        <p:nvSpPr>
          <p:cNvPr id="11" name="矩形 10"/>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5" name="图片 14"/>
          <p:cNvPicPr>
            <a:picLocks/>
          </p:cNvPicPr>
          <p:nvPr userDrawn="1"/>
        </p:nvPicPr>
        <p:blipFill>
          <a:blip r:embed="rId22" cstate="print">
            <a:extLst>
              <a:ext uri="{BEBA8EAE-BF5A-486C-A8C5-ECC9F3942E4B}">
                <a14:imgProps xmlns:a14="http://schemas.microsoft.com/office/drawing/2010/main">
                  <a14:imgLayer r:embed="rId2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1519200" cy="401413"/>
          </a:xfrm>
          <a:prstGeom prst="rect">
            <a:avLst/>
          </a:prstGeom>
        </p:spPr>
      </p:pic>
      <p:sp>
        <p:nvSpPr>
          <p:cNvPr id="16" name="矩形 15"/>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7" name="图片 16"/>
          <p:cNvPicPr>
            <a:picLocks noChangeAspect="1"/>
          </p:cNvPicPr>
          <p:nvPr userDrawn="1"/>
        </p:nvPicPr>
        <p:blipFill>
          <a:blip r:embed="rId21"/>
          <a:stretch>
            <a:fillRect/>
          </a:stretch>
        </p:blipFill>
        <p:spPr>
          <a:xfrm>
            <a:off x="0" y="1231683"/>
            <a:ext cx="12192000" cy="332713"/>
          </a:xfrm>
          <a:prstGeom prst="rect">
            <a:avLst/>
          </a:prstGeom>
        </p:spPr>
      </p:pic>
    </p:spTree>
    <p:extLst>
      <p:ext uri="{BB962C8B-B14F-4D97-AF65-F5344CB8AC3E}">
        <p14:creationId xmlns:p14="http://schemas.microsoft.com/office/powerpoint/2010/main" val="3265737396"/>
      </p:ext>
    </p:extLst>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 id="2147483814" r:id="rId12"/>
    <p:sldLayoutId id="2147483815" r:id="rId13"/>
    <p:sldLayoutId id="2147483816" r:id="rId14"/>
    <p:sldLayoutId id="2147483817" r:id="rId15"/>
    <p:sldLayoutId id="2147483818" r:id="rId16"/>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Calibri" panose="020F050202020403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9.png"/><Relationship Id="rId7"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7.jpg"/><Relationship Id="rId7"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40.png"/><Relationship Id="rId4" Type="http://schemas.openxmlformats.org/officeDocument/2006/relationships/image" Target="../media/image330.png"/></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base"/>
            <a:r>
              <a:rPr lang="en-US" altLang="zh-CN" sz="3600" dirty="0">
                <a:latin typeface="Times New Roman" panose="02020603050405020304" pitchFamily="18" charset="0"/>
                <a:cs typeface="Times New Roman" panose="02020603050405020304" pitchFamily="18" charset="0"/>
              </a:rPr>
              <a:t>Multi-alert Correlation in Intrusion Detection System</a:t>
            </a:r>
            <a:endParaRPr lang="zh-CN" altLang="en-US" sz="3600" dirty="0">
              <a:latin typeface="Times New Roman" panose="02020603050405020304" pitchFamily="18" charset="0"/>
              <a:cs typeface="Times New Roman" panose="02020603050405020304" pitchFamily="18" charset="0"/>
            </a:endParaRPr>
          </a:p>
        </p:txBody>
      </p:sp>
      <p:sp>
        <p:nvSpPr>
          <p:cNvPr id="5" name="副标题 4"/>
          <p:cNvSpPr>
            <a:spLocks noGrp="1"/>
          </p:cNvSpPr>
          <p:nvPr>
            <p:ph type="subTitle" idx="1"/>
          </p:nvPr>
        </p:nvSpPr>
        <p:spPr/>
        <p:txBody>
          <a:bodyPr/>
          <a:lstStyle/>
          <a:p>
            <a:r>
              <a:rPr lang="zh-CN" altLang="en-US" dirty="0"/>
              <a:t>主讲人：吴佳航  陈景韬      指导老师：桂佳平</a:t>
            </a:r>
          </a:p>
        </p:txBody>
      </p:sp>
      <p:sp>
        <p:nvSpPr>
          <p:cNvPr id="6" name="文本占位符 5"/>
          <p:cNvSpPr>
            <a:spLocks noGrp="1"/>
          </p:cNvSpPr>
          <p:nvPr>
            <p:ph type="body" sz="quarter" idx="10"/>
          </p:nvPr>
        </p:nvSpPr>
        <p:spPr/>
        <p:txBody>
          <a:bodyPr/>
          <a:lstStyle/>
          <a:p>
            <a:r>
              <a:rPr lang="en-US" altLang="zh-CN" dirty="0"/>
              <a:t>2025</a:t>
            </a:r>
            <a:r>
              <a:rPr lang="zh-CN" altLang="en-US" dirty="0"/>
              <a:t>年</a:t>
            </a:r>
            <a:r>
              <a:rPr lang="en-US" altLang="zh-CN" dirty="0"/>
              <a:t>10</a:t>
            </a:r>
            <a:r>
              <a:rPr lang="zh-CN" altLang="en-US" dirty="0"/>
              <a:t>月</a:t>
            </a:r>
          </a:p>
        </p:txBody>
      </p:sp>
    </p:spTree>
    <p:extLst>
      <p:ext uri="{BB962C8B-B14F-4D97-AF65-F5344CB8AC3E}">
        <p14:creationId xmlns:p14="http://schemas.microsoft.com/office/powerpoint/2010/main" val="2049770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0F7D5-C4F3-704E-FA35-1D8B812BCD7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C01A240-B147-AE4D-B2B7-A507E5F4AB77}"/>
              </a:ext>
            </a:extLst>
          </p:cNvPr>
          <p:cNvSpPr>
            <a:spLocks noGrp="1"/>
          </p:cNvSpPr>
          <p:nvPr>
            <p:ph type="title"/>
          </p:nvPr>
        </p:nvSpPr>
        <p:spPr/>
        <p:txBody>
          <a:bodyPr>
            <a:normAutofit fontScale="90000"/>
          </a:bodyPr>
          <a:lstStyle/>
          <a:p>
            <a:r>
              <a:rPr lang="en-US" altLang="zh-CN" dirty="0">
                <a:latin typeface="微软雅黑" panose="020B0503020204020204" pitchFamily="34" charset="-122"/>
                <a:ea typeface="微软雅黑" panose="020B0503020204020204" pitchFamily="34" charset="-122"/>
              </a:rPr>
              <a:t>Contents</a:t>
            </a:r>
            <a:endParaRPr lang="zh-CN" altLang="en-US" dirty="0">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DB5E5005-6ED9-2A96-FD71-AF7798779BDB}"/>
              </a:ext>
            </a:extLst>
          </p:cNvPr>
          <p:cNvGrpSpPr/>
          <p:nvPr/>
        </p:nvGrpSpPr>
        <p:grpSpPr>
          <a:xfrm>
            <a:off x="3365536" y="1303550"/>
            <a:ext cx="843427" cy="443226"/>
            <a:chOff x="666810" y="2586037"/>
            <a:chExt cx="468000" cy="245937"/>
          </a:xfrm>
        </p:grpSpPr>
        <p:sp>
          <p:nvSpPr>
            <p:cNvPr id="4" name="Freeform 10">
              <a:extLst>
                <a:ext uri="{FF2B5EF4-FFF2-40B4-BE49-F238E27FC236}">
                  <a16:creationId xmlns:a16="http://schemas.microsoft.com/office/drawing/2014/main" id="{8ADC45C4-8FED-EA3B-BE73-A119F8580B3D}"/>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accent1"/>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5" name="文本框 4">
              <a:extLst>
                <a:ext uri="{FF2B5EF4-FFF2-40B4-BE49-F238E27FC236}">
                  <a16:creationId xmlns:a16="http://schemas.microsoft.com/office/drawing/2014/main" id="{3A98E075-EA60-811A-4635-95D94B1B4F51}"/>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1</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7" name="直接连接符 6">
            <a:extLst>
              <a:ext uri="{FF2B5EF4-FFF2-40B4-BE49-F238E27FC236}">
                <a16:creationId xmlns:a16="http://schemas.microsoft.com/office/drawing/2014/main" id="{2874DBFA-7690-AE5C-667E-582DF18A0E62}"/>
              </a:ext>
            </a:extLst>
          </p:cNvPr>
          <p:cNvCxnSpPr>
            <a:stCxn id="4" idx="6"/>
          </p:cNvCxnSpPr>
          <p:nvPr/>
        </p:nvCxnSpPr>
        <p:spPr>
          <a:xfrm>
            <a:off x="4058033" y="1711215"/>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C24A37C5-C4D1-B0FE-EF56-ECBD46E1DE65}"/>
              </a:ext>
            </a:extLst>
          </p:cNvPr>
          <p:cNvSpPr txBox="1"/>
          <p:nvPr/>
        </p:nvSpPr>
        <p:spPr>
          <a:xfrm>
            <a:off x="4439073" y="1274735"/>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Background</a:t>
            </a:r>
            <a:endParaRPr lang="zh-CN" altLang="en-US" sz="2400" b="1" dirty="0">
              <a:latin typeface="+mn-ea"/>
              <a:cs typeface="Times New Roman" panose="02020603050405020304" pitchFamily="18" charset="0"/>
            </a:endParaRPr>
          </a:p>
        </p:txBody>
      </p:sp>
      <p:grpSp>
        <p:nvGrpSpPr>
          <p:cNvPr id="12" name="组合 11">
            <a:extLst>
              <a:ext uri="{FF2B5EF4-FFF2-40B4-BE49-F238E27FC236}">
                <a16:creationId xmlns:a16="http://schemas.microsoft.com/office/drawing/2014/main" id="{46B1499A-E2C6-6182-68C2-31B3987B0006}"/>
              </a:ext>
            </a:extLst>
          </p:cNvPr>
          <p:cNvGrpSpPr/>
          <p:nvPr/>
        </p:nvGrpSpPr>
        <p:grpSpPr>
          <a:xfrm>
            <a:off x="3365536" y="2223523"/>
            <a:ext cx="843427" cy="443226"/>
            <a:chOff x="666810" y="2586037"/>
            <a:chExt cx="468000" cy="245937"/>
          </a:xfrm>
        </p:grpSpPr>
        <p:sp>
          <p:nvSpPr>
            <p:cNvPr id="13" name="Freeform 10">
              <a:extLst>
                <a:ext uri="{FF2B5EF4-FFF2-40B4-BE49-F238E27FC236}">
                  <a16:creationId xmlns:a16="http://schemas.microsoft.com/office/drawing/2014/main" id="{5DF367F2-A315-15B2-7C11-0D92A16A564D}"/>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accent1"/>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4" name="文本框 13">
              <a:extLst>
                <a:ext uri="{FF2B5EF4-FFF2-40B4-BE49-F238E27FC236}">
                  <a16:creationId xmlns:a16="http://schemas.microsoft.com/office/drawing/2014/main" id="{4B994F39-6201-BD7A-6740-B264D84CB72E}"/>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2</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15" name="直接连接符 14">
            <a:extLst>
              <a:ext uri="{FF2B5EF4-FFF2-40B4-BE49-F238E27FC236}">
                <a16:creationId xmlns:a16="http://schemas.microsoft.com/office/drawing/2014/main" id="{D214E7D8-9692-A948-93A7-A825972971B5}"/>
              </a:ext>
            </a:extLst>
          </p:cNvPr>
          <p:cNvCxnSpPr>
            <a:stCxn id="13" idx="6"/>
          </p:cNvCxnSpPr>
          <p:nvPr/>
        </p:nvCxnSpPr>
        <p:spPr>
          <a:xfrm>
            <a:off x="4058033" y="2631188"/>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6DE3BF66-2883-CF54-A9DE-69DAC8287873}"/>
              </a:ext>
            </a:extLst>
          </p:cNvPr>
          <p:cNvSpPr txBox="1"/>
          <p:nvPr/>
        </p:nvSpPr>
        <p:spPr>
          <a:xfrm>
            <a:off x="4439073" y="2194708"/>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Nexus</a:t>
            </a:r>
            <a:r>
              <a:rPr lang="zh-CN" altLang="en-US" sz="2400" b="1" dirty="0">
                <a:latin typeface="+mn-ea"/>
                <a:cs typeface="Times New Roman" panose="02020603050405020304" pitchFamily="18" charset="0"/>
              </a:rPr>
              <a:t> </a:t>
            </a:r>
            <a:r>
              <a:rPr lang="en-US" altLang="zh-CN" sz="2400" b="1" dirty="0">
                <a:latin typeface="+mn-ea"/>
                <a:cs typeface="Times New Roman" panose="02020603050405020304" pitchFamily="18" charset="0"/>
              </a:rPr>
              <a:t>Design</a:t>
            </a:r>
            <a:endParaRPr lang="zh-CN" altLang="en-US" sz="2400" b="1" dirty="0">
              <a:latin typeface="+mn-ea"/>
              <a:cs typeface="Times New Roman" panose="02020603050405020304" pitchFamily="18" charset="0"/>
            </a:endParaRPr>
          </a:p>
        </p:txBody>
      </p:sp>
      <p:grpSp>
        <p:nvGrpSpPr>
          <p:cNvPr id="17" name="组合 16">
            <a:extLst>
              <a:ext uri="{FF2B5EF4-FFF2-40B4-BE49-F238E27FC236}">
                <a16:creationId xmlns:a16="http://schemas.microsoft.com/office/drawing/2014/main" id="{7B787E37-F369-202C-D74A-15EEB744399A}"/>
              </a:ext>
            </a:extLst>
          </p:cNvPr>
          <p:cNvGrpSpPr/>
          <p:nvPr/>
        </p:nvGrpSpPr>
        <p:grpSpPr>
          <a:xfrm>
            <a:off x="3365536" y="3143496"/>
            <a:ext cx="843427" cy="443226"/>
            <a:chOff x="666810" y="2586037"/>
            <a:chExt cx="468000" cy="245937"/>
          </a:xfrm>
        </p:grpSpPr>
        <p:sp>
          <p:nvSpPr>
            <p:cNvPr id="18" name="Freeform 10">
              <a:extLst>
                <a:ext uri="{FF2B5EF4-FFF2-40B4-BE49-F238E27FC236}">
                  <a16:creationId xmlns:a16="http://schemas.microsoft.com/office/drawing/2014/main" id="{4F4F8A57-B9EE-13BC-0978-5FCB0A7EF2F6}"/>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accent1"/>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9" name="文本框 18">
              <a:extLst>
                <a:ext uri="{FF2B5EF4-FFF2-40B4-BE49-F238E27FC236}">
                  <a16:creationId xmlns:a16="http://schemas.microsoft.com/office/drawing/2014/main" id="{B331B2EF-7A6A-4EA1-D336-EF5008EB3185}"/>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3</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20" name="直接连接符 19">
            <a:extLst>
              <a:ext uri="{FF2B5EF4-FFF2-40B4-BE49-F238E27FC236}">
                <a16:creationId xmlns:a16="http://schemas.microsoft.com/office/drawing/2014/main" id="{1CFDD08B-276D-3F34-A509-753FB701F527}"/>
              </a:ext>
            </a:extLst>
          </p:cNvPr>
          <p:cNvCxnSpPr>
            <a:stCxn id="18" idx="6"/>
          </p:cNvCxnSpPr>
          <p:nvPr/>
        </p:nvCxnSpPr>
        <p:spPr>
          <a:xfrm>
            <a:off x="4058033" y="3551161"/>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F6AD3F57-2B72-FBBA-DC2B-567CF83A3E44}"/>
              </a:ext>
            </a:extLst>
          </p:cNvPr>
          <p:cNvSpPr txBox="1"/>
          <p:nvPr/>
        </p:nvSpPr>
        <p:spPr>
          <a:xfrm>
            <a:off x="4439073" y="3114681"/>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Experiment Result</a:t>
            </a:r>
            <a:endParaRPr lang="zh-CN" altLang="en-US" sz="2400" b="1" dirty="0">
              <a:latin typeface="+mn-ea"/>
              <a:cs typeface="Times New Roman" panose="02020603050405020304" pitchFamily="18" charset="0"/>
            </a:endParaRPr>
          </a:p>
        </p:txBody>
      </p:sp>
      <p:grpSp>
        <p:nvGrpSpPr>
          <p:cNvPr id="22" name="组合 21">
            <a:extLst>
              <a:ext uri="{FF2B5EF4-FFF2-40B4-BE49-F238E27FC236}">
                <a16:creationId xmlns:a16="http://schemas.microsoft.com/office/drawing/2014/main" id="{BE49BEF8-7665-2659-F968-C564C4DB4FD7}"/>
              </a:ext>
            </a:extLst>
          </p:cNvPr>
          <p:cNvGrpSpPr/>
          <p:nvPr/>
        </p:nvGrpSpPr>
        <p:grpSpPr>
          <a:xfrm>
            <a:off x="3365536" y="4063469"/>
            <a:ext cx="843427" cy="443226"/>
            <a:chOff x="666810" y="2586037"/>
            <a:chExt cx="468000" cy="245937"/>
          </a:xfrm>
        </p:grpSpPr>
        <p:sp>
          <p:nvSpPr>
            <p:cNvPr id="23" name="Freeform 10">
              <a:extLst>
                <a:ext uri="{FF2B5EF4-FFF2-40B4-BE49-F238E27FC236}">
                  <a16:creationId xmlns:a16="http://schemas.microsoft.com/office/drawing/2014/main" id="{8EF60ECA-1371-2911-25D4-5DDB9AC890B2}"/>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accent1"/>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24" name="文本框 23">
              <a:extLst>
                <a:ext uri="{FF2B5EF4-FFF2-40B4-BE49-F238E27FC236}">
                  <a16:creationId xmlns:a16="http://schemas.microsoft.com/office/drawing/2014/main" id="{3BDBED59-3921-A243-62B0-7BB011423C5D}"/>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4</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25" name="直接连接符 24">
            <a:extLst>
              <a:ext uri="{FF2B5EF4-FFF2-40B4-BE49-F238E27FC236}">
                <a16:creationId xmlns:a16="http://schemas.microsoft.com/office/drawing/2014/main" id="{AF99228F-AC03-E308-93DB-1B96477F28C6}"/>
              </a:ext>
            </a:extLst>
          </p:cNvPr>
          <p:cNvCxnSpPr>
            <a:stCxn id="23" idx="6"/>
          </p:cNvCxnSpPr>
          <p:nvPr/>
        </p:nvCxnSpPr>
        <p:spPr>
          <a:xfrm>
            <a:off x="4058033" y="4471134"/>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04EB92EE-51A5-3629-BC2A-5ECE89548814}"/>
              </a:ext>
            </a:extLst>
          </p:cNvPr>
          <p:cNvSpPr txBox="1"/>
          <p:nvPr/>
        </p:nvSpPr>
        <p:spPr>
          <a:xfrm>
            <a:off x="4439073" y="4034654"/>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Discussion</a:t>
            </a:r>
            <a:endParaRPr lang="zh-CN" altLang="en-US" sz="2400" b="1" dirty="0">
              <a:latin typeface="+mn-ea"/>
              <a:cs typeface="Times New Roman" panose="02020603050405020304" pitchFamily="18" charset="0"/>
            </a:endParaRPr>
          </a:p>
        </p:txBody>
      </p:sp>
      <p:grpSp>
        <p:nvGrpSpPr>
          <p:cNvPr id="32" name="组合 31">
            <a:extLst>
              <a:ext uri="{FF2B5EF4-FFF2-40B4-BE49-F238E27FC236}">
                <a16:creationId xmlns:a16="http://schemas.microsoft.com/office/drawing/2014/main" id="{56919C90-6F71-728F-DBDE-2AD52F777524}"/>
              </a:ext>
            </a:extLst>
          </p:cNvPr>
          <p:cNvGrpSpPr/>
          <p:nvPr/>
        </p:nvGrpSpPr>
        <p:grpSpPr>
          <a:xfrm>
            <a:off x="3365536" y="4983444"/>
            <a:ext cx="843427" cy="443226"/>
            <a:chOff x="666810" y="2586037"/>
            <a:chExt cx="468000" cy="245937"/>
          </a:xfrm>
        </p:grpSpPr>
        <p:sp>
          <p:nvSpPr>
            <p:cNvPr id="33" name="Freeform 10">
              <a:extLst>
                <a:ext uri="{FF2B5EF4-FFF2-40B4-BE49-F238E27FC236}">
                  <a16:creationId xmlns:a16="http://schemas.microsoft.com/office/drawing/2014/main" id="{FEE746A7-ECD3-13E4-C219-F038E119F4E6}"/>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accent1"/>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34" name="文本框 33">
              <a:extLst>
                <a:ext uri="{FF2B5EF4-FFF2-40B4-BE49-F238E27FC236}">
                  <a16:creationId xmlns:a16="http://schemas.microsoft.com/office/drawing/2014/main" id="{B0F23B3D-099E-7FFD-5071-0CD3DD72022E}"/>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5</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35" name="直接连接符 34">
            <a:extLst>
              <a:ext uri="{FF2B5EF4-FFF2-40B4-BE49-F238E27FC236}">
                <a16:creationId xmlns:a16="http://schemas.microsoft.com/office/drawing/2014/main" id="{76D84579-4ED7-BA38-2DDA-991EDEEEEA18}"/>
              </a:ext>
            </a:extLst>
          </p:cNvPr>
          <p:cNvCxnSpPr>
            <a:stCxn id="33" idx="6"/>
          </p:cNvCxnSpPr>
          <p:nvPr/>
        </p:nvCxnSpPr>
        <p:spPr>
          <a:xfrm>
            <a:off x="4058033" y="5391109"/>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54B7CF75-5D3E-998F-4550-9233503E38FE}"/>
              </a:ext>
            </a:extLst>
          </p:cNvPr>
          <p:cNvSpPr txBox="1"/>
          <p:nvPr/>
        </p:nvSpPr>
        <p:spPr>
          <a:xfrm>
            <a:off x="4439073" y="4954629"/>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Conclusion</a:t>
            </a:r>
            <a:endParaRPr lang="zh-CN" altLang="en-US" sz="2400" b="1" dirty="0">
              <a:latin typeface="+mn-ea"/>
              <a:cs typeface="Times New Roman" panose="02020603050405020304" pitchFamily="18" charset="0"/>
            </a:endParaRPr>
          </a:p>
        </p:txBody>
      </p:sp>
    </p:spTree>
    <p:extLst>
      <p:ext uri="{BB962C8B-B14F-4D97-AF65-F5344CB8AC3E}">
        <p14:creationId xmlns:p14="http://schemas.microsoft.com/office/powerpoint/2010/main" val="3834291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79C3F-B1C5-D659-B4DB-8C622C86AFE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B91D3E6-0577-A56D-99E6-B54751A0448A}"/>
              </a:ext>
            </a:extLst>
          </p:cNvPr>
          <p:cNvSpPr>
            <a:spLocks noGrp="1"/>
          </p:cNvSpPr>
          <p:nvPr>
            <p:ph type="title"/>
          </p:nvPr>
        </p:nvSpPr>
        <p:spPr/>
        <p:txBody>
          <a:bodyPr>
            <a:normAutofit fontScale="90000"/>
          </a:bodyPr>
          <a:lstStyle/>
          <a:p>
            <a:r>
              <a:rPr lang="en-US" altLang="zh-CN" dirty="0">
                <a:latin typeface="微软雅黑" panose="020B0503020204020204" pitchFamily="34" charset="-122"/>
                <a:ea typeface="微软雅黑" panose="020B0503020204020204" pitchFamily="34" charset="-122"/>
              </a:rPr>
              <a:t>Contents</a:t>
            </a:r>
            <a:endParaRPr lang="zh-CN" altLang="en-US" dirty="0">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E6E03568-AB9B-7CA7-4FEA-41FC80E758B3}"/>
              </a:ext>
            </a:extLst>
          </p:cNvPr>
          <p:cNvGrpSpPr/>
          <p:nvPr/>
        </p:nvGrpSpPr>
        <p:grpSpPr>
          <a:xfrm>
            <a:off x="3365536" y="1303550"/>
            <a:ext cx="843427" cy="443226"/>
            <a:chOff x="666810" y="2586037"/>
            <a:chExt cx="468000" cy="245937"/>
          </a:xfrm>
        </p:grpSpPr>
        <p:sp>
          <p:nvSpPr>
            <p:cNvPr id="4" name="Freeform 10">
              <a:extLst>
                <a:ext uri="{FF2B5EF4-FFF2-40B4-BE49-F238E27FC236}">
                  <a16:creationId xmlns:a16="http://schemas.microsoft.com/office/drawing/2014/main" id="{E10F73C8-A29C-068F-5F44-3FE5CFE76AD9}"/>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accent1"/>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5" name="文本框 4">
              <a:extLst>
                <a:ext uri="{FF2B5EF4-FFF2-40B4-BE49-F238E27FC236}">
                  <a16:creationId xmlns:a16="http://schemas.microsoft.com/office/drawing/2014/main" id="{B0286A0E-926D-8883-AEC5-08E067002559}"/>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1</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7" name="直接连接符 6">
            <a:extLst>
              <a:ext uri="{FF2B5EF4-FFF2-40B4-BE49-F238E27FC236}">
                <a16:creationId xmlns:a16="http://schemas.microsoft.com/office/drawing/2014/main" id="{D0B70C2C-5A33-24A1-F7CB-65A0DBED1F20}"/>
              </a:ext>
            </a:extLst>
          </p:cNvPr>
          <p:cNvCxnSpPr>
            <a:stCxn id="4" idx="6"/>
          </p:cNvCxnSpPr>
          <p:nvPr/>
        </p:nvCxnSpPr>
        <p:spPr>
          <a:xfrm>
            <a:off x="4058033" y="1711215"/>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7C9DFD02-B774-93A7-4D3D-064F1BC2D93B}"/>
              </a:ext>
            </a:extLst>
          </p:cNvPr>
          <p:cNvSpPr txBox="1"/>
          <p:nvPr/>
        </p:nvSpPr>
        <p:spPr>
          <a:xfrm>
            <a:off x="4439073" y="1274735"/>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Background</a:t>
            </a:r>
            <a:endParaRPr lang="zh-CN" altLang="en-US" sz="2400" b="1" dirty="0">
              <a:latin typeface="+mn-ea"/>
              <a:cs typeface="Times New Roman" panose="02020603050405020304" pitchFamily="18" charset="0"/>
            </a:endParaRPr>
          </a:p>
        </p:txBody>
      </p:sp>
      <p:grpSp>
        <p:nvGrpSpPr>
          <p:cNvPr id="12" name="组合 11">
            <a:extLst>
              <a:ext uri="{FF2B5EF4-FFF2-40B4-BE49-F238E27FC236}">
                <a16:creationId xmlns:a16="http://schemas.microsoft.com/office/drawing/2014/main" id="{9D95B492-4CE3-9973-7612-BA56CC49A0CD}"/>
              </a:ext>
            </a:extLst>
          </p:cNvPr>
          <p:cNvGrpSpPr/>
          <p:nvPr/>
        </p:nvGrpSpPr>
        <p:grpSpPr>
          <a:xfrm>
            <a:off x="3365536" y="2223523"/>
            <a:ext cx="843427" cy="443226"/>
            <a:chOff x="666810" y="2586037"/>
            <a:chExt cx="468000" cy="245937"/>
          </a:xfrm>
          <a:solidFill>
            <a:schemeClr val="bg2"/>
          </a:solidFill>
        </p:grpSpPr>
        <p:sp>
          <p:nvSpPr>
            <p:cNvPr id="13" name="Freeform 10">
              <a:extLst>
                <a:ext uri="{FF2B5EF4-FFF2-40B4-BE49-F238E27FC236}">
                  <a16:creationId xmlns:a16="http://schemas.microsoft.com/office/drawing/2014/main" id="{C832B2BE-CD56-691A-136A-898D4E218149}"/>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grp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4" name="文本框 13">
              <a:extLst>
                <a:ext uri="{FF2B5EF4-FFF2-40B4-BE49-F238E27FC236}">
                  <a16:creationId xmlns:a16="http://schemas.microsoft.com/office/drawing/2014/main" id="{6E2FA700-ADF3-10AD-8B1C-C5009410C04F}"/>
                </a:ext>
              </a:extLst>
            </p:cNvPr>
            <p:cNvSpPr txBox="1"/>
            <p:nvPr userDrawn="1"/>
          </p:nvSpPr>
          <p:spPr>
            <a:xfrm>
              <a:off x="794494" y="2586037"/>
              <a:ext cx="212633" cy="245937"/>
            </a:xfrm>
            <a:prstGeom prst="rect">
              <a:avLst/>
            </a:prstGeom>
            <a:noFill/>
            <a:ln>
              <a:noFill/>
            </a:ln>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2</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15" name="直接连接符 14">
            <a:extLst>
              <a:ext uri="{FF2B5EF4-FFF2-40B4-BE49-F238E27FC236}">
                <a16:creationId xmlns:a16="http://schemas.microsoft.com/office/drawing/2014/main" id="{15C81F17-B9A3-7D3F-AF47-00651AD7F3DB}"/>
              </a:ext>
            </a:extLst>
          </p:cNvPr>
          <p:cNvCxnSpPr>
            <a:stCxn id="13" idx="6"/>
          </p:cNvCxnSpPr>
          <p:nvPr/>
        </p:nvCxnSpPr>
        <p:spPr>
          <a:xfrm>
            <a:off x="4058033" y="2631188"/>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29B20BC6-AC7D-D0CF-6204-809808F75CDB}"/>
              </a:ext>
            </a:extLst>
          </p:cNvPr>
          <p:cNvSpPr txBox="1"/>
          <p:nvPr/>
        </p:nvSpPr>
        <p:spPr>
          <a:xfrm>
            <a:off x="4439073" y="2194708"/>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Nexus</a:t>
            </a:r>
            <a:r>
              <a:rPr lang="zh-CN" altLang="en-US" sz="2400" b="1" dirty="0">
                <a:latin typeface="+mn-ea"/>
                <a:cs typeface="Times New Roman" panose="02020603050405020304" pitchFamily="18" charset="0"/>
              </a:rPr>
              <a:t> </a:t>
            </a:r>
            <a:r>
              <a:rPr lang="en-US" altLang="zh-CN" sz="2400" b="1" dirty="0">
                <a:latin typeface="+mn-ea"/>
                <a:cs typeface="Times New Roman" panose="02020603050405020304" pitchFamily="18" charset="0"/>
              </a:rPr>
              <a:t>Design</a:t>
            </a:r>
            <a:endParaRPr lang="zh-CN" altLang="en-US" sz="2400" b="1" dirty="0">
              <a:latin typeface="+mn-ea"/>
              <a:cs typeface="Times New Roman" panose="02020603050405020304" pitchFamily="18" charset="0"/>
            </a:endParaRPr>
          </a:p>
        </p:txBody>
      </p:sp>
      <p:grpSp>
        <p:nvGrpSpPr>
          <p:cNvPr id="17" name="组合 16">
            <a:extLst>
              <a:ext uri="{FF2B5EF4-FFF2-40B4-BE49-F238E27FC236}">
                <a16:creationId xmlns:a16="http://schemas.microsoft.com/office/drawing/2014/main" id="{5C2D5D33-CADA-B13B-B143-756D52ECEDC0}"/>
              </a:ext>
            </a:extLst>
          </p:cNvPr>
          <p:cNvGrpSpPr/>
          <p:nvPr/>
        </p:nvGrpSpPr>
        <p:grpSpPr>
          <a:xfrm>
            <a:off x="3365536" y="3143496"/>
            <a:ext cx="843427" cy="443226"/>
            <a:chOff x="666810" y="2586037"/>
            <a:chExt cx="468000" cy="245937"/>
          </a:xfrm>
          <a:solidFill>
            <a:schemeClr val="bg2"/>
          </a:solidFill>
        </p:grpSpPr>
        <p:sp>
          <p:nvSpPr>
            <p:cNvPr id="18" name="Freeform 10">
              <a:extLst>
                <a:ext uri="{FF2B5EF4-FFF2-40B4-BE49-F238E27FC236}">
                  <a16:creationId xmlns:a16="http://schemas.microsoft.com/office/drawing/2014/main" id="{93B3782D-AFF8-09F3-E040-C091F65A75C6}"/>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grp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9" name="文本框 18">
              <a:extLst>
                <a:ext uri="{FF2B5EF4-FFF2-40B4-BE49-F238E27FC236}">
                  <a16:creationId xmlns:a16="http://schemas.microsoft.com/office/drawing/2014/main" id="{83E449C3-C13D-6477-3471-D3485BCB0824}"/>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3</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20" name="直接连接符 19">
            <a:extLst>
              <a:ext uri="{FF2B5EF4-FFF2-40B4-BE49-F238E27FC236}">
                <a16:creationId xmlns:a16="http://schemas.microsoft.com/office/drawing/2014/main" id="{5FEE7D27-4E5F-B998-1ED2-A450DCD82CA8}"/>
              </a:ext>
            </a:extLst>
          </p:cNvPr>
          <p:cNvCxnSpPr>
            <a:stCxn id="18" idx="6"/>
          </p:cNvCxnSpPr>
          <p:nvPr/>
        </p:nvCxnSpPr>
        <p:spPr>
          <a:xfrm>
            <a:off x="4058033" y="3551161"/>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4DFFB5BB-8A9C-8CAC-1FC4-23DE2154ACB5}"/>
              </a:ext>
            </a:extLst>
          </p:cNvPr>
          <p:cNvSpPr txBox="1"/>
          <p:nvPr/>
        </p:nvSpPr>
        <p:spPr>
          <a:xfrm>
            <a:off x="4439073" y="3114681"/>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Experiment Result</a:t>
            </a:r>
            <a:endParaRPr lang="zh-CN" altLang="en-US" sz="2400" b="1" dirty="0">
              <a:latin typeface="+mn-ea"/>
              <a:cs typeface="Times New Roman" panose="02020603050405020304" pitchFamily="18" charset="0"/>
            </a:endParaRPr>
          </a:p>
        </p:txBody>
      </p:sp>
      <p:grpSp>
        <p:nvGrpSpPr>
          <p:cNvPr id="22" name="组合 21">
            <a:extLst>
              <a:ext uri="{FF2B5EF4-FFF2-40B4-BE49-F238E27FC236}">
                <a16:creationId xmlns:a16="http://schemas.microsoft.com/office/drawing/2014/main" id="{48B988CF-2558-B954-25F7-5DB3E8505437}"/>
              </a:ext>
            </a:extLst>
          </p:cNvPr>
          <p:cNvGrpSpPr/>
          <p:nvPr/>
        </p:nvGrpSpPr>
        <p:grpSpPr>
          <a:xfrm>
            <a:off x="3365536" y="4063469"/>
            <a:ext cx="843427" cy="443226"/>
            <a:chOff x="666810" y="2586037"/>
            <a:chExt cx="468000" cy="245937"/>
          </a:xfrm>
          <a:solidFill>
            <a:schemeClr val="bg2"/>
          </a:solidFill>
        </p:grpSpPr>
        <p:sp>
          <p:nvSpPr>
            <p:cNvPr id="23" name="Freeform 10">
              <a:extLst>
                <a:ext uri="{FF2B5EF4-FFF2-40B4-BE49-F238E27FC236}">
                  <a16:creationId xmlns:a16="http://schemas.microsoft.com/office/drawing/2014/main" id="{AD1048E2-0852-9B25-86EE-2AC36B4BA090}"/>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grp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24" name="文本框 23">
              <a:extLst>
                <a:ext uri="{FF2B5EF4-FFF2-40B4-BE49-F238E27FC236}">
                  <a16:creationId xmlns:a16="http://schemas.microsoft.com/office/drawing/2014/main" id="{4F27C4DE-050C-2639-24EB-320B42610A91}"/>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4</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25" name="直接连接符 24">
            <a:extLst>
              <a:ext uri="{FF2B5EF4-FFF2-40B4-BE49-F238E27FC236}">
                <a16:creationId xmlns:a16="http://schemas.microsoft.com/office/drawing/2014/main" id="{C212B713-BBFD-8D36-2AAF-BB72808055BA}"/>
              </a:ext>
            </a:extLst>
          </p:cNvPr>
          <p:cNvCxnSpPr>
            <a:stCxn id="23" idx="6"/>
          </p:cNvCxnSpPr>
          <p:nvPr/>
        </p:nvCxnSpPr>
        <p:spPr>
          <a:xfrm>
            <a:off x="4058033" y="4471134"/>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50DF28BD-D6CD-9FA0-9BB3-52D1BAEB9747}"/>
              </a:ext>
            </a:extLst>
          </p:cNvPr>
          <p:cNvSpPr txBox="1"/>
          <p:nvPr/>
        </p:nvSpPr>
        <p:spPr>
          <a:xfrm>
            <a:off x="4439073" y="4034654"/>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Discussion</a:t>
            </a:r>
            <a:endParaRPr lang="zh-CN" altLang="en-US" sz="2400" b="1" dirty="0">
              <a:latin typeface="+mn-ea"/>
              <a:cs typeface="Times New Roman" panose="02020603050405020304" pitchFamily="18" charset="0"/>
            </a:endParaRPr>
          </a:p>
        </p:txBody>
      </p:sp>
      <p:grpSp>
        <p:nvGrpSpPr>
          <p:cNvPr id="32" name="组合 31">
            <a:extLst>
              <a:ext uri="{FF2B5EF4-FFF2-40B4-BE49-F238E27FC236}">
                <a16:creationId xmlns:a16="http://schemas.microsoft.com/office/drawing/2014/main" id="{5E8AB9DE-A0CD-B8EA-99E8-FF4F6E4EB060}"/>
              </a:ext>
            </a:extLst>
          </p:cNvPr>
          <p:cNvGrpSpPr/>
          <p:nvPr/>
        </p:nvGrpSpPr>
        <p:grpSpPr>
          <a:xfrm>
            <a:off x="3365536" y="4983444"/>
            <a:ext cx="843427" cy="443226"/>
            <a:chOff x="666810" y="2586037"/>
            <a:chExt cx="468000" cy="245937"/>
          </a:xfrm>
          <a:solidFill>
            <a:schemeClr val="bg2"/>
          </a:solidFill>
        </p:grpSpPr>
        <p:sp>
          <p:nvSpPr>
            <p:cNvPr id="33" name="Freeform 10">
              <a:extLst>
                <a:ext uri="{FF2B5EF4-FFF2-40B4-BE49-F238E27FC236}">
                  <a16:creationId xmlns:a16="http://schemas.microsoft.com/office/drawing/2014/main" id="{19CDC692-BD33-1C12-EC93-A9097A828B21}"/>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grp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34" name="文本框 33">
              <a:extLst>
                <a:ext uri="{FF2B5EF4-FFF2-40B4-BE49-F238E27FC236}">
                  <a16:creationId xmlns:a16="http://schemas.microsoft.com/office/drawing/2014/main" id="{D70DF1A2-A42A-5EA3-5388-13120381EB29}"/>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5</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35" name="直接连接符 34">
            <a:extLst>
              <a:ext uri="{FF2B5EF4-FFF2-40B4-BE49-F238E27FC236}">
                <a16:creationId xmlns:a16="http://schemas.microsoft.com/office/drawing/2014/main" id="{F0F8599B-DD86-34CB-EFE9-A3C0C28B5788}"/>
              </a:ext>
            </a:extLst>
          </p:cNvPr>
          <p:cNvCxnSpPr>
            <a:stCxn id="33" idx="6"/>
          </p:cNvCxnSpPr>
          <p:nvPr/>
        </p:nvCxnSpPr>
        <p:spPr>
          <a:xfrm>
            <a:off x="4058033" y="5391109"/>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BED0FAE5-85E7-3240-EE3B-AA30C1687932}"/>
              </a:ext>
            </a:extLst>
          </p:cNvPr>
          <p:cNvSpPr txBox="1"/>
          <p:nvPr/>
        </p:nvSpPr>
        <p:spPr>
          <a:xfrm>
            <a:off x="4439073" y="4954629"/>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Conclusion</a:t>
            </a:r>
            <a:endParaRPr lang="zh-CN" altLang="en-US" sz="2400" b="1" dirty="0">
              <a:latin typeface="+mn-ea"/>
              <a:cs typeface="Times New Roman" panose="02020603050405020304" pitchFamily="18" charset="0"/>
            </a:endParaRPr>
          </a:p>
        </p:txBody>
      </p:sp>
    </p:spTree>
    <p:extLst>
      <p:ext uri="{BB962C8B-B14F-4D97-AF65-F5344CB8AC3E}">
        <p14:creationId xmlns:p14="http://schemas.microsoft.com/office/powerpoint/2010/main" val="555372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51E1050-D911-FED3-2533-94D8EB470C2D}"/>
              </a:ext>
            </a:extLst>
          </p:cNvPr>
          <p:cNvSpPr>
            <a:spLocks noGrp="1"/>
          </p:cNvSpPr>
          <p:nvPr>
            <p:ph type="title"/>
          </p:nvPr>
        </p:nvSpPr>
        <p:spPr/>
        <p:txBody>
          <a:bodyPr>
            <a:normAutofit fontScale="90000"/>
          </a:bodyPr>
          <a:lstStyle/>
          <a:p>
            <a:r>
              <a:rPr lang="en-US" altLang="zh-CN" sz="3600" dirty="0">
                <a:latin typeface="+mj-ea"/>
                <a:cs typeface="Times New Roman" panose="02020603050405020304" pitchFamily="18" charset="0"/>
              </a:rPr>
              <a:t>Research Background</a:t>
            </a:r>
            <a:endParaRPr lang="zh-CN" altLang="en-US" sz="3600" dirty="0">
              <a:latin typeface="+mj-ea"/>
              <a:cs typeface="Times New Roman" panose="02020603050405020304" pitchFamily="18" charset="0"/>
            </a:endParaRPr>
          </a:p>
        </p:txBody>
      </p:sp>
      <p:sp>
        <p:nvSpPr>
          <p:cNvPr id="4" name="矩形: 圆角 3">
            <a:extLst>
              <a:ext uri="{FF2B5EF4-FFF2-40B4-BE49-F238E27FC236}">
                <a16:creationId xmlns:a16="http://schemas.microsoft.com/office/drawing/2014/main" id="{86F2F43B-94A0-9EEA-56E1-AD02FFBC9FEE}"/>
              </a:ext>
            </a:extLst>
          </p:cNvPr>
          <p:cNvSpPr/>
          <p:nvPr/>
        </p:nvSpPr>
        <p:spPr>
          <a:xfrm>
            <a:off x="263611" y="3429000"/>
            <a:ext cx="1858496" cy="68374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mn-ea"/>
                <a:cs typeface="Times New Roman" panose="02020603050405020304" pitchFamily="18" charset="0"/>
              </a:rPr>
              <a:t>IDS for APT</a:t>
            </a:r>
            <a:endParaRPr lang="zh-CN" altLang="en-US" sz="2400" b="1" dirty="0">
              <a:latin typeface="+mn-ea"/>
              <a:cs typeface="Times New Roman" panose="02020603050405020304" pitchFamily="18" charset="0"/>
            </a:endParaRPr>
          </a:p>
        </p:txBody>
      </p:sp>
      <p:sp>
        <p:nvSpPr>
          <p:cNvPr id="5" name="矩形: 圆角 4">
            <a:extLst>
              <a:ext uri="{FF2B5EF4-FFF2-40B4-BE49-F238E27FC236}">
                <a16:creationId xmlns:a16="http://schemas.microsoft.com/office/drawing/2014/main" id="{B507B4A2-5144-8E45-3038-E95B4F4B1044}"/>
              </a:ext>
            </a:extLst>
          </p:cNvPr>
          <p:cNvSpPr/>
          <p:nvPr/>
        </p:nvSpPr>
        <p:spPr>
          <a:xfrm>
            <a:off x="2904465" y="2371174"/>
            <a:ext cx="1041891" cy="57418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mn-ea"/>
                <a:cs typeface="Times New Roman" panose="02020603050405020304" pitchFamily="18" charset="0"/>
              </a:rPr>
              <a:t>HIDS</a:t>
            </a:r>
            <a:endParaRPr lang="zh-CN" altLang="en-US" sz="2400" b="1" dirty="0">
              <a:latin typeface="+mn-ea"/>
              <a:cs typeface="Times New Roman" panose="02020603050405020304" pitchFamily="18" charset="0"/>
            </a:endParaRPr>
          </a:p>
        </p:txBody>
      </p:sp>
      <p:sp>
        <p:nvSpPr>
          <p:cNvPr id="6" name="矩形: 圆角 5">
            <a:extLst>
              <a:ext uri="{FF2B5EF4-FFF2-40B4-BE49-F238E27FC236}">
                <a16:creationId xmlns:a16="http://schemas.microsoft.com/office/drawing/2014/main" id="{0829145F-3528-A4F7-C269-56724C5AC49D}"/>
              </a:ext>
            </a:extLst>
          </p:cNvPr>
          <p:cNvSpPr/>
          <p:nvPr/>
        </p:nvSpPr>
        <p:spPr>
          <a:xfrm>
            <a:off x="2904465" y="3449177"/>
            <a:ext cx="1041891" cy="57418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mn-ea"/>
                <a:cs typeface="Times New Roman" panose="02020603050405020304" pitchFamily="18" charset="0"/>
              </a:rPr>
              <a:t>NIDS</a:t>
            </a:r>
            <a:endParaRPr lang="zh-CN" altLang="en-US" sz="2400" b="1" dirty="0">
              <a:latin typeface="+mn-ea"/>
              <a:cs typeface="Times New Roman" panose="02020603050405020304" pitchFamily="18" charset="0"/>
            </a:endParaRPr>
          </a:p>
        </p:txBody>
      </p:sp>
      <p:sp>
        <p:nvSpPr>
          <p:cNvPr id="10" name="弧形 9">
            <a:extLst>
              <a:ext uri="{FF2B5EF4-FFF2-40B4-BE49-F238E27FC236}">
                <a16:creationId xmlns:a16="http://schemas.microsoft.com/office/drawing/2014/main" id="{EEEFC426-5E76-6C7C-1689-A3F8EAED6134}"/>
              </a:ext>
            </a:extLst>
          </p:cNvPr>
          <p:cNvSpPr/>
          <p:nvPr/>
        </p:nvSpPr>
        <p:spPr>
          <a:xfrm>
            <a:off x="2967854" y="2713043"/>
            <a:ext cx="45719"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左大括号 20">
            <a:extLst>
              <a:ext uri="{FF2B5EF4-FFF2-40B4-BE49-F238E27FC236}">
                <a16:creationId xmlns:a16="http://schemas.microsoft.com/office/drawing/2014/main" id="{E3823FED-880E-D79D-774E-8244C4D23E41}"/>
              </a:ext>
            </a:extLst>
          </p:cNvPr>
          <p:cNvSpPr/>
          <p:nvPr/>
        </p:nvSpPr>
        <p:spPr>
          <a:xfrm>
            <a:off x="2238577" y="2713043"/>
            <a:ext cx="549418" cy="210609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2A77272C-70C9-BC97-9C4A-BB2EE35908F0}"/>
              </a:ext>
            </a:extLst>
          </p:cNvPr>
          <p:cNvSpPr txBox="1"/>
          <p:nvPr/>
        </p:nvSpPr>
        <p:spPr>
          <a:xfrm>
            <a:off x="4179297" y="2251378"/>
            <a:ext cx="1482811" cy="923330"/>
          </a:xfrm>
          <a:prstGeom prst="rect">
            <a:avLst/>
          </a:prstGeom>
          <a:noFill/>
        </p:spPr>
        <p:txBody>
          <a:bodyPr wrap="square" rtlCol="0">
            <a:spAutoFit/>
          </a:bodyPr>
          <a:lstStyle/>
          <a:p>
            <a:pPr algn="ctr"/>
            <a:r>
              <a:rPr lang="en-US" altLang="zh-CN" b="1" dirty="0">
                <a:solidFill>
                  <a:schemeClr val="accent1"/>
                </a:solidFill>
                <a:latin typeface="+mn-ea"/>
                <a:cs typeface="Times New Roman" panose="02020603050405020304" pitchFamily="18" charset="0"/>
              </a:rPr>
              <a:t>NODLINK</a:t>
            </a:r>
            <a:br>
              <a:rPr lang="en-US" altLang="zh-CN" b="1" dirty="0">
                <a:solidFill>
                  <a:schemeClr val="accent1"/>
                </a:solidFill>
                <a:latin typeface="+mn-ea"/>
                <a:cs typeface="Times New Roman" panose="02020603050405020304" pitchFamily="18" charset="0"/>
              </a:rPr>
            </a:br>
            <a:r>
              <a:rPr lang="en-US" altLang="zh-CN" b="1" dirty="0">
                <a:solidFill>
                  <a:schemeClr val="accent1"/>
                </a:solidFill>
                <a:latin typeface="+mn-ea"/>
                <a:cs typeface="Times New Roman" panose="02020603050405020304" pitchFamily="18" charset="0"/>
              </a:rPr>
              <a:t>MAGIC</a:t>
            </a:r>
          </a:p>
          <a:p>
            <a:pPr algn="ctr"/>
            <a:r>
              <a:rPr lang="en-US" altLang="zh-CN" b="1" dirty="0">
                <a:solidFill>
                  <a:schemeClr val="accent1"/>
                </a:solidFill>
                <a:latin typeface="+mn-ea"/>
                <a:cs typeface="Times New Roman" panose="02020603050405020304" pitchFamily="18" charset="0"/>
              </a:rPr>
              <a:t>…</a:t>
            </a:r>
            <a:endParaRPr lang="zh-CN" altLang="en-US" b="1" dirty="0">
              <a:solidFill>
                <a:schemeClr val="accent1"/>
              </a:solidFill>
              <a:latin typeface="+mn-ea"/>
              <a:cs typeface="Times New Roman" panose="02020603050405020304" pitchFamily="18" charset="0"/>
            </a:endParaRPr>
          </a:p>
        </p:txBody>
      </p:sp>
      <p:sp>
        <p:nvSpPr>
          <p:cNvPr id="23" name="文本框 22">
            <a:extLst>
              <a:ext uri="{FF2B5EF4-FFF2-40B4-BE49-F238E27FC236}">
                <a16:creationId xmlns:a16="http://schemas.microsoft.com/office/drawing/2014/main" id="{58D605E9-54A6-F41F-4A13-30F7362F5551}"/>
              </a:ext>
            </a:extLst>
          </p:cNvPr>
          <p:cNvSpPr txBox="1"/>
          <p:nvPr/>
        </p:nvSpPr>
        <p:spPr>
          <a:xfrm>
            <a:off x="4290261" y="3296055"/>
            <a:ext cx="1274450" cy="923330"/>
          </a:xfrm>
          <a:prstGeom prst="rect">
            <a:avLst/>
          </a:prstGeom>
          <a:noFill/>
        </p:spPr>
        <p:txBody>
          <a:bodyPr wrap="square" rtlCol="0">
            <a:spAutoFit/>
          </a:bodyPr>
          <a:lstStyle/>
          <a:p>
            <a:pPr algn="ctr"/>
            <a:r>
              <a:rPr lang="en-US" altLang="zh-CN" b="1" dirty="0">
                <a:solidFill>
                  <a:schemeClr val="accent1"/>
                </a:solidFill>
                <a:latin typeface="+mn-ea"/>
                <a:cs typeface="Times New Roman" panose="02020603050405020304" pitchFamily="18" charset="0"/>
              </a:rPr>
              <a:t>ARGUS</a:t>
            </a:r>
          </a:p>
          <a:p>
            <a:pPr algn="ctr"/>
            <a:r>
              <a:rPr lang="en-US" altLang="zh-CN" b="1" dirty="0">
                <a:solidFill>
                  <a:schemeClr val="accent1"/>
                </a:solidFill>
                <a:latin typeface="+mn-ea"/>
                <a:cs typeface="Times New Roman" panose="02020603050405020304" pitchFamily="18" charset="0"/>
              </a:rPr>
              <a:t>PIKACHU</a:t>
            </a:r>
          </a:p>
          <a:p>
            <a:pPr algn="ctr"/>
            <a:r>
              <a:rPr lang="en-US" altLang="zh-CN" b="1" dirty="0">
                <a:solidFill>
                  <a:schemeClr val="accent1"/>
                </a:solidFill>
                <a:latin typeface="+mn-ea"/>
                <a:cs typeface="Times New Roman" panose="02020603050405020304" pitchFamily="18" charset="0"/>
              </a:rPr>
              <a:t>…</a:t>
            </a:r>
            <a:endParaRPr lang="zh-CN" altLang="en-US" b="1" dirty="0">
              <a:solidFill>
                <a:schemeClr val="accent1"/>
              </a:solidFill>
              <a:latin typeface="+mn-ea"/>
              <a:cs typeface="Times New Roman" panose="02020603050405020304" pitchFamily="18" charset="0"/>
            </a:endParaRPr>
          </a:p>
        </p:txBody>
      </p:sp>
      <p:sp>
        <p:nvSpPr>
          <p:cNvPr id="24" name="左大括号 23">
            <a:extLst>
              <a:ext uri="{FF2B5EF4-FFF2-40B4-BE49-F238E27FC236}">
                <a16:creationId xmlns:a16="http://schemas.microsoft.com/office/drawing/2014/main" id="{2DFC30D0-8C1A-6BF1-29D5-3ADBB6273633}"/>
              </a:ext>
            </a:extLst>
          </p:cNvPr>
          <p:cNvSpPr/>
          <p:nvPr/>
        </p:nvSpPr>
        <p:spPr>
          <a:xfrm flipH="1">
            <a:off x="6277234" y="2523194"/>
            <a:ext cx="549418" cy="2295941"/>
          </a:xfrm>
          <a:prstGeom prst="leftBrace">
            <a:avLst>
              <a:gd name="adj1" fmla="val 8333"/>
              <a:gd name="adj2" fmla="val 2976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DF6BB7CD-4E93-04C7-C454-37890268D73C}"/>
              </a:ext>
            </a:extLst>
          </p:cNvPr>
          <p:cNvSpPr txBox="1"/>
          <p:nvPr/>
        </p:nvSpPr>
        <p:spPr>
          <a:xfrm>
            <a:off x="6826651" y="4477265"/>
            <a:ext cx="5091029" cy="461665"/>
          </a:xfrm>
          <a:prstGeom prst="rect">
            <a:avLst/>
          </a:prstGeom>
          <a:noFill/>
        </p:spPr>
        <p:txBody>
          <a:bodyPr wrap="square" rtlCol="0">
            <a:spAutoFit/>
          </a:bodyPr>
          <a:lstStyle/>
          <a:p>
            <a:r>
              <a:rPr lang="en-US" altLang="zh-CN" sz="2400" b="1" dirty="0">
                <a:solidFill>
                  <a:schemeClr val="accent1"/>
                </a:solidFill>
                <a:latin typeface="+mn-ea"/>
                <a:cs typeface="Times New Roman" panose="02020603050405020304" pitchFamily="18" charset="0"/>
              </a:rPr>
              <a:t>Exploitability of multi-source logs?</a:t>
            </a:r>
            <a:endParaRPr lang="zh-CN" altLang="en-US" sz="2400" b="1" dirty="0">
              <a:solidFill>
                <a:schemeClr val="accent1"/>
              </a:solidFill>
              <a:latin typeface="+mn-ea"/>
              <a:cs typeface="Times New Roman" panose="02020603050405020304" pitchFamily="18" charset="0"/>
            </a:endParaRPr>
          </a:p>
        </p:txBody>
      </p:sp>
      <p:sp>
        <p:nvSpPr>
          <p:cNvPr id="27" name="矩形: 圆角 26">
            <a:extLst>
              <a:ext uri="{FF2B5EF4-FFF2-40B4-BE49-F238E27FC236}">
                <a16:creationId xmlns:a16="http://schemas.microsoft.com/office/drawing/2014/main" id="{0F804796-1C83-8DA9-D950-7FC5E1AB9F99}"/>
              </a:ext>
            </a:extLst>
          </p:cNvPr>
          <p:cNvSpPr/>
          <p:nvPr/>
        </p:nvSpPr>
        <p:spPr>
          <a:xfrm>
            <a:off x="2904465" y="4477265"/>
            <a:ext cx="3300569" cy="57418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mn-ea"/>
                <a:cs typeface="Times New Roman" panose="02020603050405020304" pitchFamily="18" charset="0"/>
              </a:rPr>
              <a:t>IDS of other sources</a:t>
            </a:r>
            <a:endParaRPr lang="zh-CN" altLang="en-US" sz="2400" b="1" dirty="0">
              <a:latin typeface="+mn-ea"/>
              <a:cs typeface="Times New Roman" panose="02020603050405020304" pitchFamily="18" charset="0"/>
            </a:endParaRPr>
          </a:p>
        </p:txBody>
      </p:sp>
      <p:sp>
        <p:nvSpPr>
          <p:cNvPr id="2" name="文本框 1">
            <a:extLst>
              <a:ext uri="{FF2B5EF4-FFF2-40B4-BE49-F238E27FC236}">
                <a16:creationId xmlns:a16="http://schemas.microsoft.com/office/drawing/2014/main" id="{B5400342-E2F1-06BD-EB29-30B4BCEA1CCB}"/>
              </a:ext>
            </a:extLst>
          </p:cNvPr>
          <p:cNvSpPr txBox="1"/>
          <p:nvPr/>
        </p:nvSpPr>
        <p:spPr>
          <a:xfrm>
            <a:off x="6826651" y="2967335"/>
            <a:ext cx="5091029" cy="461665"/>
          </a:xfrm>
          <a:prstGeom prst="rect">
            <a:avLst/>
          </a:prstGeom>
          <a:noFill/>
        </p:spPr>
        <p:txBody>
          <a:bodyPr wrap="square" rtlCol="0">
            <a:spAutoFit/>
          </a:bodyPr>
          <a:lstStyle/>
          <a:p>
            <a:r>
              <a:rPr lang="en-US" altLang="zh-CN" sz="2400" b="1" dirty="0">
                <a:solidFill>
                  <a:schemeClr val="accent1"/>
                </a:solidFill>
                <a:latin typeface="+mn-ea"/>
                <a:cs typeface="Times New Roman" panose="02020603050405020304" pitchFamily="18" charset="0"/>
              </a:rPr>
              <a:t>All utilizing single-source logs</a:t>
            </a:r>
            <a:endParaRPr lang="zh-CN" altLang="en-US" sz="2400" b="1" dirty="0">
              <a:solidFill>
                <a:schemeClr val="accent1"/>
              </a:solidFill>
              <a:latin typeface="+mn-ea"/>
              <a:cs typeface="Times New Roman" panose="02020603050405020304" pitchFamily="18" charset="0"/>
            </a:endParaRPr>
          </a:p>
        </p:txBody>
      </p:sp>
      <p:cxnSp>
        <p:nvCxnSpPr>
          <p:cNvPr id="7" name="直接箭头连接符 6">
            <a:extLst>
              <a:ext uri="{FF2B5EF4-FFF2-40B4-BE49-F238E27FC236}">
                <a16:creationId xmlns:a16="http://schemas.microsoft.com/office/drawing/2014/main" id="{3B88FDFD-720A-BAD5-9BDF-9B69E22FED6B}"/>
              </a:ext>
            </a:extLst>
          </p:cNvPr>
          <p:cNvCxnSpPr>
            <a:cxnSpLocks/>
            <a:stCxn id="2" idx="2"/>
            <a:endCxn id="25" idx="0"/>
          </p:cNvCxnSpPr>
          <p:nvPr/>
        </p:nvCxnSpPr>
        <p:spPr>
          <a:xfrm>
            <a:off x="9372166" y="3429000"/>
            <a:ext cx="0" cy="10482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6737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A83A527C-B9C0-3228-3EF5-DFD59086EC7C}"/>
              </a:ext>
            </a:extLst>
          </p:cNvPr>
          <p:cNvPicPr>
            <a:picLocks noGrp="1" noChangeAspect="1"/>
          </p:cNvPicPr>
          <p:nvPr>
            <p:ph sz="quarter" idx="10"/>
          </p:nvPr>
        </p:nvPicPr>
        <p:blipFill>
          <a:blip r:embed="rId3"/>
          <a:stretch>
            <a:fillRect/>
          </a:stretch>
        </p:blipFill>
        <p:spPr>
          <a:xfrm>
            <a:off x="301810" y="2466837"/>
            <a:ext cx="3941188" cy="3509843"/>
          </a:xfrm>
          <a:prstGeom prst="rect">
            <a:avLst/>
          </a:prstGeom>
        </p:spPr>
      </p:pic>
      <p:sp>
        <p:nvSpPr>
          <p:cNvPr id="3" name="标题 2">
            <a:extLst>
              <a:ext uri="{FF2B5EF4-FFF2-40B4-BE49-F238E27FC236}">
                <a16:creationId xmlns:a16="http://schemas.microsoft.com/office/drawing/2014/main" id="{AD49EA9A-910F-DC94-9A28-2AB1FC4739C0}"/>
              </a:ext>
            </a:extLst>
          </p:cNvPr>
          <p:cNvSpPr>
            <a:spLocks noGrp="1"/>
          </p:cNvSpPr>
          <p:nvPr>
            <p:ph type="title"/>
          </p:nvPr>
        </p:nvSpPr>
        <p:spPr/>
        <p:txBody>
          <a:bodyPr/>
          <a:lstStyle/>
          <a:p>
            <a:r>
              <a:rPr lang="en-US" altLang="zh-CN" dirty="0"/>
              <a:t>Current Research</a:t>
            </a:r>
            <a:endParaRPr lang="zh-CN" altLang="en-US" dirty="0"/>
          </a:p>
        </p:txBody>
      </p:sp>
      <p:pic>
        <p:nvPicPr>
          <p:cNvPr id="7" name="图片 6">
            <a:extLst>
              <a:ext uri="{FF2B5EF4-FFF2-40B4-BE49-F238E27FC236}">
                <a16:creationId xmlns:a16="http://schemas.microsoft.com/office/drawing/2014/main" id="{EDE450CC-794F-F0A2-617A-52DCFDE39B2F}"/>
              </a:ext>
            </a:extLst>
          </p:cNvPr>
          <p:cNvPicPr>
            <a:picLocks noChangeAspect="1"/>
          </p:cNvPicPr>
          <p:nvPr/>
        </p:nvPicPr>
        <p:blipFill>
          <a:blip r:embed="rId4"/>
          <a:srcRect b="9243"/>
          <a:stretch>
            <a:fillRect/>
          </a:stretch>
        </p:blipFill>
        <p:spPr>
          <a:xfrm>
            <a:off x="12444873" y="4670659"/>
            <a:ext cx="3552053" cy="3756818"/>
          </a:xfrm>
          <a:prstGeom prst="rect">
            <a:avLst/>
          </a:prstGeom>
        </p:spPr>
      </p:pic>
      <p:sp>
        <p:nvSpPr>
          <p:cNvPr id="8" name="文本框 7">
            <a:extLst>
              <a:ext uri="{FF2B5EF4-FFF2-40B4-BE49-F238E27FC236}">
                <a16:creationId xmlns:a16="http://schemas.microsoft.com/office/drawing/2014/main" id="{8A5F917C-09C0-8346-FE33-468240DF99D9}"/>
              </a:ext>
            </a:extLst>
          </p:cNvPr>
          <p:cNvSpPr txBox="1"/>
          <p:nvPr/>
        </p:nvSpPr>
        <p:spPr>
          <a:xfrm>
            <a:off x="1379993" y="1856597"/>
            <a:ext cx="1812323" cy="461665"/>
          </a:xfrm>
          <a:prstGeom prst="rect">
            <a:avLst/>
          </a:prstGeom>
          <a:noFill/>
        </p:spPr>
        <p:txBody>
          <a:bodyPr wrap="square" rtlCol="0">
            <a:spAutoFit/>
          </a:bodyPr>
          <a:lstStyle/>
          <a:p>
            <a:r>
              <a:rPr lang="en-US" altLang="zh-CN" sz="2400" b="1" dirty="0">
                <a:solidFill>
                  <a:schemeClr val="accent1"/>
                </a:solidFill>
                <a:latin typeface="+mn-ea"/>
                <a:cs typeface="Times New Roman" panose="02020603050405020304" pitchFamily="18" charset="0"/>
              </a:rPr>
              <a:t>NODLINK</a:t>
            </a:r>
            <a:endParaRPr lang="zh-CN" altLang="en-US" sz="2400" b="1" dirty="0">
              <a:solidFill>
                <a:schemeClr val="accent1"/>
              </a:solidFill>
              <a:latin typeface="+mn-ea"/>
              <a:cs typeface="Times New Roman" panose="02020603050405020304" pitchFamily="18" charset="0"/>
            </a:endParaRPr>
          </a:p>
        </p:txBody>
      </p:sp>
      <p:sp>
        <p:nvSpPr>
          <p:cNvPr id="9" name="文本框 8">
            <a:extLst>
              <a:ext uri="{FF2B5EF4-FFF2-40B4-BE49-F238E27FC236}">
                <a16:creationId xmlns:a16="http://schemas.microsoft.com/office/drawing/2014/main" id="{44DF9DFB-2504-0E79-09F4-782243377C0E}"/>
              </a:ext>
            </a:extLst>
          </p:cNvPr>
          <p:cNvSpPr txBox="1"/>
          <p:nvPr/>
        </p:nvSpPr>
        <p:spPr>
          <a:xfrm>
            <a:off x="7835085" y="1944519"/>
            <a:ext cx="1240565" cy="461665"/>
          </a:xfrm>
          <a:prstGeom prst="rect">
            <a:avLst/>
          </a:prstGeom>
          <a:noFill/>
        </p:spPr>
        <p:txBody>
          <a:bodyPr wrap="square" rtlCol="0">
            <a:spAutoFit/>
          </a:bodyPr>
          <a:lstStyle/>
          <a:p>
            <a:r>
              <a:rPr lang="en-US" altLang="zh-CN" sz="2400" b="1" dirty="0">
                <a:solidFill>
                  <a:schemeClr val="accent1"/>
                </a:solidFill>
                <a:latin typeface="+mn-ea"/>
                <a:cs typeface="Times New Roman" panose="02020603050405020304" pitchFamily="18" charset="0"/>
              </a:rPr>
              <a:t>MAGIC</a:t>
            </a:r>
            <a:endParaRPr lang="zh-CN" altLang="en-US" sz="2400" b="1" dirty="0">
              <a:solidFill>
                <a:schemeClr val="accent1"/>
              </a:solidFill>
              <a:latin typeface="+mn-ea"/>
              <a:cs typeface="Times New Roman" panose="02020603050405020304" pitchFamily="18" charset="0"/>
            </a:endParaRPr>
          </a:p>
        </p:txBody>
      </p:sp>
      <p:pic>
        <p:nvPicPr>
          <p:cNvPr id="4" name="图片 3">
            <a:extLst>
              <a:ext uri="{FF2B5EF4-FFF2-40B4-BE49-F238E27FC236}">
                <a16:creationId xmlns:a16="http://schemas.microsoft.com/office/drawing/2014/main" id="{ED19B1CB-0EE3-640B-EB9A-62F8D188069D}"/>
              </a:ext>
            </a:extLst>
          </p:cNvPr>
          <p:cNvPicPr>
            <a:picLocks noChangeAspect="1"/>
          </p:cNvPicPr>
          <p:nvPr/>
        </p:nvPicPr>
        <p:blipFill>
          <a:blip r:embed="rId5"/>
          <a:srcRect l="4039" t="3433" r="4765" b="1967"/>
          <a:stretch>
            <a:fillRect/>
          </a:stretch>
        </p:blipFill>
        <p:spPr>
          <a:xfrm>
            <a:off x="4765314" y="2738765"/>
            <a:ext cx="7124876" cy="2928134"/>
          </a:xfrm>
          <a:prstGeom prst="rect">
            <a:avLst/>
          </a:prstGeom>
        </p:spPr>
      </p:pic>
      <p:cxnSp>
        <p:nvCxnSpPr>
          <p:cNvPr id="10" name="直接连接符 9">
            <a:extLst>
              <a:ext uri="{FF2B5EF4-FFF2-40B4-BE49-F238E27FC236}">
                <a16:creationId xmlns:a16="http://schemas.microsoft.com/office/drawing/2014/main" id="{85665FF4-8FAD-3EB5-A277-F1D65460E07F}"/>
              </a:ext>
            </a:extLst>
          </p:cNvPr>
          <p:cNvCxnSpPr/>
          <p:nvPr/>
        </p:nvCxnSpPr>
        <p:spPr>
          <a:xfrm>
            <a:off x="4552749" y="1856597"/>
            <a:ext cx="0" cy="469247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3534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202F717-1687-0DC6-8ABA-8E7101FA31FA}"/>
              </a:ext>
            </a:extLst>
          </p:cNvPr>
          <p:cNvSpPr>
            <a:spLocks noGrp="1"/>
          </p:cNvSpPr>
          <p:nvPr>
            <p:ph type="title"/>
          </p:nvPr>
        </p:nvSpPr>
        <p:spPr/>
        <p:txBody>
          <a:bodyPr/>
          <a:lstStyle/>
          <a:p>
            <a:r>
              <a:rPr lang="en-US" altLang="zh-CN" dirty="0"/>
              <a:t>Sticking Points</a:t>
            </a:r>
            <a:endParaRPr lang="zh-CN" altLang="en-US" dirty="0"/>
          </a:p>
        </p:txBody>
      </p:sp>
      <p:pic>
        <p:nvPicPr>
          <p:cNvPr id="5" name="图片 4">
            <a:extLst>
              <a:ext uri="{FF2B5EF4-FFF2-40B4-BE49-F238E27FC236}">
                <a16:creationId xmlns:a16="http://schemas.microsoft.com/office/drawing/2014/main" id="{B0F80632-8A4B-3421-CF73-48EF7A16646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96242" y="2545492"/>
            <a:ext cx="2670450" cy="2669059"/>
          </a:xfrm>
          <a:prstGeom prst="rect">
            <a:avLst/>
          </a:prstGeom>
        </p:spPr>
      </p:pic>
      <p:sp>
        <p:nvSpPr>
          <p:cNvPr id="6" name="文本框 5">
            <a:extLst>
              <a:ext uri="{FF2B5EF4-FFF2-40B4-BE49-F238E27FC236}">
                <a16:creationId xmlns:a16="http://schemas.microsoft.com/office/drawing/2014/main" id="{7D65217D-CB35-41FE-1D25-A8A154229ABC}"/>
              </a:ext>
            </a:extLst>
          </p:cNvPr>
          <p:cNvSpPr txBox="1"/>
          <p:nvPr/>
        </p:nvSpPr>
        <p:spPr>
          <a:xfrm>
            <a:off x="753761" y="2540338"/>
            <a:ext cx="2195385" cy="954107"/>
          </a:xfrm>
          <a:prstGeom prst="rect">
            <a:avLst/>
          </a:prstGeom>
          <a:noFill/>
        </p:spPr>
        <p:txBody>
          <a:bodyPr wrap="square" rtlCol="0">
            <a:spAutoFit/>
          </a:bodyPr>
          <a:lstStyle/>
          <a:p>
            <a:r>
              <a:rPr lang="en-US" altLang="zh-CN" sz="2800" b="1" dirty="0">
                <a:solidFill>
                  <a:schemeClr val="accent1"/>
                </a:solidFill>
                <a:latin typeface="+mn-ea"/>
                <a:cs typeface="Times New Roman" panose="02020603050405020304" pitchFamily="18" charset="0"/>
              </a:rPr>
              <a:t>Host-based Framework</a:t>
            </a:r>
            <a:endParaRPr lang="zh-CN" altLang="en-US" sz="2800" b="1" dirty="0">
              <a:solidFill>
                <a:schemeClr val="accent1"/>
              </a:solidFill>
              <a:latin typeface="+mn-ea"/>
              <a:cs typeface="Times New Roman" panose="02020603050405020304" pitchFamily="18" charset="0"/>
            </a:endParaRPr>
          </a:p>
        </p:txBody>
      </p:sp>
      <p:cxnSp>
        <p:nvCxnSpPr>
          <p:cNvPr id="8" name="直接箭头连接符 7">
            <a:extLst>
              <a:ext uri="{FF2B5EF4-FFF2-40B4-BE49-F238E27FC236}">
                <a16:creationId xmlns:a16="http://schemas.microsoft.com/office/drawing/2014/main" id="{496E9704-090F-5BAE-3045-A4E71288CE63}"/>
              </a:ext>
            </a:extLst>
          </p:cNvPr>
          <p:cNvCxnSpPr/>
          <p:nvPr/>
        </p:nvCxnSpPr>
        <p:spPr>
          <a:xfrm>
            <a:off x="3097428" y="2972312"/>
            <a:ext cx="15981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BAF32364-0B6A-902B-A3F3-0A0F9F7BA981}"/>
              </a:ext>
            </a:extLst>
          </p:cNvPr>
          <p:cNvSpPr txBox="1"/>
          <p:nvPr/>
        </p:nvSpPr>
        <p:spPr>
          <a:xfrm>
            <a:off x="4917992" y="2725003"/>
            <a:ext cx="1812323" cy="523220"/>
          </a:xfrm>
          <a:prstGeom prst="rect">
            <a:avLst/>
          </a:prstGeom>
          <a:noFill/>
        </p:spPr>
        <p:txBody>
          <a:bodyPr wrap="square" rtlCol="0">
            <a:spAutoFit/>
          </a:bodyPr>
          <a:lstStyle/>
          <a:p>
            <a:r>
              <a:rPr lang="en-US" altLang="zh-CN" sz="2800" b="1" dirty="0">
                <a:solidFill>
                  <a:schemeClr val="accent1"/>
                </a:solidFill>
                <a:latin typeface="+mn-ea"/>
                <a:cs typeface="Times New Roman" panose="02020603050405020304" pitchFamily="18" charset="0"/>
              </a:rPr>
              <a:t>Net Logs</a:t>
            </a:r>
            <a:endParaRPr lang="zh-CN" altLang="en-US" sz="2800" b="1" dirty="0">
              <a:solidFill>
                <a:schemeClr val="accent1"/>
              </a:solidFill>
              <a:latin typeface="+mn-ea"/>
              <a:cs typeface="Times New Roman" panose="02020603050405020304" pitchFamily="18" charset="0"/>
            </a:endParaRPr>
          </a:p>
        </p:txBody>
      </p:sp>
      <p:sp>
        <p:nvSpPr>
          <p:cNvPr id="10" name="乘号 9">
            <a:extLst>
              <a:ext uri="{FF2B5EF4-FFF2-40B4-BE49-F238E27FC236}">
                <a16:creationId xmlns:a16="http://schemas.microsoft.com/office/drawing/2014/main" id="{B2C58786-251A-AACC-6681-578510E65D13}"/>
              </a:ext>
            </a:extLst>
          </p:cNvPr>
          <p:cNvSpPr/>
          <p:nvPr/>
        </p:nvSpPr>
        <p:spPr>
          <a:xfrm>
            <a:off x="3562865" y="2714190"/>
            <a:ext cx="667265" cy="516243"/>
          </a:xfrm>
          <a:prstGeom prst="mathMultiply">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919FE4B5-DC47-CE41-3472-DA26ADD7880A}"/>
              </a:ext>
            </a:extLst>
          </p:cNvPr>
          <p:cNvSpPr txBox="1"/>
          <p:nvPr/>
        </p:nvSpPr>
        <p:spPr>
          <a:xfrm>
            <a:off x="398021" y="4656686"/>
            <a:ext cx="2939173" cy="523220"/>
          </a:xfrm>
          <a:prstGeom prst="rect">
            <a:avLst/>
          </a:prstGeom>
          <a:noFill/>
        </p:spPr>
        <p:txBody>
          <a:bodyPr wrap="square" rtlCol="0">
            <a:spAutoFit/>
          </a:bodyPr>
          <a:lstStyle/>
          <a:p>
            <a:r>
              <a:rPr lang="en-US" altLang="zh-CN" sz="2800" b="1" dirty="0">
                <a:solidFill>
                  <a:schemeClr val="accent1"/>
                </a:solidFill>
                <a:latin typeface="+mn-ea"/>
                <a:cs typeface="Times New Roman" panose="02020603050405020304" pitchFamily="18" charset="0"/>
              </a:rPr>
              <a:t>Net Prov-graph</a:t>
            </a:r>
            <a:endParaRPr lang="zh-CN" altLang="en-US" sz="2400" b="1" dirty="0">
              <a:solidFill>
                <a:schemeClr val="accent1"/>
              </a:solidFill>
              <a:latin typeface="+mn-ea"/>
              <a:cs typeface="Times New Roman" panose="02020603050405020304" pitchFamily="18" charset="0"/>
            </a:endParaRPr>
          </a:p>
        </p:txBody>
      </p:sp>
      <p:sp>
        <p:nvSpPr>
          <p:cNvPr id="12" name="文本框 11">
            <a:extLst>
              <a:ext uri="{FF2B5EF4-FFF2-40B4-BE49-F238E27FC236}">
                <a16:creationId xmlns:a16="http://schemas.microsoft.com/office/drawing/2014/main" id="{09037A6F-AF85-8A85-5F14-D2DD8E0437E4}"/>
              </a:ext>
            </a:extLst>
          </p:cNvPr>
          <p:cNvSpPr txBox="1"/>
          <p:nvPr/>
        </p:nvSpPr>
        <p:spPr>
          <a:xfrm>
            <a:off x="240632" y="4008639"/>
            <a:ext cx="2939173" cy="523220"/>
          </a:xfrm>
          <a:prstGeom prst="rect">
            <a:avLst/>
          </a:prstGeom>
          <a:noFill/>
        </p:spPr>
        <p:txBody>
          <a:bodyPr wrap="square" rtlCol="0">
            <a:spAutoFit/>
          </a:bodyPr>
          <a:lstStyle/>
          <a:p>
            <a:r>
              <a:rPr lang="en-US" altLang="zh-CN" sz="2800" b="1" dirty="0">
                <a:solidFill>
                  <a:schemeClr val="accent1"/>
                </a:solidFill>
                <a:latin typeface="+mn-ea"/>
                <a:cs typeface="Times New Roman" panose="02020603050405020304" pitchFamily="18" charset="0"/>
              </a:rPr>
              <a:t>Host Prov-graph</a:t>
            </a:r>
            <a:endParaRPr lang="zh-CN" altLang="en-US" sz="2400" b="1" dirty="0">
              <a:solidFill>
                <a:schemeClr val="accent1"/>
              </a:solidFill>
              <a:latin typeface="+mn-ea"/>
              <a:cs typeface="Times New Roman" panose="02020603050405020304" pitchFamily="18" charset="0"/>
            </a:endParaRPr>
          </a:p>
        </p:txBody>
      </p:sp>
      <p:cxnSp>
        <p:nvCxnSpPr>
          <p:cNvPr id="13" name="直接箭头连接符 12">
            <a:extLst>
              <a:ext uri="{FF2B5EF4-FFF2-40B4-BE49-F238E27FC236}">
                <a16:creationId xmlns:a16="http://schemas.microsoft.com/office/drawing/2014/main" id="{B4F01AC0-E7DE-406B-F03C-7E52AD10F4D5}"/>
              </a:ext>
            </a:extLst>
          </p:cNvPr>
          <p:cNvCxnSpPr/>
          <p:nvPr/>
        </p:nvCxnSpPr>
        <p:spPr>
          <a:xfrm>
            <a:off x="3097428" y="4602456"/>
            <a:ext cx="15981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乘号 13">
            <a:extLst>
              <a:ext uri="{FF2B5EF4-FFF2-40B4-BE49-F238E27FC236}">
                <a16:creationId xmlns:a16="http://schemas.microsoft.com/office/drawing/2014/main" id="{A16C59D1-F871-3931-9902-CEE942E4837F}"/>
              </a:ext>
            </a:extLst>
          </p:cNvPr>
          <p:cNvSpPr/>
          <p:nvPr/>
        </p:nvSpPr>
        <p:spPr>
          <a:xfrm>
            <a:off x="3562865" y="4344334"/>
            <a:ext cx="667265" cy="516243"/>
          </a:xfrm>
          <a:prstGeom prst="mathMultiply">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B55242F0-7510-7FA2-CDA6-2B27E60ACE3D}"/>
              </a:ext>
            </a:extLst>
          </p:cNvPr>
          <p:cNvSpPr txBox="1"/>
          <p:nvPr/>
        </p:nvSpPr>
        <p:spPr>
          <a:xfrm>
            <a:off x="4917992" y="4140791"/>
            <a:ext cx="2075932" cy="954107"/>
          </a:xfrm>
          <a:prstGeom prst="rect">
            <a:avLst/>
          </a:prstGeom>
          <a:noFill/>
        </p:spPr>
        <p:txBody>
          <a:bodyPr wrap="square" rtlCol="0">
            <a:spAutoFit/>
          </a:bodyPr>
          <a:lstStyle/>
          <a:p>
            <a:r>
              <a:rPr lang="en-US" altLang="zh-CN" sz="2800" b="1" dirty="0">
                <a:solidFill>
                  <a:schemeClr val="accent1"/>
                </a:solidFill>
                <a:latin typeface="+mn-ea"/>
                <a:cs typeface="Times New Roman" panose="02020603050405020304" pitchFamily="18" charset="0"/>
              </a:rPr>
              <a:t>An Overall Prov-graph</a:t>
            </a:r>
            <a:endParaRPr lang="zh-CN" altLang="en-US" sz="2800" b="1" dirty="0">
              <a:solidFill>
                <a:schemeClr val="accent1"/>
              </a:solidFill>
              <a:latin typeface="+mn-ea"/>
              <a:cs typeface="Times New Roman" panose="02020603050405020304" pitchFamily="18" charset="0"/>
            </a:endParaRPr>
          </a:p>
        </p:txBody>
      </p:sp>
    </p:spTree>
    <p:extLst>
      <p:ext uri="{BB962C8B-B14F-4D97-AF65-F5344CB8AC3E}">
        <p14:creationId xmlns:p14="http://schemas.microsoft.com/office/powerpoint/2010/main" val="728360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B3E9A59-721E-8BE8-ADFD-E5652725EAD4}"/>
              </a:ext>
            </a:extLst>
          </p:cNvPr>
          <p:cNvSpPr>
            <a:spLocks noGrp="1"/>
          </p:cNvSpPr>
          <p:nvPr>
            <p:ph type="title"/>
          </p:nvPr>
        </p:nvSpPr>
        <p:spPr/>
        <p:txBody>
          <a:bodyPr/>
          <a:lstStyle/>
          <a:p>
            <a:r>
              <a:rPr lang="en-US" altLang="zh-CN" dirty="0"/>
              <a:t>Research Goal</a:t>
            </a:r>
            <a:endParaRPr lang="zh-CN" altLang="en-US" dirty="0"/>
          </a:p>
        </p:txBody>
      </p:sp>
      <p:sp>
        <p:nvSpPr>
          <p:cNvPr id="5" name="矩形: 圆角 4">
            <a:extLst>
              <a:ext uri="{FF2B5EF4-FFF2-40B4-BE49-F238E27FC236}">
                <a16:creationId xmlns:a16="http://schemas.microsoft.com/office/drawing/2014/main" id="{4610A0C3-B0C0-632F-4F02-FDFA452364F9}"/>
              </a:ext>
            </a:extLst>
          </p:cNvPr>
          <p:cNvSpPr/>
          <p:nvPr/>
        </p:nvSpPr>
        <p:spPr>
          <a:xfrm>
            <a:off x="4808812" y="3669787"/>
            <a:ext cx="2273932" cy="84849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b="1" dirty="0">
                <a:latin typeface="+mn-ea"/>
                <a:cs typeface="Times New Roman" panose="02020603050405020304" pitchFamily="18" charset="0"/>
              </a:rPr>
              <a:t>NEXUS</a:t>
            </a:r>
            <a:endParaRPr lang="zh-CN" altLang="en-US" sz="3200" b="1" dirty="0">
              <a:latin typeface="+mn-ea"/>
              <a:cs typeface="Times New Roman" panose="02020603050405020304" pitchFamily="18" charset="0"/>
            </a:endParaRPr>
          </a:p>
        </p:txBody>
      </p:sp>
      <p:sp>
        <p:nvSpPr>
          <p:cNvPr id="9" name="文本框 8">
            <a:extLst>
              <a:ext uri="{FF2B5EF4-FFF2-40B4-BE49-F238E27FC236}">
                <a16:creationId xmlns:a16="http://schemas.microsoft.com/office/drawing/2014/main" id="{38B0096F-04B0-81EE-1646-88064F2957A9}"/>
              </a:ext>
            </a:extLst>
          </p:cNvPr>
          <p:cNvSpPr txBox="1"/>
          <p:nvPr/>
        </p:nvSpPr>
        <p:spPr>
          <a:xfrm>
            <a:off x="1905868" y="2234106"/>
            <a:ext cx="3373396" cy="954107"/>
          </a:xfrm>
          <a:prstGeom prst="rect">
            <a:avLst/>
          </a:prstGeom>
          <a:noFill/>
        </p:spPr>
        <p:txBody>
          <a:bodyPr wrap="square" rtlCol="0">
            <a:spAutoFit/>
          </a:bodyPr>
          <a:lstStyle/>
          <a:p>
            <a:r>
              <a:rPr lang="en-US" altLang="zh-CN" sz="2800" b="1" dirty="0">
                <a:solidFill>
                  <a:schemeClr val="accent1"/>
                </a:solidFill>
                <a:latin typeface="+mn-ea"/>
                <a:cs typeface="Times New Roman" panose="02020603050405020304" pitchFamily="18" charset="0"/>
              </a:rPr>
              <a:t>Multi-Source Correlation</a:t>
            </a:r>
            <a:endParaRPr lang="zh-CN" altLang="en-US" sz="2800" b="1" dirty="0">
              <a:solidFill>
                <a:schemeClr val="accent1"/>
              </a:solidFill>
              <a:latin typeface="+mn-ea"/>
              <a:cs typeface="Times New Roman" panose="02020603050405020304" pitchFamily="18" charset="0"/>
            </a:endParaRPr>
          </a:p>
        </p:txBody>
      </p:sp>
      <p:sp>
        <p:nvSpPr>
          <p:cNvPr id="10" name="文本框 9">
            <a:extLst>
              <a:ext uri="{FF2B5EF4-FFF2-40B4-BE49-F238E27FC236}">
                <a16:creationId xmlns:a16="http://schemas.microsoft.com/office/drawing/2014/main" id="{AAB5E724-EA9B-A9D6-C766-9482BDE28C1F}"/>
              </a:ext>
            </a:extLst>
          </p:cNvPr>
          <p:cNvSpPr txBox="1"/>
          <p:nvPr/>
        </p:nvSpPr>
        <p:spPr>
          <a:xfrm>
            <a:off x="6761489" y="4799292"/>
            <a:ext cx="3373396" cy="523220"/>
          </a:xfrm>
          <a:prstGeom prst="rect">
            <a:avLst/>
          </a:prstGeom>
          <a:noFill/>
        </p:spPr>
        <p:txBody>
          <a:bodyPr wrap="square" rtlCol="0">
            <a:spAutoFit/>
          </a:bodyPr>
          <a:lstStyle/>
          <a:p>
            <a:r>
              <a:rPr lang="en-US" altLang="zh-CN" sz="2800" b="1" dirty="0">
                <a:solidFill>
                  <a:schemeClr val="accent1"/>
                </a:solidFill>
                <a:latin typeface="+mn-ea"/>
                <a:cs typeface="Times New Roman" panose="02020603050405020304" pitchFamily="18" charset="0"/>
              </a:rPr>
              <a:t>Better Accuracy</a:t>
            </a:r>
            <a:endParaRPr lang="zh-CN" altLang="en-US" sz="2800" b="1" dirty="0">
              <a:solidFill>
                <a:schemeClr val="accent1"/>
              </a:solidFill>
              <a:latin typeface="+mn-ea"/>
              <a:cs typeface="Times New Roman" panose="02020603050405020304" pitchFamily="18" charset="0"/>
            </a:endParaRPr>
          </a:p>
        </p:txBody>
      </p:sp>
      <p:sp>
        <p:nvSpPr>
          <p:cNvPr id="11" name="文本框 10">
            <a:extLst>
              <a:ext uri="{FF2B5EF4-FFF2-40B4-BE49-F238E27FC236}">
                <a16:creationId xmlns:a16="http://schemas.microsoft.com/office/drawing/2014/main" id="{18FC4A1C-182E-926F-F87E-54ED4C10CEC9}"/>
              </a:ext>
            </a:extLst>
          </p:cNvPr>
          <p:cNvSpPr txBox="1"/>
          <p:nvPr/>
        </p:nvSpPr>
        <p:spPr>
          <a:xfrm>
            <a:off x="1303920" y="5062968"/>
            <a:ext cx="3373396" cy="523220"/>
          </a:xfrm>
          <a:prstGeom prst="rect">
            <a:avLst/>
          </a:prstGeom>
          <a:noFill/>
        </p:spPr>
        <p:txBody>
          <a:bodyPr wrap="square" rtlCol="0">
            <a:spAutoFit/>
          </a:bodyPr>
          <a:lstStyle/>
          <a:p>
            <a:r>
              <a:rPr lang="en-US" altLang="zh-CN" sz="2800" b="1" dirty="0">
                <a:solidFill>
                  <a:schemeClr val="accent1"/>
                </a:solidFill>
                <a:latin typeface="+mn-ea"/>
                <a:cs typeface="Times New Roman" panose="02020603050405020304" pitchFamily="18" charset="0"/>
              </a:rPr>
              <a:t>Further Research</a:t>
            </a:r>
            <a:endParaRPr lang="zh-CN" altLang="en-US" sz="2800" b="1" dirty="0">
              <a:solidFill>
                <a:schemeClr val="accent1"/>
              </a:solidFill>
              <a:latin typeface="+mn-ea"/>
              <a:cs typeface="Times New Roman" panose="02020603050405020304" pitchFamily="18" charset="0"/>
            </a:endParaRPr>
          </a:p>
        </p:txBody>
      </p:sp>
      <p:sp>
        <p:nvSpPr>
          <p:cNvPr id="12" name="文本框 11">
            <a:extLst>
              <a:ext uri="{FF2B5EF4-FFF2-40B4-BE49-F238E27FC236}">
                <a16:creationId xmlns:a16="http://schemas.microsoft.com/office/drawing/2014/main" id="{30350D5F-226B-F216-C080-DD5EEDD49972}"/>
              </a:ext>
            </a:extLst>
          </p:cNvPr>
          <p:cNvSpPr txBox="1"/>
          <p:nvPr/>
        </p:nvSpPr>
        <p:spPr>
          <a:xfrm>
            <a:off x="7598793" y="2589807"/>
            <a:ext cx="3373396" cy="954107"/>
          </a:xfrm>
          <a:prstGeom prst="rect">
            <a:avLst/>
          </a:prstGeom>
          <a:noFill/>
        </p:spPr>
        <p:txBody>
          <a:bodyPr wrap="square" rtlCol="0">
            <a:spAutoFit/>
          </a:bodyPr>
          <a:lstStyle/>
          <a:p>
            <a:r>
              <a:rPr lang="en-US" altLang="zh-CN" sz="2800" b="1" dirty="0">
                <a:solidFill>
                  <a:schemeClr val="accent1"/>
                </a:solidFill>
                <a:latin typeface="+mn-ea"/>
                <a:cs typeface="Times New Roman" panose="02020603050405020304" pitchFamily="18" charset="0"/>
              </a:rPr>
              <a:t>Attack Chain Reconstruction</a:t>
            </a:r>
            <a:endParaRPr lang="zh-CN" altLang="en-US" sz="2800" b="1" dirty="0">
              <a:solidFill>
                <a:schemeClr val="accent1"/>
              </a:solidFill>
              <a:latin typeface="+mn-ea"/>
              <a:cs typeface="Times New Roman" panose="02020603050405020304" pitchFamily="18" charset="0"/>
            </a:endParaRPr>
          </a:p>
        </p:txBody>
      </p:sp>
    </p:spTree>
    <p:extLst>
      <p:ext uri="{BB962C8B-B14F-4D97-AF65-F5344CB8AC3E}">
        <p14:creationId xmlns:p14="http://schemas.microsoft.com/office/powerpoint/2010/main" val="1619891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90590-AE66-3711-8946-74E7185A289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9C5861D-2BC6-DB70-DB15-9E7C268C6594}"/>
              </a:ext>
            </a:extLst>
          </p:cNvPr>
          <p:cNvSpPr>
            <a:spLocks noGrp="1"/>
          </p:cNvSpPr>
          <p:nvPr>
            <p:ph type="title"/>
          </p:nvPr>
        </p:nvSpPr>
        <p:spPr/>
        <p:txBody>
          <a:bodyPr>
            <a:normAutofit fontScale="90000"/>
          </a:bodyPr>
          <a:lstStyle/>
          <a:p>
            <a:r>
              <a:rPr lang="en-US" altLang="zh-CN" dirty="0">
                <a:latin typeface="微软雅黑" panose="020B0503020204020204" pitchFamily="34" charset="-122"/>
                <a:ea typeface="微软雅黑" panose="020B0503020204020204" pitchFamily="34" charset="-122"/>
              </a:rPr>
              <a:t>Contents</a:t>
            </a:r>
            <a:endParaRPr lang="zh-CN" altLang="en-US" dirty="0">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99505F35-C698-2C7E-6AAB-FC3DCC945231}"/>
              </a:ext>
            </a:extLst>
          </p:cNvPr>
          <p:cNvGrpSpPr/>
          <p:nvPr/>
        </p:nvGrpSpPr>
        <p:grpSpPr>
          <a:xfrm>
            <a:off x="3365536" y="1303550"/>
            <a:ext cx="843427" cy="443226"/>
            <a:chOff x="666810" y="2586037"/>
            <a:chExt cx="468000" cy="245937"/>
          </a:xfrm>
          <a:solidFill>
            <a:schemeClr val="bg2"/>
          </a:solidFill>
        </p:grpSpPr>
        <p:sp>
          <p:nvSpPr>
            <p:cNvPr id="4" name="Freeform 10">
              <a:extLst>
                <a:ext uri="{FF2B5EF4-FFF2-40B4-BE49-F238E27FC236}">
                  <a16:creationId xmlns:a16="http://schemas.microsoft.com/office/drawing/2014/main" id="{19662DF9-07F3-7289-0C41-7402E7580C61}"/>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grp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5" name="文本框 4">
              <a:extLst>
                <a:ext uri="{FF2B5EF4-FFF2-40B4-BE49-F238E27FC236}">
                  <a16:creationId xmlns:a16="http://schemas.microsoft.com/office/drawing/2014/main" id="{7815FC88-F01D-E067-F996-53C4AC3189AB}"/>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1</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7" name="直接连接符 6">
            <a:extLst>
              <a:ext uri="{FF2B5EF4-FFF2-40B4-BE49-F238E27FC236}">
                <a16:creationId xmlns:a16="http://schemas.microsoft.com/office/drawing/2014/main" id="{9C53F601-D8EF-F956-A13C-211429F21C47}"/>
              </a:ext>
            </a:extLst>
          </p:cNvPr>
          <p:cNvCxnSpPr>
            <a:stCxn id="4" idx="6"/>
          </p:cNvCxnSpPr>
          <p:nvPr/>
        </p:nvCxnSpPr>
        <p:spPr>
          <a:xfrm>
            <a:off x="4058033" y="1711215"/>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DA6BD4F5-0DF7-8D1A-312C-C2634AE0BEE3}"/>
              </a:ext>
            </a:extLst>
          </p:cNvPr>
          <p:cNvSpPr txBox="1"/>
          <p:nvPr/>
        </p:nvSpPr>
        <p:spPr>
          <a:xfrm>
            <a:off x="4439073" y="1274735"/>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Background</a:t>
            </a:r>
            <a:endParaRPr lang="zh-CN" altLang="en-US" sz="2400" b="1" dirty="0">
              <a:latin typeface="+mn-ea"/>
              <a:cs typeface="Times New Roman" panose="02020603050405020304" pitchFamily="18" charset="0"/>
            </a:endParaRPr>
          </a:p>
        </p:txBody>
      </p:sp>
      <p:grpSp>
        <p:nvGrpSpPr>
          <p:cNvPr id="12" name="组合 11">
            <a:extLst>
              <a:ext uri="{FF2B5EF4-FFF2-40B4-BE49-F238E27FC236}">
                <a16:creationId xmlns:a16="http://schemas.microsoft.com/office/drawing/2014/main" id="{4B5BB3C6-0986-DA35-7A47-46A07C59EC2D}"/>
              </a:ext>
            </a:extLst>
          </p:cNvPr>
          <p:cNvGrpSpPr/>
          <p:nvPr/>
        </p:nvGrpSpPr>
        <p:grpSpPr>
          <a:xfrm>
            <a:off x="3365536" y="2223523"/>
            <a:ext cx="843427" cy="443226"/>
            <a:chOff x="666810" y="2586037"/>
            <a:chExt cx="468000" cy="245937"/>
          </a:xfrm>
          <a:solidFill>
            <a:schemeClr val="accent1"/>
          </a:solidFill>
        </p:grpSpPr>
        <p:sp>
          <p:nvSpPr>
            <p:cNvPr id="13" name="Freeform 10">
              <a:extLst>
                <a:ext uri="{FF2B5EF4-FFF2-40B4-BE49-F238E27FC236}">
                  <a16:creationId xmlns:a16="http://schemas.microsoft.com/office/drawing/2014/main" id="{8900EFDA-40A0-886A-0E93-AAE26EBEB2AA}"/>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grp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4" name="文本框 13">
              <a:extLst>
                <a:ext uri="{FF2B5EF4-FFF2-40B4-BE49-F238E27FC236}">
                  <a16:creationId xmlns:a16="http://schemas.microsoft.com/office/drawing/2014/main" id="{DFFE7A6C-11B4-B707-DB6C-59B84792FB64}"/>
                </a:ext>
              </a:extLst>
            </p:cNvPr>
            <p:cNvSpPr txBox="1"/>
            <p:nvPr userDrawn="1"/>
          </p:nvSpPr>
          <p:spPr>
            <a:xfrm>
              <a:off x="794494" y="2586037"/>
              <a:ext cx="212633" cy="245937"/>
            </a:xfrm>
            <a:prstGeom prst="rect">
              <a:avLst/>
            </a:prstGeom>
            <a:noFill/>
            <a:ln>
              <a:noFill/>
            </a:ln>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2</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15" name="直接连接符 14">
            <a:extLst>
              <a:ext uri="{FF2B5EF4-FFF2-40B4-BE49-F238E27FC236}">
                <a16:creationId xmlns:a16="http://schemas.microsoft.com/office/drawing/2014/main" id="{1DCCEC4F-0902-3B64-4985-35212B089C93}"/>
              </a:ext>
            </a:extLst>
          </p:cNvPr>
          <p:cNvCxnSpPr>
            <a:stCxn id="13" idx="6"/>
          </p:cNvCxnSpPr>
          <p:nvPr/>
        </p:nvCxnSpPr>
        <p:spPr>
          <a:xfrm>
            <a:off x="4058033" y="2631188"/>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CAB98D3D-2B76-E0AB-D0AA-9DA056F78A6C}"/>
              </a:ext>
            </a:extLst>
          </p:cNvPr>
          <p:cNvSpPr txBox="1"/>
          <p:nvPr/>
        </p:nvSpPr>
        <p:spPr>
          <a:xfrm>
            <a:off x="4439073" y="2194708"/>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Nexus</a:t>
            </a:r>
            <a:r>
              <a:rPr lang="zh-CN" altLang="en-US" sz="2400" b="1" dirty="0">
                <a:latin typeface="+mn-ea"/>
                <a:cs typeface="Times New Roman" panose="02020603050405020304" pitchFamily="18" charset="0"/>
              </a:rPr>
              <a:t> </a:t>
            </a:r>
            <a:r>
              <a:rPr lang="en-US" altLang="zh-CN" sz="2400" b="1" dirty="0">
                <a:latin typeface="+mn-ea"/>
                <a:cs typeface="Times New Roman" panose="02020603050405020304" pitchFamily="18" charset="0"/>
              </a:rPr>
              <a:t>Design</a:t>
            </a:r>
            <a:endParaRPr lang="zh-CN" altLang="en-US" sz="2400" b="1" dirty="0">
              <a:latin typeface="+mn-ea"/>
              <a:cs typeface="Times New Roman" panose="02020603050405020304" pitchFamily="18" charset="0"/>
            </a:endParaRPr>
          </a:p>
        </p:txBody>
      </p:sp>
      <p:grpSp>
        <p:nvGrpSpPr>
          <p:cNvPr id="17" name="组合 16">
            <a:extLst>
              <a:ext uri="{FF2B5EF4-FFF2-40B4-BE49-F238E27FC236}">
                <a16:creationId xmlns:a16="http://schemas.microsoft.com/office/drawing/2014/main" id="{B0E21C33-64BA-9F3B-EAEA-945766DD549E}"/>
              </a:ext>
            </a:extLst>
          </p:cNvPr>
          <p:cNvGrpSpPr/>
          <p:nvPr/>
        </p:nvGrpSpPr>
        <p:grpSpPr>
          <a:xfrm>
            <a:off x="3365536" y="3143496"/>
            <a:ext cx="843427" cy="443226"/>
            <a:chOff x="666810" y="2586037"/>
            <a:chExt cx="468000" cy="245937"/>
          </a:xfrm>
          <a:solidFill>
            <a:schemeClr val="bg2"/>
          </a:solidFill>
        </p:grpSpPr>
        <p:sp>
          <p:nvSpPr>
            <p:cNvPr id="18" name="Freeform 10">
              <a:extLst>
                <a:ext uri="{FF2B5EF4-FFF2-40B4-BE49-F238E27FC236}">
                  <a16:creationId xmlns:a16="http://schemas.microsoft.com/office/drawing/2014/main" id="{F19C5E2C-F072-915F-BADF-8D07DC81D1EC}"/>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grp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9" name="文本框 18">
              <a:extLst>
                <a:ext uri="{FF2B5EF4-FFF2-40B4-BE49-F238E27FC236}">
                  <a16:creationId xmlns:a16="http://schemas.microsoft.com/office/drawing/2014/main" id="{4E2512A7-F668-C708-5B83-6D4AA37D5099}"/>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3</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20" name="直接连接符 19">
            <a:extLst>
              <a:ext uri="{FF2B5EF4-FFF2-40B4-BE49-F238E27FC236}">
                <a16:creationId xmlns:a16="http://schemas.microsoft.com/office/drawing/2014/main" id="{FD76ED1B-CDD1-2FD6-7A37-23B68CF12414}"/>
              </a:ext>
            </a:extLst>
          </p:cNvPr>
          <p:cNvCxnSpPr>
            <a:stCxn id="18" idx="6"/>
          </p:cNvCxnSpPr>
          <p:nvPr/>
        </p:nvCxnSpPr>
        <p:spPr>
          <a:xfrm>
            <a:off x="4058033" y="3551161"/>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0D148A9B-6337-73BC-4573-C0ECA28B162C}"/>
              </a:ext>
            </a:extLst>
          </p:cNvPr>
          <p:cNvSpPr txBox="1"/>
          <p:nvPr/>
        </p:nvSpPr>
        <p:spPr>
          <a:xfrm>
            <a:off x="4439073" y="3114681"/>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Experiment Result</a:t>
            </a:r>
            <a:endParaRPr lang="zh-CN" altLang="en-US" sz="2400" b="1" dirty="0">
              <a:latin typeface="+mn-ea"/>
              <a:cs typeface="Times New Roman" panose="02020603050405020304" pitchFamily="18" charset="0"/>
            </a:endParaRPr>
          </a:p>
        </p:txBody>
      </p:sp>
      <p:grpSp>
        <p:nvGrpSpPr>
          <p:cNvPr id="22" name="组合 21">
            <a:extLst>
              <a:ext uri="{FF2B5EF4-FFF2-40B4-BE49-F238E27FC236}">
                <a16:creationId xmlns:a16="http://schemas.microsoft.com/office/drawing/2014/main" id="{2C18BBE6-61D1-9114-0912-D2E70E10EB73}"/>
              </a:ext>
            </a:extLst>
          </p:cNvPr>
          <p:cNvGrpSpPr/>
          <p:nvPr/>
        </p:nvGrpSpPr>
        <p:grpSpPr>
          <a:xfrm>
            <a:off x="3365536" y="4063469"/>
            <a:ext cx="843427" cy="443226"/>
            <a:chOff x="666810" y="2586037"/>
            <a:chExt cx="468000" cy="245937"/>
          </a:xfrm>
          <a:solidFill>
            <a:schemeClr val="bg2"/>
          </a:solidFill>
        </p:grpSpPr>
        <p:sp>
          <p:nvSpPr>
            <p:cNvPr id="23" name="Freeform 10">
              <a:extLst>
                <a:ext uri="{FF2B5EF4-FFF2-40B4-BE49-F238E27FC236}">
                  <a16:creationId xmlns:a16="http://schemas.microsoft.com/office/drawing/2014/main" id="{41923FB9-FDD1-B661-37F2-C5806E8866FF}"/>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grp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24" name="文本框 23">
              <a:extLst>
                <a:ext uri="{FF2B5EF4-FFF2-40B4-BE49-F238E27FC236}">
                  <a16:creationId xmlns:a16="http://schemas.microsoft.com/office/drawing/2014/main" id="{1689D2BA-D79F-72AC-BE10-CCB4DF1191F1}"/>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4</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25" name="直接连接符 24">
            <a:extLst>
              <a:ext uri="{FF2B5EF4-FFF2-40B4-BE49-F238E27FC236}">
                <a16:creationId xmlns:a16="http://schemas.microsoft.com/office/drawing/2014/main" id="{44E0111D-0599-E175-CC66-48E02119FE00}"/>
              </a:ext>
            </a:extLst>
          </p:cNvPr>
          <p:cNvCxnSpPr>
            <a:stCxn id="23" idx="6"/>
          </p:cNvCxnSpPr>
          <p:nvPr/>
        </p:nvCxnSpPr>
        <p:spPr>
          <a:xfrm>
            <a:off x="4058033" y="4471134"/>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ABAFDDDF-D1F6-8E98-1CCC-EA8A7C8BBAA3}"/>
              </a:ext>
            </a:extLst>
          </p:cNvPr>
          <p:cNvSpPr txBox="1"/>
          <p:nvPr/>
        </p:nvSpPr>
        <p:spPr>
          <a:xfrm>
            <a:off x="4439073" y="4034654"/>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Discussion</a:t>
            </a:r>
            <a:endParaRPr lang="zh-CN" altLang="en-US" sz="2400" b="1" dirty="0">
              <a:latin typeface="+mn-ea"/>
              <a:cs typeface="Times New Roman" panose="02020603050405020304" pitchFamily="18" charset="0"/>
            </a:endParaRPr>
          </a:p>
        </p:txBody>
      </p:sp>
      <p:grpSp>
        <p:nvGrpSpPr>
          <p:cNvPr id="32" name="组合 31">
            <a:extLst>
              <a:ext uri="{FF2B5EF4-FFF2-40B4-BE49-F238E27FC236}">
                <a16:creationId xmlns:a16="http://schemas.microsoft.com/office/drawing/2014/main" id="{0C07C38C-1A42-4F1D-18F4-90F2B7D502DE}"/>
              </a:ext>
            </a:extLst>
          </p:cNvPr>
          <p:cNvGrpSpPr/>
          <p:nvPr/>
        </p:nvGrpSpPr>
        <p:grpSpPr>
          <a:xfrm>
            <a:off x="3365536" y="4983444"/>
            <a:ext cx="843427" cy="443226"/>
            <a:chOff x="666810" y="2586037"/>
            <a:chExt cx="468000" cy="245937"/>
          </a:xfrm>
          <a:solidFill>
            <a:schemeClr val="bg2"/>
          </a:solidFill>
        </p:grpSpPr>
        <p:sp>
          <p:nvSpPr>
            <p:cNvPr id="33" name="Freeform 10">
              <a:extLst>
                <a:ext uri="{FF2B5EF4-FFF2-40B4-BE49-F238E27FC236}">
                  <a16:creationId xmlns:a16="http://schemas.microsoft.com/office/drawing/2014/main" id="{07629F1B-980D-EE6C-6102-EC728AC699FD}"/>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grp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34" name="文本框 33">
              <a:extLst>
                <a:ext uri="{FF2B5EF4-FFF2-40B4-BE49-F238E27FC236}">
                  <a16:creationId xmlns:a16="http://schemas.microsoft.com/office/drawing/2014/main" id="{8513673B-9CA5-EE75-960A-375A5C9ECCCE}"/>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5</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35" name="直接连接符 34">
            <a:extLst>
              <a:ext uri="{FF2B5EF4-FFF2-40B4-BE49-F238E27FC236}">
                <a16:creationId xmlns:a16="http://schemas.microsoft.com/office/drawing/2014/main" id="{E47EF7A4-B54A-4481-D68E-F408CC4AED32}"/>
              </a:ext>
            </a:extLst>
          </p:cNvPr>
          <p:cNvCxnSpPr>
            <a:stCxn id="33" idx="6"/>
          </p:cNvCxnSpPr>
          <p:nvPr/>
        </p:nvCxnSpPr>
        <p:spPr>
          <a:xfrm>
            <a:off x="4058033" y="5391109"/>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1615AC0E-56CA-0BB5-2429-F375E16B26BA}"/>
              </a:ext>
            </a:extLst>
          </p:cNvPr>
          <p:cNvSpPr txBox="1"/>
          <p:nvPr/>
        </p:nvSpPr>
        <p:spPr>
          <a:xfrm>
            <a:off x="4439073" y="4954629"/>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Conclusion</a:t>
            </a:r>
            <a:endParaRPr lang="zh-CN" altLang="en-US" sz="2400" b="1" dirty="0">
              <a:latin typeface="+mn-ea"/>
              <a:cs typeface="Times New Roman" panose="02020603050405020304" pitchFamily="18" charset="0"/>
            </a:endParaRPr>
          </a:p>
        </p:txBody>
      </p:sp>
    </p:spTree>
    <p:extLst>
      <p:ext uri="{BB962C8B-B14F-4D97-AF65-F5344CB8AC3E}">
        <p14:creationId xmlns:p14="http://schemas.microsoft.com/office/powerpoint/2010/main" val="2995766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A8ED8D41-A93E-4F52-E603-6B628DE24112}"/>
              </a:ext>
            </a:extLst>
          </p:cNvPr>
          <p:cNvSpPr>
            <a:spLocks noGrp="1"/>
          </p:cNvSpPr>
          <p:nvPr>
            <p:ph type="title"/>
          </p:nvPr>
        </p:nvSpPr>
        <p:spPr/>
        <p:txBody>
          <a:bodyPr/>
          <a:lstStyle/>
          <a:p>
            <a:r>
              <a:rPr lang="en-US" altLang="zh-CN" dirty="0"/>
              <a:t>Nexus</a:t>
            </a:r>
            <a:endParaRPr lang="zh-CN" altLang="en-US" dirty="0"/>
          </a:p>
        </p:txBody>
      </p:sp>
      <p:pic>
        <p:nvPicPr>
          <p:cNvPr id="4" name="图片 3">
            <a:extLst>
              <a:ext uri="{FF2B5EF4-FFF2-40B4-BE49-F238E27FC236}">
                <a16:creationId xmlns:a16="http://schemas.microsoft.com/office/drawing/2014/main" id="{CAE83F85-6C27-DA9A-D9D8-3F3ACED7AF24}"/>
              </a:ext>
            </a:extLst>
          </p:cNvPr>
          <p:cNvPicPr>
            <a:picLocks noChangeAspect="1"/>
          </p:cNvPicPr>
          <p:nvPr/>
        </p:nvPicPr>
        <p:blipFill>
          <a:blip r:embed="rId3"/>
          <a:stretch>
            <a:fillRect/>
          </a:stretch>
        </p:blipFill>
        <p:spPr>
          <a:xfrm>
            <a:off x="658699" y="2657033"/>
            <a:ext cx="11308163" cy="2096122"/>
          </a:xfrm>
          <a:prstGeom prst="rect">
            <a:avLst/>
          </a:prstGeom>
          <a:noFill/>
          <a:ln>
            <a:noFill/>
          </a:ln>
        </p:spPr>
      </p:pic>
    </p:spTree>
    <p:extLst>
      <p:ext uri="{BB962C8B-B14F-4D97-AF65-F5344CB8AC3E}">
        <p14:creationId xmlns:p14="http://schemas.microsoft.com/office/powerpoint/2010/main" val="3017768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FAF22-01AC-53B5-FEF2-7B36302F02E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0BC3D24-C8A2-7D1C-1656-DEC402292EE3}"/>
              </a:ext>
            </a:extLst>
          </p:cNvPr>
          <p:cNvSpPr>
            <a:spLocks noGrp="1"/>
          </p:cNvSpPr>
          <p:nvPr>
            <p:ph type="title"/>
          </p:nvPr>
        </p:nvSpPr>
        <p:spPr/>
        <p:txBody>
          <a:bodyPr/>
          <a:lstStyle/>
          <a:p>
            <a:r>
              <a:rPr lang="en-US" altLang="zh-CN" dirty="0"/>
              <a:t>Host-detect</a:t>
            </a:r>
            <a:endParaRPr lang="zh-CN" altLang="en-US" dirty="0"/>
          </a:p>
        </p:txBody>
      </p:sp>
      <p:pic>
        <p:nvPicPr>
          <p:cNvPr id="4" name="图片 3">
            <a:extLst>
              <a:ext uri="{FF2B5EF4-FFF2-40B4-BE49-F238E27FC236}">
                <a16:creationId xmlns:a16="http://schemas.microsoft.com/office/drawing/2014/main" id="{32670D3F-957B-D084-086A-25C22B7D3616}"/>
              </a:ext>
            </a:extLst>
          </p:cNvPr>
          <p:cNvPicPr>
            <a:picLocks noChangeAspect="1"/>
          </p:cNvPicPr>
          <p:nvPr/>
        </p:nvPicPr>
        <p:blipFill>
          <a:blip r:embed="rId3"/>
          <a:stretch>
            <a:fillRect/>
          </a:stretch>
        </p:blipFill>
        <p:spPr>
          <a:xfrm>
            <a:off x="1560704" y="2340574"/>
            <a:ext cx="8808248" cy="2703948"/>
          </a:xfrm>
          <a:prstGeom prst="rect">
            <a:avLst/>
          </a:prstGeom>
        </p:spPr>
      </p:pic>
    </p:spTree>
    <p:extLst>
      <p:ext uri="{BB962C8B-B14F-4D97-AF65-F5344CB8AC3E}">
        <p14:creationId xmlns:p14="http://schemas.microsoft.com/office/powerpoint/2010/main" val="3504367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9EC4DAC-C84E-F271-1748-4E7233FD3BB3}"/>
              </a:ext>
            </a:extLst>
          </p:cNvPr>
          <p:cNvSpPr>
            <a:spLocks noGrp="1"/>
          </p:cNvSpPr>
          <p:nvPr>
            <p:ph type="title"/>
          </p:nvPr>
        </p:nvSpPr>
        <p:spPr/>
        <p:txBody>
          <a:bodyPr/>
          <a:lstStyle/>
          <a:p>
            <a:r>
              <a:rPr lang="en-US" altLang="zh-CN" dirty="0"/>
              <a:t>Host-detect:</a:t>
            </a:r>
            <a:r>
              <a:rPr lang="zh-CN" altLang="en-US" dirty="0"/>
              <a:t> </a:t>
            </a:r>
            <a:r>
              <a:rPr lang="en-US" altLang="zh-CN" dirty="0" err="1"/>
              <a:t>Graph_construct</a:t>
            </a:r>
            <a:endParaRPr lang="zh-CN" altLang="en-US" dirty="0"/>
          </a:p>
        </p:txBody>
      </p:sp>
      <p:pic>
        <p:nvPicPr>
          <p:cNvPr id="4" name="图片 3">
            <a:extLst>
              <a:ext uri="{FF2B5EF4-FFF2-40B4-BE49-F238E27FC236}">
                <a16:creationId xmlns:a16="http://schemas.microsoft.com/office/drawing/2014/main" id="{D002384B-3AE9-4F22-23B2-75F50E436550}"/>
              </a:ext>
            </a:extLst>
          </p:cNvPr>
          <p:cNvPicPr>
            <a:picLocks noChangeAspect="1"/>
          </p:cNvPicPr>
          <p:nvPr/>
        </p:nvPicPr>
        <p:blipFill>
          <a:blip r:embed="rId3"/>
          <a:stretch>
            <a:fillRect/>
          </a:stretch>
        </p:blipFill>
        <p:spPr>
          <a:xfrm>
            <a:off x="5800042" y="1712364"/>
            <a:ext cx="6106390" cy="1874534"/>
          </a:xfrm>
          <a:prstGeom prst="rect">
            <a:avLst/>
          </a:prstGeom>
        </p:spPr>
      </p:pic>
      <p:sp>
        <p:nvSpPr>
          <p:cNvPr id="5" name="矩形 4">
            <a:extLst>
              <a:ext uri="{FF2B5EF4-FFF2-40B4-BE49-F238E27FC236}">
                <a16:creationId xmlns:a16="http://schemas.microsoft.com/office/drawing/2014/main" id="{82358891-5A03-910A-D6D4-759B1508FE66}"/>
              </a:ext>
            </a:extLst>
          </p:cNvPr>
          <p:cNvSpPr/>
          <p:nvPr/>
        </p:nvSpPr>
        <p:spPr>
          <a:xfrm>
            <a:off x="6763109" y="1828800"/>
            <a:ext cx="1406106" cy="664234"/>
          </a:xfrm>
          <a:prstGeom prst="rect">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500CE363-1131-4F28-8061-5B15750C9190}"/>
              </a:ext>
            </a:extLst>
          </p:cNvPr>
          <p:cNvSpPr/>
          <p:nvPr/>
        </p:nvSpPr>
        <p:spPr>
          <a:xfrm>
            <a:off x="1538203" y="1965890"/>
            <a:ext cx="2675799" cy="52714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n-ea"/>
                <a:cs typeface="Times New Roman" panose="02020603050405020304" pitchFamily="18" charset="0"/>
              </a:rPr>
              <a:t>Raw Host-logs</a:t>
            </a:r>
            <a:endParaRPr lang="zh-CN" altLang="en-US" sz="2000" b="1" dirty="0">
              <a:latin typeface="+mn-ea"/>
              <a:cs typeface="Times New Roman" panose="02020603050405020304" pitchFamily="18" charset="0"/>
            </a:endParaRPr>
          </a:p>
        </p:txBody>
      </p:sp>
      <p:sp>
        <p:nvSpPr>
          <p:cNvPr id="7" name="矩形: 圆角 6">
            <a:extLst>
              <a:ext uri="{FF2B5EF4-FFF2-40B4-BE49-F238E27FC236}">
                <a16:creationId xmlns:a16="http://schemas.microsoft.com/office/drawing/2014/main" id="{27982950-94DF-536E-3B06-124C913D538B}"/>
              </a:ext>
            </a:extLst>
          </p:cNvPr>
          <p:cNvSpPr/>
          <p:nvPr/>
        </p:nvSpPr>
        <p:spPr>
          <a:xfrm>
            <a:off x="1645313" y="3715051"/>
            <a:ext cx="2461577" cy="52714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n-ea"/>
                <a:cs typeface="Times New Roman" panose="02020603050405020304" pitchFamily="18" charset="0"/>
              </a:rPr>
              <a:t>Initial Graph</a:t>
            </a:r>
            <a:endParaRPr lang="zh-CN" altLang="en-US" sz="2000" b="1" dirty="0">
              <a:latin typeface="+mn-ea"/>
              <a:cs typeface="Times New Roman" panose="02020603050405020304" pitchFamily="18" charset="0"/>
            </a:endParaRPr>
          </a:p>
        </p:txBody>
      </p:sp>
      <p:sp>
        <p:nvSpPr>
          <p:cNvPr id="8" name="矩形: 圆角 7">
            <a:extLst>
              <a:ext uri="{FF2B5EF4-FFF2-40B4-BE49-F238E27FC236}">
                <a16:creationId xmlns:a16="http://schemas.microsoft.com/office/drawing/2014/main" id="{629585DE-8961-C0E6-73FF-1ACFC8400123}"/>
              </a:ext>
            </a:extLst>
          </p:cNvPr>
          <p:cNvSpPr/>
          <p:nvPr/>
        </p:nvSpPr>
        <p:spPr>
          <a:xfrm>
            <a:off x="1378616" y="5464213"/>
            <a:ext cx="2994976" cy="52714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n-ea"/>
                <a:cs typeface="Times New Roman" panose="02020603050405020304" pitchFamily="18" charset="0"/>
              </a:rPr>
              <a:t>Graph with embeddings</a:t>
            </a:r>
            <a:endParaRPr lang="zh-CN" altLang="en-US" b="1" dirty="0">
              <a:latin typeface="+mn-ea"/>
              <a:cs typeface="Times New Roman" panose="02020603050405020304" pitchFamily="18" charset="0"/>
            </a:endParaRPr>
          </a:p>
        </p:txBody>
      </p:sp>
      <p:sp>
        <p:nvSpPr>
          <p:cNvPr id="9" name="矩形: 圆角 8">
            <a:extLst>
              <a:ext uri="{FF2B5EF4-FFF2-40B4-BE49-F238E27FC236}">
                <a16:creationId xmlns:a16="http://schemas.microsoft.com/office/drawing/2014/main" id="{3E922F4B-C6EA-7F99-75A5-D6A47851D771}"/>
              </a:ext>
            </a:extLst>
          </p:cNvPr>
          <p:cNvSpPr/>
          <p:nvPr/>
        </p:nvSpPr>
        <p:spPr>
          <a:xfrm>
            <a:off x="7543627" y="3824113"/>
            <a:ext cx="2879158" cy="53050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n-ea"/>
                <a:cs typeface="Times New Roman" panose="02020603050405020304" pitchFamily="18" charset="0"/>
              </a:rPr>
              <a:t>Preprocessed Graph</a:t>
            </a:r>
            <a:endParaRPr lang="zh-CN" altLang="en-US" sz="2000" b="1" dirty="0">
              <a:latin typeface="+mn-ea"/>
              <a:cs typeface="Times New Roman" panose="02020603050405020304" pitchFamily="18" charset="0"/>
            </a:endParaRPr>
          </a:p>
        </p:txBody>
      </p:sp>
      <p:cxnSp>
        <p:nvCxnSpPr>
          <p:cNvPr id="11" name="直接箭头连接符 10">
            <a:extLst>
              <a:ext uri="{FF2B5EF4-FFF2-40B4-BE49-F238E27FC236}">
                <a16:creationId xmlns:a16="http://schemas.microsoft.com/office/drawing/2014/main" id="{2946F21A-40F9-F8F8-8208-C791B1987DCA}"/>
              </a:ext>
            </a:extLst>
          </p:cNvPr>
          <p:cNvCxnSpPr/>
          <p:nvPr/>
        </p:nvCxnSpPr>
        <p:spPr>
          <a:xfrm>
            <a:off x="2881223" y="2622430"/>
            <a:ext cx="0" cy="964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0A0D65B4-DF22-EF88-3A8B-2E46A6111692}"/>
              </a:ext>
            </a:extLst>
          </p:cNvPr>
          <p:cNvSpPr txBox="1"/>
          <p:nvPr/>
        </p:nvSpPr>
        <p:spPr>
          <a:xfrm>
            <a:off x="2984453" y="2903987"/>
            <a:ext cx="1482811" cy="400110"/>
          </a:xfrm>
          <a:prstGeom prst="rect">
            <a:avLst/>
          </a:prstGeom>
          <a:noFill/>
        </p:spPr>
        <p:txBody>
          <a:bodyPr wrap="square" rtlCol="0">
            <a:spAutoFit/>
          </a:bodyPr>
          <a:lstStyle/>
          <a:p>
            <a:r>
              <a:rPr lang="en-US" altLang="zh-CN" sz="2000" b="1" dirty="0">
                <a:solidFill>
                  <a:schemeClr val="accent1"/>
                </a:solidFill>
                <a:latin typeface="+mn-ea"/>
                <a:cs typeface="Times New Roman" panose="02020603050405020304" pitchFamily="18" charset="0"/>
              </a:rPr>
              <a:t>Extraction</a:t>
            </a:r>
            <a:endParaRPr lang="zh-CN" altLang="en-US" sz="2000" b="1" dirty="0">
              <a:solidFill>
                <a:schemeClr val="accent1"/>
              </a:solidFill>
              <a:latin typeface="+mn-ea"/>
              <a:cs typeface="Times New Roman" panose="02020603050405020304" pitchFamily="18" charset="0"/>
            </a:endParaRPr>
          </a:p>
        </p:txBody>
      </p:sp>
      <p:cxnSp>
        <p:nvCxnSpPr>
          <p:cNvPr id="14" name="直接箭头连接符 13">
            <a:extLst>
              <a:ext uri="{FF2B5EF4-FFF2-40B4-BE49-F238E27FC236}">
                <a16:creationId xmlns:a16="http://schemas.microsoft.com/office/drawing/2014/main" id="{79C5A3FD-F082-1A10-5F45-DBBFEEDC9113}"/>
              </a:ext>
            </a:extLst>
          </p:cNvPr>
          <p:cNvCxnSpPr/>
          <p:nvPr/>
        </p:nvCxnSpPr>
        <p:spPr>
          <a:xfrm>
            <a:off x="2856060" y="4354618"/>
            <a:ext cx="0" cy="964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E3871AC0-AFBE-3B9D-88CE-5025CF07A6F5}"/>
              </a:ext>
            </a:extLst>
          </p:cNvPr>
          <p:cNvSpPr txBox="1"/>
          <p:nvPr/>
        </p:nvSpPr>
        <p:spPr>
          <a:xfrm>
            <a:off x="2984453" y="4458794"/>
            <a:ext cx="1482811" cy="707886"/>
          </a:xfrm>
          <a:prstGeom prst="rect">
            <a:avLst/>
          </a:prstGeom>
          <a:noFill/>
        </p:spPr>
        <p:txBody>
          <a:bodyPr wrap="square" rtlCol="0">
            <a:spAutoFit/>
          </a:bodyPr>
          <a:lstStyle/>
          <a:p>
            <a:r>
              <a:rPr lang="en-US" altLang="zh-CN" sz="2000" b="1" dirty="0">
                <a:solidFill>
                  <a:schemeClr val="accent1"/>
                </a:solidFill>
                <a:latin typeface="+mn-ea"/>
                <a:cs typeface="Times New Roman" panose="02020603050405020304" pitchFamily="18" charset="0"/>
              </a:rPr>
              <a:t>One-Hot Encoding</a:t>
            </a:r>
            <a:endParaRPr lang="zh-CN" altLang="en-US" sz="2000" b="1" dirty="0">
              <a:solidFill>
                <a:schemeClr val="accent1"/>
              </a:solidFill>
              <a:latin typeface="+mn-ea"/>
              <a:cs typeface="Times New Roman" panose="02020603050405020304" pitchFamily="18" charset="0"/>
            </a:endParaRPr>
          </a:p>
        </p:txBody>
      </p:sp>
      <p:cxnSp>
        <p:nvCxnSpPr>
          <p:cNvPr id="16" name="直接箭头连接符 15">
            <a:extLst>
              <a:ext uri="{FF2B5EF4-FFF2-40B4-BE49-F238E27FC236}">
                <a16:creationId xmlns:a16="http://schemas.microsoft.com/office/drawing/2014/main" id="{E9D048BD-6486-AC55-0F47-0F1021061608}"/>
              </a:ext>
            </a:extLst>
          </p:cNvPr>
          <p:cNvCxnSpPr>
            <a:cxnSpLocks/>
          </p:cNvCxnSpPr>
          <p:nvPr/>
        </p:nvCxnSpPr>
        <p:spPr>
          <a:xfrm flipV="1">
            <a:off x="4632385" y="4153350"/>
            <a:ext cx="2760453" cy="15744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F5DD438B-2C48-DFAD-216B-B8CC6BAEF370}"/>
              </a:ext>
            </a:extLst>
          </p:cNvPr>
          <p:cNvSpPr txBox="1"/>
          <p:nvPr/>
        </p:nvSpPr>
        <p:spPr>
          <a:xfrm rot="19891145">
            <a:off x="4947857" y="4587331"/>
            <a:ext cx="1864777" cy="400110"/>
          </a:xfrm>
          <a:prstGeom prst="rect">
            <a:avLst/>
          </a:prstGeom>
          <a:noFill/>
        </p:spPr>
        <p:txBody>
          <a:bodyPr wrap="square" rtlCol="0">
            <a:spAutoFit/>
          </a:bodyPr>
          <a:lstStyle/>
          <a:p>
            <a:r>
              <a:rPr lang="en-US" altLang="zh-CN" sz="2000" b="1" dirty="0">
                <a:solidFill>
                  <a:schemeClr val="accent1"/>
                </a:solidFill>
                <a:latin typeface="+mn-ea"/>
                <a:cs typeface="Times New Roman" panose="02020603050405020304" pitchFamily="18" charset="0"/>
              </a:rPr>
              <a:t>Simplification</a:t>
            </a:r>
            <a:endParaRPr lang="zh-CN" altLang="en-US" sz="2000" b="1" dirty="0">
              <a:solidFill>
                <a:schemeClr val="accent1"/>
              </a:solidFill>
              <a:latin typeface="+mn-ea"/>
              <a:cs typeface="Times New Roman" panose="02020603050405020304" pitchFamily="18" charset="0"/>
            </a:endParaRPr>
          </a:p>
        </p:txBody>
      </p:sp>
      <p:pic>
        <p:nvPicPr>
          <p:cNvPr id="21" name="图片 20">
            <a:extLst>
              <a:ext uri="{FF2B5EF4-FFF2-40B4-BE49-F238E27FC236}">
                <a16:creationId xmlns:a16="http://schemas.microsoft.com/office/drawing/2014/main" id="{EDFCAB88-D06C-6E70-2904-028BA99D2012}"/>
              </a:ext>
            </a:extLst>
          </p:cNvPr>
          <p:cNvPicPr>
            <a:picLocks noChangeAspect="1"/>
          </p:cNvPicPr>
          <p:nvPr/>
        </p:nvPicPr>
        <p:blipFill>
          <a:blip r:embed="rId4"/>
          <a:stretch>
            <a:fillRect/>
          </a:stretch>
        </p:blipFill>
        <p:spPr>
          <a:xfrm>
            <a:off x="7392838" y="4599568"/>
            <a:ext cx="2716640" cy="1729290"/>
          </a:xfrm>
          <a:prstGeom prst="rect">
            <a:avLst/>
          </a:prstGeom>
        </p:spPr>
      </p:pic>
    </p:spTree>
    <p:extLst>
      <p:ext uri="{BB962C8B-B14F-4D97-AF65-F5344CB8AC3E}">
        <p14:creationId xmlns:p14="http://schemas.microsoft.com/office/powerpoint/2010/main" val="823977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AB4261C-C971-0152-D811-2AE973EE5378}"/>
              </a:ext>
            </a:extLst>
          </p:cNvPr>
          <p:cNvSpPr>
            <a:spLocks noGrp="1"/>
          </p:cNvSpPr>
          <p:nvPr>
            <p:ph type="title"/>
          </p:nvPr>
        </p:nvSpPr>
        <p:spPr/>
        <p:txBody>
          <a:bodyPr/>
          <a:lstStyle/>
          <a:p>
            <a:r>
              <a:rPr lang="en-US" altLang="zh-CN" dirty="0"/>
              <a:t>Host-detect: GMAE+GAT</a:t>
            </a:r>
            <a:endParaRPr lang="zh-CN" altLang="en-US" dirty="0"/>
          </a:p>
        </p:txBody>
      </p:sp>
      <p:pic>
        <p:nvPicPr>
          <p:cNvPr id="5" name="图片 4">
            <a:extLst>
              <a:ext uri="{FF2B5EF4-FFF2-40B4-BE49-F238E27FC236}">
                <a16:creationId xmlns:a16="http://schemas.microsoft.com/office/drawing/2014/main" id="{84DD369E-B8F5-5106-51F5-A5722B446FB4}"/>
              </a:ext>
            </a:extLst>
          </p:cNvPr>
          <p:cNvPicPr>
            <a:picLocks noChangeAspect="1"/>
          </p:cNvPicPr>
          <p:nvPr/>
        </p:nvPicPr>
        <p:blipFill>
          <a:blip r:embed="rId3"/>
          <a:stretch>
            <a:fillRect/>
          </a:stretch>
        </p:blipFill>
        <p:spPr>
          <a:xfrm>
            <a:off x="1630392" y="4358840"/>
            <a:ext cx="8686800" cy="2206323"/>
          </a:xfrm>
          <a:prstGeom prst="rect">
            <a:avLst/>
          </a:prstGeom>
        </p:spPr>
      </p:pic>
      <p:pic>
        <p:nvPicPr>
          <p:cNvPr id="7" name="图片 6">
            <a:extLst>
              <a:ext uri="{FF2B5EF4-FFF2-40B4-BE49-F238E27FC236}">
                <a16:creationId xmlns:a16="http://schemas.microsoft.com/office/drawing/2014/main" id="{ADD05EFB-0ECC-FA97-521A-8ACE3A0156AD}"/>
              </a:ext>
            </a:extLst>
          </p:cNvPr>
          <p:cNvPicPr>
            <a:picLocks noChangeAspect="1"/>
          </p:cNvPicPr>
          <p:nvPr/>
        </p:nvPicPr>
        <p:blipFill>
          <a:blip r:embed="rId4"/>
          <a:stretch>
            <a:fillRect/>
          </a:stretch>
        </p:blipFill>
        <p:spPr>
          <a:xfrm>
            <a:off x="545551" y="1771708"/>
            <a:ext cx="5018488" cy="2363884"/>
          </a:xfrm>
          <a:prstGeom prst="rect">
            <a:avLst/>
          </a:prstGeom>
        </p:spPr>
      </p:pic>
      <p:pic>
        <p:nvPicPr>
          <p:cNvPr id="8" name="图片 7">
            <a:extLst>
              <a:ext uri="{FF2B5EF4-FFF2-40B4-BE49-F238E27FC236}">
                <a16:creationId xmlns:a16="http://schemas.microsoft.com/office/drawing/2014/main" id="{0C0F4C0E-6454-2CD6-49E8-E7F313C9BAF2}"/>
              </a:ext>
            </a:extLst>
          </p:cNvPr>
          <p:cNvPicPr>
            <a:picLocks noChangeAspect="1"/>
          </p:cNvPicPr>
          <p:nvPr/>
        </p:nvPicPr>
        <p:blipFill>
          <a:blip r:embed="rId5"/>
          <a:stretch>
            <a:fillRect/>
          </a:stretch>
        </p:blipFill>
        <p:spPr>
          <a:xfrm>
            <a:off x="5782790" y="2016383"/>
            <a:ext cx="6106390" cy="1874534"/>
          </a:xfrm>
          <a:prstGeom prst="rect">
            <a:avLst/>
          </a:prstGeom>
        </p:spPr>
      </p:pic>
      <p:sp>
        <p:nvSpPr>
          <p:cNvPr id="9" name="矩形 8">
            <a:extLst>
              <a:ext uri="{FF2B5EF4-FFF2-40B4-BE49-F238E27FC236}">
                <a16:creationId xmlns:a16="http://schemas.microsoft.com/office/drawing/2014/main" id="{0C1C4187-B7EC-A8F5-CC99-0E419F45836C}"/>
              </a:ext>
            </a:extLst>
          </p:cNvPr>
          <p:cNvSpPr/>
          <p:nvPr/>
        </p:nvSpPr>
        <p:spPr>
          <a:xfrm>
            <a:off x="8195094" y="2130724"/>
            <a:ext cx="1406106" cy="664234"/>
          </a:xfrm>
          <a:prstGeom prst="rect">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89753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CA4BA-5718-B9BE-5F47-B8E25C228E7B}"/>
            </a:ext>
          </a:extLst>
        </p:cNvPr>
        <p:cNvGrpSpPr/>
        <p:nvPr/>
      </p:nvGrpSpPr>
      <p:grpSpPr>
        <a:xfrm>
          <a:off x="0" y="0"/>
          <a:ext cx="0" cy="0"/>
          <a:chOff x="0" y="0"/>
          <a:chExt cx="0" cy="0"/>
        </a:xfrm>
      </p:grpSpPr>
      <p:pic>
        <p:nvPicPr>
          <p:cNvPr id="19" name="图片 18">
            <a:extLst>
              <a:ext uri="{FF2B5EF4-FFF2-40B4-BE49-F238E27FC236}">
                <a16:creationId xmlns:a16="http://schemas.microsoft.com/office/drawing/2014/main" id="{EBEBD7F0-5F50-7583-9608-7C1406C6DC57}"/>
              </a:ext>
            </a:extLst>
          </p:cNvPr>
          <p:cNvPicPr>
            <a:picLocks noChangeAspect="1"/>
          </p:cNvPicPr>
          <p:nvPr/>
        </p:nvPicPr>
        <p:blipFill>
          <a:blip r:embed="rId3"/>
          <a:stretch>
            <a:fillRect/>
          </a:stretch>
        </p:blipFill>
        <p:spPr>
          <a:xfrm>
            <a:off x="2126719" y="5150754"/>
            <a:ext cx="2044629" cy="636736"/>
          </a:xfrm>
          <a:prstGeom prst="rect">
            <a:avLst/>
          </a:prstGeom>
        </p:spPr>
      </p:pic>
      <p:pic>
        <p:nvPicPr>
          <p:cNvPr id="15" name="图片 14">
            <a:extLst>
              <a:ext uri="{FF2B5EF4-FFF2-40B4-BE49-F238E27FC236}">
                <a16:creationId xmlns:a16="http://schemas.microsoft.com/office/drawing/2014/main" id="{F0B59E0B-D39F-837B-73FA-250F4EB17E75}"/>
              </a:ext>
            </a:extLst>
          </p:cNvPr>
          <p:cNvPicPr>
            <a:picLocks noChangeAspect="1"/>
          </p:cNvPicPr>
          <p:nvPr/>
        </p:nvPicPr>
        <p:blipFill>
          <a:blip r:embed="rId4"/>
          <a:stretch>
            <a:fillRect/>
          </a:stretch>
        </p:blipFill>
        <p:spPr>
          <a:xfrm>
            <a:off x="8334847" y="5222548"/>
            <a:ext cx="1733488" cy="493148"/>
          </a:xfrm>
          <a:prstGeom prst="rect">
            <a:avLst/>
          </a:prstGeom>
        </p:spPr>
      </p:pic>
      <p:pic>
        <p:nvPicPr>
          <p:cNvPr id="9" name="图片 8">
            <a:extLst>
              <a:ext uri="{FF2B5EF4-FFF2-40B4-BE49-F238E27FC236}">
                <a16:creationId xmlns:a16="http://schemas.microsoft.com/office/drawing/2014/main" id="{80AE648B-164C-4270-D41D-5799D3F901DE}"/>
              </a:ext>
            </a:extLst>
          </p:cNvPr>
          <p:cNvPicPr>
            <a:picLocks noChangeAspect="1"/>
          </p:cNvPicPr>
          <p:nvPr/>
        </p:nvPicPr>
        <p:blipFill>
          <a:blip r:embed="rId5"/>
          <a:stretch>
            <a:fillRect/>
          </a:stretch>
        </p:blipFill>
        <p:spPr>
          <a:xfrm>
            <a:off x="2345342" y="4025435"/>
            <a:ext cx="1607382" cy="264418"/>
          </a:xfrm>
          <a:prstGeom prst="rect">
            <a:avLst/>
          </a:prstGeom>
        </p:spPr>
      </p:pic>
      <p:sp>
        <p:nvSpPr>
          <p:cNvPr id="3" name="标题 2">
            <a:extLst>
              <a:ext uri="{FF2B5EF4-FFF2-40B4-BE49-F238E27FC236}">
                <a16:creationId xmlns:a16="http://schemas.microsoft.com/office/drawing/2014/main" id="{DA01177B-B075-5907-6CC0-A45835FEB9B2}"/>
              </a:ext>
            </a:extLst>
          </p:cNvPr>
          <p:cNvSpPr>
            <a:spLocks noGrp="1"/>
          </p:cNvSpPr>
          <p:nvPr>
            <p:ph type="title"/>
          </p:nvPr>
        </p:nvSpPr>
        <p:spPr/>
        <p:txBody>
          <a:bodyPr/>
          <a:lstStyle/>
          <a:p>
            <a:r>
              <a:rPr lang="en-US" altLang="zh-CN" dirty="0"/>
              <a:t>Host-detect: KNN Detection</a:t>
            </a:r>
            <a:endParaRPr lang="zh-CN" altLang="en-US" dirty="0"/>
          </a:p>
        </p:txBody>
      </p:sp>
      <p:pic>
        <p:nvPicPr>
          <p:cNvPr id="4" name="图片 3">
            <a:extLst>
              <a:ext uri="{FF2B5EF4-FFF2-40B4-BE49-F238E27FC236}">
                <a16:creationId xmlns:a16="http://schemas.microsoft.com/office/drawing/2014/main" id="{D723DD7D-12BE-982D-1020-881CB497C506}"/>
              </a:ext>
            </a:extLst>
          </p:cNvPr>
          <p:cNvPicPr>
            <a:picLocks noChangeAspect="1"/>
          </p:cNvPicPr>
          <p:nvPr/>
        </p:nvPicPr>
        <p:blipFill>
          <a:blip r:embed="rId6"/>
          <a:stretch>
            <a:fillRect/>
          </a:stretch>
        </p:blipFill>
        <p:spPr>
          <a:xfrm>
            <a:off x="5782790" y="2016383"/>
            <a:ext cx="6106390" cy="1874534"/>
          </a:xfrm>
          <a:prstGeom prst="rect">
            <a:avLst/>
          </a:prstGeom>
        </p:spPr>
      </p:pic>
      <p:sp>
        <p:nvSpPr>
          <p:cNvPr id="5" name="矩形 4">
            <a:extLst>
              <a:ext uri="{FF2B5EF4-FFF2-40B4-BE49-F238E27FC236}">
                <a16:creationId xmlns:a16="http://schemas.microsoft.com/office/drawing/2014/main" id="{D62D08DC-7A77-93C6-77D7-2DF1C4D29059}"/>
              </a:ext>
            </a:extLst>
          </p:cNvPr>
          <p:cNvSpPr/>
          <p:nvPr/>
        </p:nvSpPr>
        <p:spPr>
          <a:xfrm>
            <a:off x="9592573" y="2104845"/>
            <a:ext cx="1406106" cy="664234"/>
          </a:xfrm>
          <a:prstGeom prst="rect">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C66FDE1A-FE29-6B52-68A1-BB3E04F33AAD}"/>
              </a:ext>
            </a:extLst>
          </p:cNvPr>
          <p:cNvSpPr txBox="1"/>
          <p:nvPr/>
        </p:nvSpPr>
        <p:spPr>
          <a:xfrm>
            <a:off x="608755" y="2201549"/>
            <a:ext cx="2205271" cy="400110"/>
          </a:xfrm>
          <a:prstGeom prst="rect">
            <a:avLst/>
          </a:prstGeom>
          <a:noFill/>
        </p:spPr>
        <p:txBody>
          <a:bodyPr wrap="square" rtlCol="0">
            <a:spAutoFit/>
          </a:bodyPr>
          <a:lstStyle/>
          <a:p>
            <a:r>
              <a:rPr lang="en-US" altLang="zh-CN" sz="2000" b="1" dirty="0">
                <a:solidFill>
                  <a:schemeClr val="accent1"/>
                </a:solidFill>
                <a:latin typeface="+mn-ea"/>
                <a:cs typeface="Times New Roman" panose="02020603050405020304" pitchFamily="18" charset="0"/>
              </a:rPr>
              <a:t>In the K-d Tree:</a:t>
            </a:r>
            <a:endParaRPr lang="zh-CN" altLang="en-US" sz="2000" b="1" dirty="0">
              <a:solidFill>
                <a:schemeClr val="accent1"/>
              </a:solidFill>
              <a:latin typeface="+mn-ea"/>
              <a:cs typeface="Times New Roman" panose="02020603050405020304" pitchFamily="18" charset="0"/>
            </a:endParaRPr>
          </a:p>
        </p:txBody>
      </p:sp>
      <p:sp>
        <p:nvSpPr>
          <p:cNvPr id="11" name="文本框 10">
            <a:extLst>
              <a:ext uri="{FF2B5EF4-FFF2-40B4-BE49-F238E27FC236}">
                <a16:creationId xmlns:a16="http://schemas.microsoft.com/office/drawing/2014/main" id="{A21F3DDD-2AC7-942D-09DA-E747811FBD7E}"/>
              </a:ext>
            </a:extLst>
          </p:cNvPr>
          <p:cNvSpPr txBox="1"/>
          <p:nvPr/>
        </p:nvSpPr>
        <p:spPr>
          <a:xfrm>
            <a:off x="608756" y="3477368"/>
            <a:ext cx="2205271" cy="400110"/>
          </a:xfrm>
          <a:prstGeom prst="rect">
            <a:avLst/>
          </a:prstGeom>
          <a:noFill/>
        </p:spPr>
        <p:txBody>
          <a:bodyPr wrap="square" rtlCol="0">
            <a:spAutoFit/>
          </a:bodyPr>
          <a:lstStyle/>
          <a:p>
            <a:r>
              <a:rPr lang="en-US" altLang="zh-CN" sz="2000" b="1" dirty="0">
                <a:solidFill>
                  <a:schemeClr val="accent1"/>
                </a:solidFill>
                <a:latin typeface="+mn-ea"/>
                <a:cs typeface="Times New Roman" panose="02020603050405020304" pitchFamily="18" charset="0"/>
              </a:rPr>
              <a:t>where</a:t>
            </a:r>
            <a:endParaRPr lang="zh-CN" altLang="en-US" sz="2000" b="1" dirty="0">
              <a:solidFill>
                <a:schemeClr val="accent1"/>
              </a:solidFill>
              <a:latin typeface="+mn-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5B252806-34FF-B36C-8914-AB8B8F255B18}"/>
                  </a:ext>
                </a:extLst>
              </p:cNvPr>
              <p:cNvSpPr txBox="1"/>
              <p:nvPr/>
            </p:nvSpPr>
            <p:spPr>
              <a:xfrm>
                <a:off x="644807" y="4702229"/>
                <a:ext cx="3638434" cy="400110"/>
              </a:xfrm>
              <a:prstGeom prst="rect">
                <a:avLst/>
              </a:prstGeom>
              <a:noFill/>
            </p:spPr>
            <p:txBody>
              <a:bodyPr wrap="square" rtlCol="0">
                <a:spAutoFit/>
              </a:bodyPr>
              <a:lstStyle/>
              <a:p>
                <a:r>
                  <a:rPr lang="en-US" altLang="zh-CN" sz="2000" b="1" dirty="0">
                    <a:solidFill>
                      <a:schemeClr val="accent1"/>
                    </a:solidFill>
                    <a:latin typeface="+mn-ea"/>
                    <a:cs typeface="Times New Roman" panose="02020603050405020304" pitchFamily="18" charset="0"/>
                  </a:rPr>
                  <a:t>For all vertex </a:t>
                </a:r>
                <a14:m>
                  <m:oMath xmlns:m="http://schemas.openxmlformats.org/officeDocument/2006/math">
                    <m:r>
                      <a:rPr lang="en-US" altLang="zh-CN" sz="2000" b="1" i="1" dirty="0" smtClean="0">
                        <a:solidFill>
                          <a:schemeClr val="accent1"/>
                        </a:solidFill>
                        <a:latin typeface="Cambria Math" panose="02040503050406030204" pitchFamily="18" charset="0"/>
                        <a:cs typeface="Times New Roman" panose="02020603050405020304" pitchFamily="18" charset="0"/>
                      </a:rPr>
                      <m:t>𝒖</m:t>
                    </m:r>
                  </m:oMath>
                </a14:m>
                <a:r>
                  <a:rPr lang="en-US" altLang="zh-CN" sz="2000" b="1" dirty="0">
                    <a:solidFill>
                      <a:schemeClr val="accent1"/>
                    </a:solidFill>
                    <a:latin typeface="+mn-ea"/>
                    <a:cs typeface="Times New Roman" panose="02020603050405020304" pitchFamily="18" charset="0"/>
                  </a:rPr>
                  <a:t> to be checked:</a:t>
                </a:r>
                <a:endParaRPr lang="zh-CN" altLang="en-US" sz="2000" b="1" dirty="0">
                  <a:solidFill>
                    <a:schemeClr val="accent1"/>
                  </a:solidFill>
                  <a:latin typeface="+mn-ea"/>
                  <a:cs typeface="Times New Roman" panose="02020603050405020304" pitchFamily="18" charset="0"/>
                </a:endParaRPr>
              </a:p>
            </p:txBody>
          </p:sp>
        </mc:Choice>
        <mc:Fallback xmlns="">
          <p:sp>
            <p:nvSpPr>
              <p:cNvPr id="14" name="文本框 13">
                <a:extLst>
                  <a:ext uri="{FF2B5EF4-FFF2-40B4-BE49-F238E27FC236}">
                    <a16:creationId xmlns:a16="http://schemas.microsoft.com/office/drawing/2014/main" id="{5B252806-34FF-B36C-8914-AB8B8F255B18}"/>
                  </a:ext>
                </a:extLst>
              </p:cNvPr>
              <p:cNvSpPr txBox="1">
                <a:spLocks noRot="1" noChangeAspect="1" noMove="1" noResize="1" noEditPoints="1" noAdjustHandles="1" noChangeArrowheads="1" noChangeShapeType="1" noTextEdit="1"/>
              </p:cNvSpPr>
              <p:nvPr/>
            </p:nvSpPr>
            <p:spPr>
              <a:xfrm>
                <a:off x="644807" y="4702229"/>
                <a:ext cx="3638434" cy="400110"/>
              </a:xfrm>
              <a:prstGeom prst="rect">
                <a:avLst/>
              </a:prstGeom>
              <a:blipFill>
                <a:blip r:embed="rId7"/>
                <a:stretch>
                  <a:fillRect l="-1843" t="-7576" r="-3183" b="-25758"/>
                </a:stretch>
              </a:blipFill>
            </p:spPr>
            <p:txBody>
              <a:bodyPr/>
              <a:lstStyle/>
              <a:p>
                <a:r>
                  <a:rPr lang="zh-CN" altLang="en-US">
                    <a:noFill/>
                  </a:rPr>
                  <a:t> </a:t>
                </a:r>
              </a:p>
            </p:txBody>
          </p:sp>
        </mc:Fallback>
      </mc:AlternateContent>
      <p:cxnSp>
        <p:nvCxnSpPr>
          <p:cNvPr id="17" name="直接箭头连接符 16">
            <a:extLst>
              <a:ext uri="{FF2B5EF4-FFF2-40B4-BE49-F238E27FC236}">
                <a16:creationId xmlns:a16="http://schemas.microsoft.com/office/drawing/2014/main" id="{2805E68E-5DC1-FC1E-C708-77077FA11321}"/>
              </a:ext>
            </a:extLst>
          </p:cNvPr>
          <p:cNvCxnSpPr>
            <a:cxnSpLocks/>
          </p:cNvCxnSpPr>
          <p:nvPr/>
        </p:nvCxnSpPr>
        <p:spPr>
          <a:xfrm>
            <a:off x="4665669" y="5469122"/>
            <a:ext cx="22342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96DA8CA7-4ECB-4EFF-5893-2F5323E62BC0}"/>
              </a:ext>
            </a:extLst>
          </p:cNvPr>
          <p:cNvSpPr txBox="1"/>
          <p:nvPr/>
        </p:nvSpPr>
        <p:spPr>
          <a:xfrm>
            <a:off x="6969106" y="4702229"/>
            <a:ext cx="2731482" cy="400110"/>
          </a:xfrm>
          <a:prstGeom prst="rect">
            <a:avLst/>
          </a:prstGeom>
          <a:noFill/>
        </p:spPr>
        <p:txBody>
          <a:bodyPr wrap="square" rtlCol="0">
            <a:spAutoFit/>
          </a:bodyPr>
          <a:lstStyle/>
          <a:p>
            <a:r>
              <a:rPr lang="en-US" altLang="zh-CN" sz="2000" b="1" dirty="0">
                <a:solidFill>
                  <a:schemeClr val="accent1"/>
                </a:solidFill>
                <a:latin typeface="+mn-ea"/>
                <a:cs typeface="Times New Roman" panose="02020603050405020304" pitchFamily="18" charset="0"/>
              </a:rPr>
              <a:t>Anomaly score:</a:t>
            </a:r>
            <a:endParaRPr lang="zh-CN" altLang="en-US" sz="2000" b="1" dirty="0">
              <a:solidFill>
                <a:schemeClr val="accent1"/>
              </a:solidFill>
              <a:latin typeface="+mn-ea"/>
              <a:cs typeface="Times New Roman" panose="02020603050405020304" pitchFamily="18" charset="0"/>
            </a:endParaRPr>
          </a:p>
        </p:txBody>
      </p:sp>
      <p:pic>
        <p:nvPicPr>
          <p:cNvPr id="7" name="图片 6">
            <a:extLst>
              <a:ext uri="{FF2B5EF4-FFF2-40B4-BE49-F238E27FC236}">
                <a16:creationId xmlns:a16="http://schemas.microsoft.com/office/drawing/2014/main" id="{5A03AD6C-8A7E-B708-77A7-D4C4676EAF57}"/>
              </a:ext>
            </a:extLst>
          </p:cNvPr>
          <p:cNvPicPr>
            <a:picLocks noChangeAspect="1"/>
          </p:cNvPicPr>
          <p:nvPr/>
        </p:nvPicPr>
        <p:blipFill>
          <a:blip r:embed="rId8"/>
          <a:srcRect t="12739" b="105"/>
          <a:stretch>
            <a:fillRect/>
          </a:stretch>
        </p:blipFill>
        <p:spPr>
          <a:xfrm>
            <a:off x="1771314" y="2807133"/>
            <a:ext cx="2755439" cy="573499"/>
          </a:xfrm>
          <a:prstGeom prst="rect">
            <a:avLst/>
          </a:prstGeom>
        </p:spPr>
      </p:pic>
    </p:spTree>
    <p:extLst>
      <p:ext uri="{BB962C8B-B14F-4D97-AF65-F5344CB8AC3E}">
        <p14:creationId xmlns:p14="http://schemas.microsoft.com/office/powerpoint/2010/main" val="3890797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D475A-C581-94B6-4986-D4C9085F39B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906B150-9DAB-9C50-49CF-D2E85CB0EEAF}"/>
              </a:ext>
            </a:extLst>
          </p:cNvPr>
          <p:cNvSpPr>
            <a:spLocks noGrp="1"/>
          </p:cNvSpPr>
          <p:nvPr>
            <p:ph type="title"/>
          </p:nvPr>
        </p:nvSpPr>
        <p:spPr/>
        <p:txBody>
          <a:bodyPr/>
          <a:lstStyle/>
          <a:p>
            <a:r>
              <a:rPr lang="en-US" altLang="zh-CN" dirty="0"/>
              <a:t>Net-detect</a:t>
            </a:r>
            <a:endParaRPr lang="zh-CN" altLang="en-US" dirty="0"/>
          </a:p>
        </p:txBody>
      </p:sp>
      <p:pic>
        <p:nvPicPr>
          <p:cNvPr id="4" name="图片 3">
            <a:extLst>
              <a:ext uri="{FF2B5EF4-FFF2-40B4-BE49-F238E27FC236}">
                <a16:creationId xmlns:a16="http://schemas.microsoft.com/office/drawing/2014/main" id="{0F9B5F60-95FD-5980-7485-951AFAE734DB}"/>
              </a:ext>
            </a:extLst>
          </p:cNvPr>
          <p:cNvPicPr>
            <a:picLocks noChangeAspect="1"/>
          </p:cNvPicPr>
          <p:nvPr/>
        </p:nvPicPr>
        <p:blipFill>
          <a:blip r:embed="rId3"/>
          <a:stretch>
            <a:fillRect/>
          </a:stretch>
        </p:blipFill>
        <p:spPr>
          <a:xfrm>
            <a:off x="2407170" y="2316718"/>
            <a:ext cx="7377659" cy="2893636"/>
          </a:xfrm>
          <a:prstGeom prst="rect">
            <a:avLst/>
          </a:prstGeom>
          <a:noFill/>
          <a:ln>
            <a:noFill/>
          </a:ln>
        </p:spPr>
      </p:pic>
    </p:spTree>
    <p:extLst>
      <p:ext uri="{BB962C8B-B14F-4D97-AF65-F5344CB8AC3E}">
        <p14:creationId xmlns:p14="http://schemas.microsoft.com/office/powerpoint/2010/main" val="15631780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EBA15-C1F3-B18B-F0A2-421574D7C59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0AAA0F5-56BB-09B5-49A7-877FD6C7D7E1}"/>
              </a:ext>
            </a:extLst>
          </p:cNvPr>
          <p:cNvSpPr>
            <a:spLocks noGrp="1"/>
          </p:cNvSpPr>
          <p:nvPr>
            <p:ph type="title"/>
          </p:nvPr>
        </p:nvSpPr>
        <p:spPr/>
        <p:txBody>
          <a:bodyPr/>
          <a:lstStyle/>
          <a:p>
            <a:r>
              <a:rPr lang="en-US" altLang="zh-CN" dirty="0"/>
              <a:t>Net-detect:</a:t>
            </a:r>
            <a:r>
              <a:rPr lang="zh-CN" altLang="en-US" dirty="0"/>
              <a:t> </a:t>
            </a:r>
            <a:r>
              <a:rPr lang="en-US" altLang="zh-CN" dirty="0" err="1"/>
              <a:t>FastText</a:t>
            </a:r>
            <a:endParaRPr lang="zh-CN" altLang="en-US" dirty="0"/>
          </a:p>
        </p:txBody>
      </p:sp>
      <p:pic>
        <p:nvPicPr>
          <p:cNvPr id="4" name="图片 3">
            <a:extLst>
              <a:ext uri="{FF2B5EF4-FFF2-40B4-BE49-F238E27FC236}">
                <a16:creationId xmlns:a16="http://schemas.microsoft.com/office/drawing/2014/main" id="{259E75B2-F182-75E2-130A-AF0B8E4BB5A5}"/>
              </a:ext>
            </a:extLst>
          </p:cNvPr>
          <p:cNvPicPr>
            <a:picLocks noChangeAspect="1"/>
          </p:cNvPicPr>
          <p:nvPr/>
        </p:nvPicPr>
        <p:blipFill>
          <a:blip r:embed="rId3"/>
          <a:stretch>
            <a:fillRect/>
          </a:stretch>
        </p:blipFill>
        <p:spPr>
          <a:xfrm>
            <a:off x="6507560" y="1924076"/>
            <a:ext cx="5035654" cy="1975064"/>
          </a:xfrm>
          <a:prstGeom prst="rect">
            <a:avLst/>
          </a:prstGeom>
          <a:noFill/>
          <a:ln>
            <a:noFill/>
          </a:ln>
        </p:spPr>
      </p:pic>
      <p:sp>
        <p:nvSpPr>
          <p:cNvPr id="2" name="矩形 1">
            <a:extLst>
              <a:ext uri="{FF2B5EF4-FFF2-40B4-BE49-F238E27FC236}">
                <a16:creationId xmlns:a16="http://schemas.microsoft.com/office/drawing/2014/main" id="{CF4F2F32-43C1-2D42-10BB-31D16FCC64CC}"/>
              </a:ext>
            </a:extLst>
          </p:cNvPr>
          <p:cNvSpPr/>
          <p:nvPr/>
        </p:nvSpPr>
        <p:spPr>
          <a:xfrm>
            <a:off x="6410424" y="2637322"/>
            <a:ext cx="1183909" cy="490899"/>
          </a:xfrm>
          <a:prstGeom prst="rect">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E50C5308-6505-CF3D-0B54-0F22338618FD}"/>
              </a:ext>
            </a:extLst>
          </p:cNvPr>
          <p:cNvSpPr txBox="1"/>
          <p:nvPr/>
        </p:nvSpPr>
        <p:spPr>
          <a:xfrm>
            <a:off x="2934863" y="2437267"/>
            <a:ext cx="2846714" cy="400110"/>
          </a:xfrm>
          <a:prstGeom prst="rect">
            <a:avLst/>
          </a:prstGeom>
          <a:noFill/>
        </p:spPr>
        <p:txBody>
          <a:bodyPr wrap="square" rtlCol="0">
            <a:spAutoFit/>
          </a:bodyPr>
          <a:lstStyle/>
          <a:p>
            <a:r>
              <a:rPr lang="en-US" altLang="zh-CN" sz="2000" b="1" dirty="0">
                <a:solidFill>
                  <a:schemeClr val="accent1"/>
                </a:solidFill>
                <a:latin typeface="+mn-ea"/>
                <a:cs typeface="Times New Roman" panose="02020603050405020304" pitchFamily="18" charset="0"/>
              </a:rPr>
              <a:t>&lt;</a:t>
            </a:r>
            <a:r>
              <a:rPr lang="en-US" altLang="zh-CN" sz="2000" b="1" dirty="0" err="1">
                <a:solidFill>
                  <a:schemeClr val="accent1"/>
                </a:solidFill>
                <a:latin typeface="+mn-ea"/>
                <a:cs typeface="Times New Roman" panose="02020603050405020304" pitchFamily="18" charset="0"/>
              </a:rPr>
              <a:t>wh</a:t>
            </a:r>
            <a:r>
              <a:rPr lang="en-US" altLang="zh-CN" sz="2000" b="1" dirty="0">
                <a:solidFill>
                  <a:schemeClr val="accent1"/>
                </a:solidFill>
                <a:latin typeface="+mn-ea"/>
                <a:cs typeface="Times New Roman" panose="02020603050405020304" pitchFamily="18" charset="0"/>
              </a:rPr>
              <a:t>, </a:t>
            </a:r>
            <a:r>
              <a:rPr lang="en-US" altLang="zh-CN" sz="2000" b="1" dirty="0" err="1">
                <a:solidFill>
                  <a:schemeClr val="accent1"/>
                </a:solidFill>
                <a:latin typeface="+mn-ea"/>
                <a:cs typeface="Times New Roman" panose="02020603050405020304" pitchFamily="18" charset="0"/>
              </a:rPr>
              <a:t>whe</a:t>
            </a:r>
            <a:r>
              <a:rPr lang="en-US" altLang="zh-CN" sz="2000" b="1" dirty="0">
                <a:solidFill>
                  <a:schemeClr val="accent1"/>
                </a:solidFill>
                <a:latin typeface="+mn-ea"/>
                <a:cs typeface="Times New Roman" panose="02020603050405020304" pitchFamily="18" charset="0"/>
              </a:rPr>
              <a:t>, her, ere, re&gt;</a:t>
            </a:r>
            <a:endParaRPr lang="zh-CN" altLang="en-US" sz="2000" b="1" dirty="0">
              <a:solidFill>
                <a:schemeClr val="accent1"/>
              </a:solidFill>
              <a:latin typeface="+mn-ea"/>
              <a:cs typeface="Times New Roman" panose="02020603050405020304" pitchFamily="18" charset="0"/>
            </a:endParaRPr>
          </a:p>
        </p:txBody>
      </p:sp>
      <p:sp>
        <p:nvSpPr>
          <p:cNvPr id="6" name="文本框 5">
            <a:extLst>
              <a:ext uri="{FF2B5EF4-FFF2-40B4-BE49-F238E27FC236}">
                <a16:creationId xmlns:a16="http://schemas.microsoft.com/office/drawing/2014/main" id="{CE522D60-E14A-2906-6A9D-29442A5F968F}"/>
              </a:ext>
            </a:extLst>
          </p:cNvPr>
          <p:cNvSpPr txBox="1"/>
          <p:nvPr/>
        </p:nvSpPr>
        <p:spPr>
          <a:xfrm>
            <a:off x="532441" y="2437267"/>
            <a:ext cx="1246555" cy="400110"/>
          </a:xfrm>
          <a:prstGeom prst="rect">
            <a:avLst/>
          </a:prstGeom>
          <a:noFill/>
        </p:spPr>
        <p:txBody>
          <a:bodyPr wrap="square" rtlCol="0">
            <a:spAutoFit/>
          </a:bodyPr>
          <a:lstStyle/>
          <a:p>
            <a:r>
              <a:rPr lang="en-US" altLang="zh-CN" sz="2000" b="1" dirty="0">
                <a:solidFill>
                  <a:schemeClr val="accent1"/>
                </a:solidFill>
                <a:latin typeface="+mn-ea"/>
                <a:cs typeface="Times New Roman" panose="02020603050405020304" pitchFamily="18" charset="0"/>
              </a:rPr>
              <a:t>&lt;where&gt;</a:t>
            </a:r>
            <a:endParaRPr lang="zh-CN" altLang="en-US" sz="2000" b="1" dirty="0">
              <a:solidFill>
                <a:schemeClr val="accent1"/>
              </a:solidFill>
              <a:latin typeface="+mn-ea"/>
              <a:cs typeface="Times New Roman" panose="02020603050405020304" pitchFamily="18" charset="0"/>
            </a:endParaRPr>
          </a:p>
        </p:txBody>
      </p:sp>
      <p:cxnSp>
        <p:nvCxnSpPr>
          <p:cNvPr id="7" name="直接箭头连接符 6">
            <a:extLst>
              <a:ext uri="{FF2B5EF4-FFF2-40B4-BE49-F238E27FC236}">
                <a16:creationId xmlns:a16="http://schemas.microsoft.com/office/drawing/2014/main" id="{6E6F6B47-2B9D-44DE-B611-0333AA6EB207}"/>
              </a:ext>
            </a:extLst>
          </p:cNvPr>
          <p:cNvCxnSpPr>
            <a:cxnSpLocks/>
            <a:endCxn id="6" idx="3"/>
          </p:cNvCxnSpPr>
          <p:nvPr/>
        </p:nvCxnSpPr>
        <p:spPr>
          <a:xfrm flipH="1">
            <a:off x="1778996" y="2637322"/>
            <a:ext cx="11558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7C28029-E184-549E-B51E-3E05D43A0192}"/>
              </a:ext>
            </a:extLst>
          </p:cNvPr>
          <p:cNvSpPr txBox="1"/>
          <p:nvPr/>
        </p:nvSpPr>
        <p:spPr>
          <a:xfrm>
            <a:off x="1024460" y="5291630"/>
            <a:ext cx="640712" cy="400110"/>
          </a:xfrm>
          <a:prstGeom prst="rect">
            <a:avLst/>
          </a:prstGeom>
          <a:noFill/>
        </p:spPr>
        <p:txBody>
          <a:bodyPr wrap="square" rtlCol="0">
            <a:spAutoFit/>
          </a:bodyPr>
          <a:lstStyle/>
          <a:p>
            <a:r>
              <a:rPr lang="en-US" altLang="zh-CN" sz="2000" b="1" dirty="0">
                <a:solidFill>
                  <a:schemeClr val="accent1"/>
                </a:solidFill>
                <a:latin typeface="+mn-ea"/>
                <a:cs typeface="Times New Roman" panose="02020603050405020304" pitchFamily="18" charset="0"/>
              </a:rPr>
              <a:t>{…}</a:t>
            </a:r>
            <a:endParaRPr lang="zh-CN" altLang="en-US" sz="2000" b="1" dirty="0">
              <a:solidFill>
                <a:schemeClr val="accent1"/>
              </a:solidFill>
              <a:latin typeface="+mn-ea"/>
              <a:cs typeface="Times New Roman" panose="02020603050405020304" pitchFamily="18" charset="0"/>
            </a:endParaRPr>
          </a:p>
        </p:txBody>
      </p:sp>
      <p:sp>
        <p:nvSpPr>
          <p:cNvPr id="11" name="文本框 10">
            <a:extLst>
              <a:ext uri="{FF2B5EF4-FFF2-40B4-BE49-F238E27FC236}">
                <a16:creationId xmlns:a16="http://schemas.microsoft.com/office/drawing/2014/main" id="{C789B190-AEAC-30E9-A108-B725A149B196}"/>
              </a:ext>
            </a:extLst>
          </p:cNvPr>
          <p:cNvSpPr txBox="1"/>
          <p:nvPr/>
        </p:nvSpPr>
        <p:spPr>
          <a:xfrm>
            <a:off x="2934862" y="5260489"/>
            <a:ext cx="6132175" cy="400110"/>
          </a:xfrm>
          <a:prstGeom prst="rect">
            <a:avLst/>
          </a:prstGeom>
          <a:noFill/>
        </p:spPr>
        <p:txBody>
          <a:bodyPr wrap="square" rtlCol="0">
            <a:spAutoFit/>
          </a:bodyPr>
          <a:lstStyle/>
          <a:p>
            <a:r>
              <a:rPr lang="en-US" altLang="zh-CN" sz="2000" b="1" dirty="0">
                <a:solidFill>
                  <a:schemeClr val="accent1"/>
                </a:solidFill>
                <a:latin typeface="+mn-ea"/>
                <a:cs typeface="Times New Roman" panose="02020603050405020304" pitchFamily="18" charset="0"/>
              </a:rPr>
              <a:t>&lt;</a:t>
            </a:r>
            <a:r>
              <a:rPr lang="en-US" altLang="zh-CN" sz="2000" b="1" dirty="0" err="1">
                <a:solidFill>
                  <a:schemeClr val="accent1"/>
                </a:solidFill>
                <a:latin typeface="+mn-ea"/>
                <a:cs typeface="Times New Roman" panose="02020603050405020304" pitchFamily="18" charset="0"/>
              </a:rPr>
              <a:t>src_ip</a:t>
            </a:r>
            <a:r>
              <a:rPr lang="en-US" altLang="zh-CN" sz="2000" b="1" dirty="0">
                <a:solidFill>
                  <a:schemeClr val="accent1"/>
                </a:solidFill>
                <a:latin typeface="+mn-ea"/>
                <a:cs typeface="Times New Roman" panose="02020603050405020304" pitchFamily="18" charset="0"/>
              </a:rPr>
              <a:t>:”…”,</a:t>
            </a:r>
            <a:r>
              <a:rPr lang="en-US" altLang="zh-CN" sz="2000" b="1" dirty="0" err="1">
                <a:solidFill>
                  <a:schemeClr val="accent1"/>
                </a:solidFill>
                <a:latin typeface="+mn-ea"/>
                <a:cs typeface="Times New Roman" panose="02020603050405020304" pitchFamily="18" charset="0"/>
              </a:rPr>
              <a:t>src_port</a:t>
            </a:r>
            <a:r>
              <a:rPr lang="en-US" altLang="zh-CN" sz="2000" b="1" dirty="0">
                <a:solidFill>
                  <a:schemeClr val="accent1"/>
                </a:solidFill>
                <a:latin typeface="+mn-ea"/>
                <a:cs typeface="Times New Roman" panose="02020603050405020304" pitchFamily="18" charset="0"/>
              </a:rPr>
              <a:t>:”…”,</a:t>
            </a:r>
            <a:r>
              <a:rPr lang="en-US" altLang="zh-CN" sz="2000" b="1" dirty="0" err="1">
                <a:solidFill>
                  <a:schemeClr val="accent1"/>
                </a:solidFill>
                <a:latin typeface="+mn-ea"/>
                <a:cs typeface="Times New Roman" panose="02020603050405020304" pitchFamily="18" charset="0"/>
              </a:rPr>
              <a:t>dst_ip</a:t>
            </a:r>
            <a:r>
              <a:rPr lang="en-US" altLang="zh-CN" sz="2000" b="1" dirty="0">
                <a:solidFill>
                  <a:schemeClr val="accent1"/>
                </a:solidFill>
                <a:latin typeface="+mn-ea"/>
                <a:cs typeface="Times New Roman" panose="02020603050405020304" pitchFamily="18" charset="0"/>
              </a:rPr>
              <a:t>:”…”,</a:t>
            </a:r>
            <a:r>
              <a:rPr lang="en-US" altLang="zh-CN" sz="2000" b="1" dirty="0" err="1">
                <a:solidFill>
                  <a:schemeClr val="accent1"/>
                </a:solidFill>
                <a:latin typeface="+mn-ea"/>
                <a:cs typeface="Times New Roman" panose="02020603050405020304" pitchFamily="18" charset="0"/>
              </a:rPr>
              <a:t>dst_port</a:t>
            </a:r>
            <a:r>
              <a:rPr lang="en-US" altLang="zh-CN" sz="2000" b="1" dirty="0">
                <a:solidFill>
                  <a:schemeClr val="accent1"/>
                </a:solidFill>
                <a:latin typeface="+mn-ea"/>
                <a:cs typeface="Times New Roman" panose="02020603050405020304" pitchFamily="18" charset="0"/>
              </a:rPr>
              <a:t>:”…”&gt;</a:t>
            </a:r>
            <a:endParaRPr lang="zh-CN" altLang="en-US" sz="2000" b="1" dirty="0">
              <a:solidFill>
                <a:schemeClr val="accent1"/>
              </a:solidFill>
              <a:latin typeface="+mn-ea"/>
              <a:cs typeface="Times New Roman" panose="02020603050405020304" pitchFamily="18" charset="0"/>
            </a:endParaRPr>
          </a:p>
        </p:txBody>
      </p:sp>
      <p:cxnSp>
        <p:nvCxnSpPr>
          <p:cNvPr id="12" name="直接箭头连接符 11">
            <a:extLst>
              <a:ext uri="{FF2B5EF4-FFF2-40B4-BE49-F238E27FC236}">
                <a16:creationId xmlns:a16="http://schemas.microsoft.com/office/drawing/2014/main" id="{F07E83EB-C5CA-199E-184C-12073C57538F}"/>
              </a:ext>
            </a:extLst>
          </p:cNvPr>
          <p:cNvCxnSpPr>
            <a:cxnSpLocks/>
          </p:cNvCxnSpPr>
          <p:nvPr/>
        </p:nvCxnSpPr>
        <p:spPr>
          <a:xfrm flipH="1">
            <a:off x="1778995" y="5491685"/>
            <a:ext cx="11558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4" name="图片 13">
            <a:extLst>
              <a:ext uri="{FF2B5EF4-FFF2-40B4-BE49-F238E27FC236}">
                <a16:creationId xmlns:a16="http://schemas.microsoft.com/office/drawing/2014/main" id="{816F799E-A90C-B0D1-C45A-A7838591CD6C}"/>
              </a:ext>
            </a:extLst>
          </p:cNvPr>
          <p:cNvPicPr>
            <a:picLocks noChangeAspect="1"/>
          </p:cNvPicPr>
          <p:nvPr/>
        </p:nvPicPr>
        <p:blipFill>
          <a:blip r:embed="rId4"/>
          <a:stretch>
            <a:fillRect/>
          </a:stretch>
        </p:blipFill>
        <p:spPr>
          <a:xfrm>
            <a:off x="1879300" y="3547651"/>
            <a:ext cx="2619741" cy="847843"/>
          </a:xfrm>
          <a:prstGeom prst="rect">
            <a:avLst/>
          </a:prstGeom>
        </p:spPr>
      </p:pic>
    </p:spTree>
    <p:extLst>
      <p:ext uri="{BB962C8B-B14F-4D97-AF65-F5344CB8AC3E}">
        <p14:creationId xmlns:p14="http://schemas.microsoft.com/office/powerpoint/2010/main" val="1896833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46703-6B57-120A-D3BC-D50DBBE37C2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E1843A-22B7-0FB2-19D7-C0A520D1EE9F}"/>
              </a:ext>
            </a:extLst>
          </p:cNvPr>
          <p:cNvSpPr>
            <a:spLocks noGrp="1"/>
          </p:cNvSpPr>
          <p:nvPr>
            <p:ph type="title"/>
          </p:nvPr>
        </p:nvSpPr>
        <p:spPr/>
        <p:txBody>
          <a:bodyPr/>
          <a:lstStyle/>
          <a:p>
            <a:r>
              <a:rPr lang="en-US" altLang="zh-CN" dirty="0"/>
              <a:t>Net-detect:</a:t>
            </a:r>
            <a:r>
              <a:rPr lang="zh-CN" altLang="en-US" dirty="0"/>
              <a:t> </a:t>
            </a:r>
            <a:r>
              <a:rPr lang="en-US" altLang="zh-CN" dirty="0"/>
              <a:t>Preprocess</a:t>
            </a:r>
            <a:endParaRPr lang="zh-CN" altLang="en-US" dirty="0"/>
          </a:p>
        </p:txBody>
      </p:sp>
      <p:pic>
        <p:nvPicPr>
          <p:cNvPr id="4" name="图片 3">
            <a:extLst>
              <a:ext uri="{FF2B5EF4-FFF2-40B4-BE49-F238E27FC236}">
                <a16:creationId xmlns:a16="http://schemas.microsoft.com/office/drawing/2014/main" id="{27E0D487-B466-5A18-7147-81BB7E8C77E6}"/>
              </a:ext>
            </a:extLst>
          </p:cNvPr>
          <p:cNvPicPr>
            <a:picLocks noChangeAspect="1"/>
          </p:cNvPicPr>
          <p:nvPr/>
        </p:nvPicPr>
        <p:blipFill>
          <a:blip r:embed="rId3"/>
          <a:stretch>
            <a:fillRect/>
          </a:stretch>
        </p:blipFill>
        <p:spPr>
          <a:xfrm>
            <a:off x="6645060" y="1924076"/>
            <a:ext cx="5035654" cy="1975064"/>
          </a:xfrm>
          <a:prstGeom prst="rect">
            <a:avLst/>
          </a:prstGeom>
          <a:noFill/>
          <a:ln>
            <a:noFill/>
          </a:ln>
        </p:spPr>
      </p:pic>
      <p:sp>
        <p:nvSpPr>
          <p:cNvPr id="5" name="矩形 4">
            <a:extLst>
              <a:ext uri="{FF2B5EF4-FFF2-40B4-BE49-F238E27FC236}">
                <a16:creationId xmlns:a16="http://schemas.microsoft.com/office/drawing/2014/main" id="{D06BEAF1-6880-EB3F-CBD0-DC9860F72054}"/>
              </a:ext>
            </a:extLst>
          </p:cNvPr>
          <p:cNvSpPr/>
          <p:nvPr/>
        </p:nvSpPr>
        <p:spPr>
          <a:xfrm>
            <a:off x="7722206" y="2666159"/>
            <a:ext cx="1156069" cy="432642"/>
          </a:xfrm>
          <a:prstGeom prst="rect">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AC5AB8DD-E28B-6C46-3A0E-76339C047447}"/>
              </a:ext>
            </a:extLst>
          </p:cNvPr>
          <p:cNvPicPr>
            <a:picLocks noChangeAspect="1"/>
          </p:cNvPicPr>
          <p:nvPr/>
        </p:nvPicPr>
        <p:blipFill>
          <a:blip r:embed="rId4"/>
          <a:stretch>
            <a:fillRect/>
          </a:stretch>
        </p:blipFill>
        <p:spPr>
          <a:xfrm>
            <a:off x="1227822" y="4770246"/>
            <a:ext cx="9581829" cy="1242211"/>
          </a:xfrm>
          <a:prstGeom prst="rect">
            <a:avLst/>
          </a:prstGeom>
          <a:noFill/>
          <a:ln>
            <a:noFill/>
          </a:ln>
        </p:spPr>
      </p:pic>
      <p:sp>
        <p:nvSpPr>
          <p:cNvPr id="7" name="矩形: 圆角 6">
            <a:extLst>
              <a:ext uri="{FF2B5EF4-FFF2-40B4-BE49-F238E27FC236}">
                <a16:creationId xmlns:a16="http://schemas.microsoft.com/office/drawing/2014/main" id="{5B2D1EDA-3269-853C-EC11-160E7801319E}"/>
              </a:ext>
            </a:extLst>
          </p:cNvPr>
          <p:cNvSpPr/>
          <p:nvPr/>
        </p:nvSpPr>
        <p:spPr>
          <a:xfrm>
            <a:off x="585898" y="1803235"/>
            <a:ext cx="2019798" cy="52714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n-ea"/>
                <a:cs typeface="Times New Roman" panose="02020603050405020304" pitchFamily="18" charset="0"/>
              </a:rPr>
              <a:t>Raw Net-logs</a:t>
            </a:r>
            <a:endParaRPr lang="zh-CN" altLang="en-US" sz="2000" b="1" dirty="0">
              <a:latin typeface="+mn-ea"/>
              <a:cs typeface="Times New Roman" panose="02020603050405020304" pitchFamily="18" charset="0"/>
            </a:endParaRPr>
          </a:p>
        </p:txBody>
      </p:sp>
      <p:sp>
        <p:nvSpPr>
          <p:cNvPr id="8" name="矩形: 圆角 7">
            <a:extLst>
              <a:ext uri="{FF2B5EF4-FFF2-40B4-BE49-F238E27FC236}">
                <a16:creationId xmlns:a16="http://schemas.microsoft.com/office/drawing/2014/main" id="{7FFD19A5-C167-AC94-BEED-5FA9BA80B547}"/>
              </a:ext>
            </a:extLst>
          </p:cNvPr>
          <p:cNvSpPr/>
          <p:nvPr/>
        </p:nvSpPr>
        <p:spPr>
          <a:xfrm>
            <a:off x="757089" y="3444510"/>
            <a:ext cx="1669164" cy="52714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n-ea"/>
                <a:cs typeface="Times New Roman" panose="02020603050405020304" pitchFamily="18" charset="0"/>
              </a:rPr>
              <a:t>Phrases</a:t>
            </a:r>
            <a:endParaRPr lang="zh-CN" altLang="en-US" sz="2000" b="1" dirty="0">
              <a:latin typeface="+mn-ea"/>
              <a:cs typeface="Times New Roman" panose="02020603050405020304" pitchFamily="18" charset="0"/>
            </a:endParaRPr>
          </a:p>
        </p:txBody>
      </p:sp>
      <p:sp>
        <p:nvSpPr>
          <p:cNvPr id="9" name="矩形: 圆角 8">
            <a:extLst>
              <a:ext uri="{FF2B5EF4-FFF2-40B4-BE49-F238E27FC236}">
                <a16:creationId xmlns:a16="http://schemas.microsoft.com/office/drawing/2014/main" id="{A89621B0-0A3D-1E3A-10C6-5EF700C914B0}"/>
              </a:ext>
            </a:extLst>
          </p:cNvPr>
          <p:cNvSpPr/>
          <p:nvPr/>
        </p:nvSpPr>
        <p:spPr>
          <a:xfrm>
            <a:off x="4122239" y="2653589"/>
            <a:ext cx="1508797" cy="52714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n-ea"/>
                <a:cs typeface="Times New Roman" panose="02020603050405020304" pitchFamily="18" charset="0"/>
              </a:rPr>
              <a:t>Graph</a:t>
            </a:r>
            <a:endParaRPr lang="zh-CN" altLang="en-US" sz="2000" b="1" dirty="0">
              <a:latin typeface="+mn-ea"/>
              <a:cs typeface="Times New Roman" panose="02020603050405020304" pitchFamily="18" charset="0"/>
            </a:endParaRPr>
          </a:p>
        </p:txBody>
      </p:sp>
      <p:cxnSp>
        <p:nvCxnSpPr>
          <p:cNvPr id="10" name="直接箭头连接符 9">
            <a:extLst>
              <a:ext uri="{FF2B5EF4-FFF2-40B4-BE49-F238E27FC236}">
                <a16:creationId xmlns:a16="http://schemas.microsoft.com/office/drawing/2014/main" id="{9C767537-9555-555C-22B5-C30906F2540E}"/>
              </a:ext>
            </a:extLst>
          </p:cNvPr>
          <p:cNvCxnSpPr/>
          <p:nvPr/>
        </p:nvCxnSpPr>
        <p:spPr>
          <a:xfrm>
            <a:off x="1591671" y="2417728"/>
            <a:ext cx="0" cy="964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126EA9E1-6496-80FF-7810-D0B37BE87197}"/>
              </a:ext>
            </a:extLst>
          </p:cNvPr>
          <p:cNvSpPr txBox="1"/>
          <p:nvPr/>
        </p:nvSpPr>
        <p:spPr>
          <a:xfrm>
            <a:off x="1631548" y="2679154"/>
            <a:ext cx="1260808" cy="369332"/>
          </a:xfrm>
          <a:prstGeom prst="rect">
            <a:avLst/>
          </a:prstGeom>
          <a:noFill/>
        </p:spPr>
        <p:txBody>
          <a:bodyPr wrap="square" rtlCol="0">
            <a:spAutoFit/>
          </a:bodyPr>
          <a:lstStyle/>
          <a:p>
            <a:r>
              <a:rPr lang="en-US" altLang="zh-CN" b="1" dirty="0">
                <a:solidFill>
                  <a:schemeClr val="accent1"/>
                </a:solidFill>
                <a:latin typeface="+mn-ea"/>
                <a:cs typeface="Times New Roman" panose="02020603050405020304" pitchFamily="18" charset="0"/>
              </a:rPr>
              <a:t>Extraction</a:t>
            </a:r>
            <a:endParaRPr lang="zh-CN" altLang="en-US" b="1" dirty="0">
              <a:solidFill>
                <a:schemeClr val="accent1"/>
              </a:solidFill>
              <a:latin typeface="+mn-ea"/>
              <a:cs typeface="Times New Roman" panose="02020603050405020304" pitchFamily="18" charset="0"/>
            </a:endParaRPr>
          </a:p>
        </p:txBody>
      </p:sp>
      <p:cxnSp>
        <p:nvCxnSpPr>
          <p:cNvPr id="12" name="直接箭头连接符 11">
            <a:extLst>
              <a:ext uri="{FF2B5EF4-FFF2-40B4-BE49-F238E27FC236}">
                <a16:creationId xmlns:a16="http://schemas.microsoft.com/office/drawing/2014/main" id="{FFB77B9D-8550-04A7-1331-2AACABD59FB7}"/>
              </a:ext>
            </a:extLst>
          </p:cNvPr>
          <p:cNvCxnSpPr>
            <a:cxnSpLocks/>
          </p:cNvCxnSpPr>
          <p:nvPr/>
        </p:nvCxnSpPr>
        <p:spPr>
          <a:xfrm flipV="1">
            <a:off x="2504337" y="2911608"/>
            <a:ext cx="1558899" cy="7869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CB245D6F-E211-4828-F061-8BD61F00AF9E}"/>
              </a:ext>
            </a:extLst>
          </p:cNvPr>
          <p:cNvSpPr txBox="1"/>
          <p:nvPr/>
        </p:nvSpPr>
        <p:spPr>
          <a:xfrm>
            <a:off x="2893455" y="3413187"/>
            <a:ext cx="1558899" cy="369332"/>
          </a:xfrm>
          <a:prstGeom prst="rect">
            <a:avLst/>
          </a:prstGeom>
          <a:noFill/>
        </p:spPr>
        <p:txBody>
          <a:bodyPr wrap="square" rtlCol="0">
            <a:spAutoFit/>
          </a:bodyPr>
          <a:lstStyle/>
          <a:p>
            <a:r>
              <a:rPr lang="en-US" altLang="zh-CN" b="1" dirty="0">
                <a:solidFill>
                  <a:schemeClr val="accent1"/>
                </a:solidFill>
                <a:latin typeface="+mn-ea"/>
                <a:cs typeface="Times New Roman" panose="02020603050405020304" pitchFamily="18" charset="0"/>
              </a:rPr>
              <a:t>Featurization</a:t>
            </a:r>
            <a:endParaRPr lang="zh-CN" altLang="en-US" b="1" dirty="0">
              <a:solidFill>
                <a:schemeClr val="accent1"/>
              </a:solidFill>
              <a:latin typeface="+mn-ea"/>
              <a:cs typeface="Times New Roman" panose="02020603050405020304" pitchFamily="18" charset="0"/>
            </a:endParaRPr>
          </a:p>
        </p:txBody>
      </p:sp>
    </p:spTree>
    <p:extLst>
      <p:ext uri="{BB962C8B-B14F-4D97-AF65-F5344CB8AC3E}">
        <p14:creationId xmlns:p14="http://schemas.microsoft.com/office/powerpoint/2010/main" val="2997222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4A971-723E-EAC7-469D-673530E2B2A5}"/>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5750CE61-261A-904E-ABA1-990FAC4AB1F8}"/>
              </a:ext>
            </a:extLst>
          </p:cNvPr>
          <p:cNvPicPr>
            <a:picLocks noChangeAspect="1"/>
          </p:cNvPicPr>
          <p:nvPr/>
        </p:nvPicPr>
        <p:blipFill>
          <a:blip r:embed="rId3"/>
          <a:stretch>
            <a:fillRect/>
          </a:stretch>
        </p:blipFill>
        <p:spPr>
          <a:xfrm>
            <a:off x="2831241" y="4281758"/>
            <a:ext cx="2132114" cy="547547"/>
          </a:xfrm>
          <a:prstGeom prst="rect">
            <a:avLst/>
          </a:prstGeom>
        </p:spPr>
      </p:pic>
      <p:sp>
        <p:nvSpPr>
          <p:cNvPr id="3" name="标题 2">
            <a:extLst>
              <a:ext uri="{FF2B5EF4-FFF2-40B4-BE49-F238E27FC236}">
                <a16:creationId xmlns:a16="http://schemas.microsoft.com/office/drawing/2014/main" id="{2346A6D3-F34A-61E4-44CA-2967B3C7BE1E}"/>
              </a:ext>
            </a:extLst>
          </p:cNvPr>
          <p:cNvSpPr>
            <a:spLocks noGrp="1"/>
          </p:cNvSpPr>
          <p:nvPr>
            <p:ph type="title"/>
          </p:nvPr>
        </p:nvSpPr>
        <p:spPr/>
        <p:txBody>
          <a:bodyPr/>
          <a:lstStyle/>
          <a:p>
            <a:r>
              <a:rPr lang="en-US" altLang="zh-CN" dirty="0"/>
              <a:t>Net-detect:</a:t>
            </a:r>
            <a:r>
              <a:rPr lang="zh-CN" altLang="en-US" dirty="0"/>
              <a:t> </a:t>
            </a:r>
            <a:r>
              <a:rPr lang="en-US" altLang="zh-CN" dirty="0"/>
              <a:t>VAE &amp; Evaluation</a:t>
            </a:r>
            <a:endParaRPr lang="zh-CN" altLang="en-US" dirty="0"/>
          </a:p>
        </p:txBody>
      </p:sp>
      <p:pic>
        <p:nvPicPr>
          <p:cNvPr id="4" name="图片 3">
            <a:extLst>
              <a:ext uri="{FF2B5EF4-FFF2-40B4-BE49-F238E27FC236}">
                <a16:creationId xmlns:a16="http://schemas.microsoft.com/office/drawing/2014/main" id="{B1A9D4D0-2212-B872-B5CC-1F2D65D5DA12}"/>
              </a:ext>
            </a:extLst>
          </p:cNvPr>
          <p:cNvPicPr>
            <a:picLocks noChangeAspect="1"/>
          </p:cNvPicPr>
          <p:nvPr/>
        </p:nvPicPr>
        <p:blipFill>
          <a:blip r:embed="rId4"/>
          <a:stretch>
            <a:fillRect/>
          </a:stretch>
        </p:blipFill>
        <p:spPr>
          <a:xfrm>
            <a:off x="6645060" y="1924076"/>
            <a:ext cx="5035654" cy="1975064"/>
          </a:xfrm>
          <a:prstGeom prst="rect">
            <a:avLst/>
          </a:prstGeom>
          <a:noFill/>
          <a:ln>
            <a:noFill/>
          </a:ln>
        </p:spPr>
      </p:pic>
      <p:sp>
        <p:nvSpPr>
          <p:cNvPr id="5" name="矩形 4">
            <a:extLst>
              <a:ext uri="{FF2B5EF4-FFF2-40B4-BE49-F238E27FC236}">
                <a16:creationId xmlns:a16="http://schemas.microsoft.com/office/drawing/2014/main" id="{E189F765-85A5-47C7-CE96-B865450862BD}"/>
              </a:ext>
            </a:extLst>
          </p:cNvPr>
          <p:cNvSpPr/>
          <p:nvPr/>
        </p:nvSpPr>
        <p:spPr>
          <a:xfrm>
            <a:off x="8841393" y="2663777"/>
            <a:ext cx="1156069" cy="432642"/>
          </a:xfrm>
          <a:prstGeom prst="rect">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648E821F-8E8E-B512-BD0D-C9B0A30EE968}"/>
              </a:ext>
            </a:extLst>
          </p:cNvPr>
          <p:cNvSpPr/>
          <p:nvPr/>
        </p:nvSpPr>
        <p:spPr>
          <a:xfrm>
            <a:off x="989020" y="2035827"/>
            <a:ext cx="2075693" cy="39936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n-ea"/>
                <a:cs typeface="Times New Roman" panose="02020603050405020304" pitchFamily="18" charset="0"/>
              </a:rPr>
              <a:t>Input Embedding</a:t>
            </a:r>
            <a:endParaRPr lang="zh-CN" altLang="en-US" sz="1200" b="1" dirty="0">
              <a:latin typeface="+mn-ea"/>
              <a:cs typeface="Times New Roman" panose="02020603050405020304" pitchFamily="18" charset="0"/>
            </a:endParaRPr>
          </a:p>
        </p:txBody>
      </p:sp>
      <p:sp>
        <p:nvSpPr>
          <p:cNvPr id="9" name="矩形: 圆角 8">
            <a:extLst>
              <a:ext uri="{FF2B5EF4-FFF2-40B4-BE49-F238E27FC236}">
                <a16:creationId xmlns:a16="http://schemas.microsoft.com/office/drawing/2014/main" id="{9811314B-C243-4110-7A0D-ADFECABD0587}"/>
              </a:ext>
            </a:extLst>
          </p:cNvPr>
          <p:cNvSpPr/>
          <p:nvPr/>
        </p:nvSpPr>
        <p:spPr>
          <a:xfrm>
            <a:off x="909026" y="3141046"/>
            <a:ext cx="2235681" cy="39936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n-ea"/>
                <a:cs typeface="Times New Roman" panose="02020603050405020304" pitchFamily="18" charset="0"/>
              </a:rPr>
              <a:t>Output Embedding</a:t>
            </a:r>
            <a:endParaRPr lang="zh-CN" altLang="en-US" sz="1200" b="1" dirty="0">
              <a:latin typeface="+mn-ea"/>
              <a:cs typeface="Times New Roman" panose="02020603050405020304" pitchFamily="18" charset="0"/>
            </a:endParaRPr>
          </a:p>
        </p:txBody>
      </p:sp>
      <p:cxnSp>
        <p:nvCxnSpPr>
          <p:cNvPr id="10" name="直接箭头连接符 9">
            <a:extLst>
              <a:ext uri="{FF2B5EF4-FFF2-40B4-BE49-F238E27FC236}">
                <a16:creationId xmlns:a16="http://schemas.microsoft.com/office/drawing/2014/main" id="{6B359966-2D96-652C-EB4E-3F9E5B96417B}"/>
              </a:ext>
            </a:extLst>
          </p:cNvPr>
          <p:cNvCxnSpPr>
            <a:cxnSpLocks/>
          </p:cNvCxnSpPr>
          <p:nvPr/>
        </p:nvCxnSpPr>
        <p:spPr>
          <a:xfrm>
            <a:off x="2050482" y="2517859"/>
            <a:ext cx="0" cy="561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1450F04-8130-98D3-7C78-1134B6FCB1CE}"/>
              </a:ext>
            </a:extLst>
          </p:cNvPr>
          <p:cNvSpPr txBox="1"/>
          <p:nvPr/>
        </p:nvSpPr>
        <p:spPr>
          <a:xfrm>
            <a:off x="2050483" y="2596054"/>
            <a:ext cx="610522" cy="369332"/>
          </a:xfrm>
          <a:prstGeom prst="rect">
            <a:avLst/>
          </a:prstGeom>
          <a:noFill/>
        </p:spPr>
        <p:txBody>
          <a:bodyPr wrap="square" rtlCol="0">
            <a:spAutoFit/>
          </a:bodyPr>
          <a:lstStyle/>
          <a:p>
            <a:r>
              <a:rPr lang="en-US" altLang="zh-CN" b="1" dirty="0">
                <a:solidFill>
                  <a:schemeClr val="accent1"/>
                </a:solidFill>
                <a:latin typeface="+mn-ea"/>
                <a:cs typeface="Times New Roman" panose="02020603050405020304" pitchFamily="18" charset="0"/>
              </a:rPr>
              <a:t>VAE</a:t>
            </a:r>
            <a:endParaRPr lang="zh-CN" altLang="en-US" b="1" dirty="0">
              <a:solidFill>
                <a:schemeClr val="accent1"/>
              </a:solidFill>
              <a:latin typeface="+mn-ea"/>
              <a:cs typeface="Times New Roman" panose="02020603050405020304" pitchFamily="18" charset="0"/>
            </a:endParaRPr>
          </a:p>
        </p:txBody>
      </p:sp>
      <p:sp>
        <p:nvSpPr>
          <p:cNvPr id="14" name="左大括号 13">
            <a:extLst>
              <a:ext uri="{FF2B5EF4-FFF2-40B4-BE49-F238E27FC236}">
                <a16:creationId xmlns:a16="http://schemas.microsoft.com/office/drawing/2014/main" id="{4F93012C-7DDD-1861-22DB-FCFF8D2FA8E4}"/>
              </a:ext>
            </a:extLst>
          </p:cNvPr>
          <p:cNvSpPr/>
          <p:nvPr/>
        </p:nvSpPr>
        <p:spPr>
          <a:xfrm flipH="1">
            <a:off x="3210771" y="2223438"/>
            <a:ext cx="848497" cy="115503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5" name="矩形: 圆角 14">
                <a:extLst>
                  <a:ext uri="{FF2B5EF4-FFF2-40B4-BE49-F238E27FC236}">
                    <a16:creationId xmlns:a16="http://schemas.microsoft.com/office/drawing/2014/main" id="{A42D5BF7-8CE1-87F4-F540-BCEB165FA606}"/>
                  </a:ext>
                </a:extLst>
              </p:cNvPr>
              <p:cNvSpPr/>
              <p:nvPr/>
            </p:nvSpPr>
            <p:spPr>
              <a:xfrm>
                <a:off x="4177526" y="2566020"/>
                <a:ext cx="1528484" cy="39936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n-ea"/>
                    <a:cs typeface="Times New Roman" panose="02020603050405020304" pitchFamily="18" charset="0"/>
                  </a:rPr>
                  <a:t>NMSE</a:t>
                </a:r>
                <a:r>
                  <a:rPr lang="zh-CN" altLang="en-US" b="1" dirty="0">
                    <a:latin typeface="+mn-ea"/>
                    <a:cs typeface="Times New Roman" panose="02020603050405020304" pitchFamily="18" charset="0"/>
                  </a:rPr>
                  <a:t> </a:t>
                </a:r>
                <a14:m>
                  <m:oMath xmlns:m="http://schemas.openxmlformats.org/officeDocument/2006/math">
                    <m:r>
                      <a:rPr lang="en-US" altLang="zh-CN" b="1" i="0" dirty="0" smtClean="0">
                        <a:latin typeface="Cambria Math" panose="02040503050406030204" pitchFamily="18" charset="0"/>
                        <a:cs typeface="Times New Roman" panose="02020603050405020304" pitchFamily="18" charset="0"/>
                      </a:rPr>
                      <m:t>(</m:t>
                    </m:r>
                    <m:r>
                      <a:rPr lang="en-US" altLang="zh-CN" b="1" i="1" dirty="0" smtClean="0">
                        <a:latin typeface="Cambria Math" panose="02040503050406030204" pitchFamily="18" charset="0"/>
                        <a:cs typeface="Times New Roman" panose="02020603050405020304" pitchFamily="18" charset="0"/>
                      </a:rPr>
                      <m:t>𝑹𝑬</m:t>
                    </m:r>
                    <m:r>
                      <a:rPr lang="en-US" altLang="zh-CN" b="1" i="1" dirty="0" smtClean="0">
                        <a:latin typeface="Cambria Math" panose="02040503050406030204" pitchFamily="18" charset="0"/>
                        <a:cs typeface="Times New Roman" panose="02020603050405020304" pitchFamily="18" charset="0"/>
                      </a:rPr>
                      <m:t>)</m:t>
                    </m:r>
                  </m:oMath>
                </a14:m>
                <a:endParaRPr lang="zh-CN" altLang="en-US" sz="1200" b="1" dirty="0">
                  <a:latin typeface="+mn-ea"/>
                  <a:cs typeface="Times New Roman" panose="02020603050405020304" pitchFamily="18" charset="0"/>
                </a:endParaRPr>
              </a:p>
            </p:txBody>
          </p:sp>
        </mc:Choice>
        <mc:Fallback xmlns="">
          <p:sp>
            <p:nvSpPr>
              <p:cNvPr id="15" name="矩形: 圆角 14">
                <a:extLst>
                  <a:ext uri="{FF2B5EF4-FFF2-40B4-BE49-F238E27FC236}">
                    <a16:creationId xmlns:a16="http://schemas.microsoft.com/office/drawing/2014/main" id="{A42D5BF7-8CE1-87F4-F540-BCEB165FA606}"/>
                  </a:ext>
                </a:extLst>
              </p:cNvPr>
              <p:cNvSpPr>
                <a:spLocks noRot="1" noChangeAspect="1" noMove="1" noResize="1" noEditPoints="1" noAdjustHandles="1" noChangeArrowheads="1" noChangeShapeType="1" noTextEdit="1"/>
              </p:cNvSpPr>
              <p:nvPr/>
            </p:nvSpPr>
            <p:spPr>
              <a:xfrm>
                <a:off x="4177526" y="2566020"/>
                <a:ext cx="1528484" cy="399366"/>
              </a:xfrm>
              <a:prstGeom prst="roundRect">
                <a:avLst/>
              </a:prstGeom>
              <a:blipFill>
                <a:blip r:embed="rId5"/>
                <a:stretch>
                  <a:fillRect t="-4615" b="-21538"/>
                </a:stretch>
              </a:blipFill>
              <a:ln>
                <a:noFill/>
              </a:ln>
            </p:spPr>
            <p:txBody>
              <a:bodyPr/>
              <a:lstStyle/>
              <a:p>
                <a:r>
                  <a:rPr lang="zh-CN" altLang="en-US">
                    <a:noFill/>
                  </a:rPr>
                  <a:t> </a:t>
                </a:r>
              </a:p>
            </p:txBody>
          </p:sp>
        </mc:Fallback>
      </mc:AlternateContent>
      <p:cxnSp>
        <p:nvCxnSpPr>
          <p:cNvPr id="16" name="直接箭头连接符 15">
            <a:extLst>
              <a:ext uri="{FF2B5EF4-FFF2-40B4-BE49-F238E27FC236}">
                <a16:creationId xmlns:a16="http://schemas.microsoft.com/office/drawing/2014/main" id="{9DB4F120-2282-F92C-49E5-1FBB776803F9}"/>
              </a:ext>
            </a:extLst>
          </p:cNvPr>
          <p:cNvCxnSpPr>
            <a:cxnSpLocks/>
          </p:cNvCxnSpPr>
          <p:nvPr/>
        </p:nvCxnSpPr>
        <p:spPr>
          <a:xfrm flipH="1">
            <a:off x="4365744" y="3046242"/>
            <a:ext cx="569261" cy="12355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矩形: 圆角 18">
                <a:extLst>
                  <a:ext uri="{FF2B5EF4-FFF2-40B4-BE49-F238E27FC236}">
                    <a16:creationId xmlns:a16="http://schemas.microsoft.com/office/drawing/2014/main" id="{D47EBDF4-BC40-1724-8803-D9A1285608D4}"/>
                  </a:ext>
                </a:extLst>
              </p:cNvPr>
              <p:cNvSpPr/>
              <p:nvPr/>
            </p:nvSpPr>
            <p:spPr>
              <a:xfrm>
                <a:off x="957147" y="5911243"/>
                <a:ext cx="2253624" cy="39936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n-ea"/>
                    <a:cs typeface="Times New Roman" panose="02020603050405020304" pitchFamily="18" charset="0"/>
                  </a:rPr>
                  <a:t>Cluster Totals </a:t>
                </a:r>
                <a14:m>
                  <m:oMath xmlns:m="http://schemas.openxmlformats.org/officeDocument/2006/math">
                    <m:r>
                      <a:rPr lang="en-US" altLang="zh-CN" b="1" i="0" dirty="0" smtClean="0">
                        <a:latin typeface="Cambria Math" panose="02040503050406030204" pitchFamily="18" charset="0"/>
                        <a:cs typeface="Times New Roman" panose="02020603050405020304" pitchFamily="18" charset="0"/>
                      </a:rPr>
                      <m:t>(</m:t>
                    </m:r>
                    <m:r>
                      <a:rPr lang="en-US" altLang="zh-CN" b="1" i="1" dirty="0" smtClean="0">
                        <a:latin typeface="Cambria Math" panose="02040503050406030204" pitchFamily="18" charset="0"/>
                        <a:cs typeface="Times New Roman" panose="02020603050405020304" pitchFamily="18" charset="0"/>
                      </a:rPr>
                      <m:t>𝑺𝑽</m:t>
                    </m:r>
                    <m:r>
                      <a:rPr lang="en-US" altLang="zh-CN" b="1" i="1" dirty="0" smtClean="0">
                        <a:latin typeface="Cambria Math" panose="02040503050406030204" pitchFamily="18" charset="0"/>
                        <a:cs typeface="Times New Roman" panose="02020603050405020304" pitchFamily="18" charset="0"/>
                      </a:rPr>
                      <m:t>)</m:t>
                    </m:r>
                  </m:oMath>
                </a14:m>
                <a:endParaRPr lang="zh-CN" altLang="en-US" sz="1200" b="1" dirty="0">
                  <a:latin typeface="+mn-ea"/>
                  <a:cs typeface="Times New Roman" panose="02020603050405020304" pitchFamily="18" charset="0"/>
                </a:endParaRPr>
              </a:p>
            </p:txBody>
          </p:sp>
        </mc:Choice>
        <mc:Fallback xmlns="">
          <p:sp>
            <p:nvSpPr>
              <p:cNvPr id="19" name="矩形: 圆角 18">
                <a:extLst>
                  <a:ext uri="{FF2B5EF4-FFF2-40B4-BE49-F238E27FC236}">
                    <a16:creationId xmlns:a16="http://schemas.microsoft.com/office/drawing/2014/main" id="{D47EBDF4-BC40-1724-8803-D9A1285608D4}"/>
                  </a:ext>
                </a:extLst>
              </p:cNvPr>
              <p:cNvSpPr>
                <a:spLocks noRot="1" noChangeAspect="1" noMove="1" noResize="1" noEditPoints="1" noAdjustHandles="1" noChangeArrowheads="1" noChangeShapeType="1" noTextEdit="1"/>
              </p:cNvSpPr>
              <p:nvPr/>
            </p:nvSpPr>
            <p:spPr>
              <a:xfrm>
                <a:off x="957147" y="5911243"/>
                <a:ext cx="2253624" cy="399366"/>
              </a:xfrm>
              <a:prstGeom prst="roundRect">
                <a:avLst/>
              </a:prstGeom>
              <a:blipFill>
                <a:blip r:embed="rId6"/>
                <a:stretch>
                  <a:fillRect t="-4615" b="-20000"/>
                </a:stretch>
              </a:blipFill>
              <a:ln>
                <a:noFill/>
              </a:ln>
            </p:spPr>
            <p:txBody>
              <a:bodyPr/>
              <a:lstStyle/>
              <a:p>
                <a:r>
                  <a:rPr lang="zh-CN" altLang="en-US">
                    <a:noFill/>
                  </a:rPr>
                  <a:t> </a:t>
                </a:r>
              </a:p>
            </p:txBody>
          </p:sp>
        </mc:Fallback>
      </mc:AlternateContent>
      <p:cxnSp>
        <p:nvCxnSpPr>
          <p:cNvPr id="20" name="直接箭头连接符 19">
            <a:extLst>
              <a:ext uri="{FF2B5EF4-FFF2-40B4-BE49-F238E27FC236}">
                <a16:creationId xmlns:a16="http://schemas.microsoft.com/office/drawing/2014/main" id="{A349DFCE-91A8-44B8-FE05-0063E5B682F8}"/>
              </a:ext>
            </a:extLst>
          </p:cNvPr>
          <p:cNvCxnSpPr>
            <a:cxnSpLocks/>
          </p:cNvCxnSpPr>
          <p:nvPr/>
        </p:nvCxnSpPr>
        <p:spPr>
          <a:xfrm flipV="1">
            <a:off x="2198770" y="4829305"/>
            <a:ext cx="1978756" cy="10008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矩形: 圆角 25">
                <a:extLst>
                  <a:ext uri="{FF2B5EF4-FFF2-40B4-BE49-F238E27FC236}">
                    <a16:creationId xmlns:a16="http://schemas.microsoft.com/office/drawing/2014/main" id="{0598B06C-C936-E447-02CF-3FEE7DB3F59B}"/>
                  </a:ext>
                </a:extLst>
              </p:cNvPr>
              <p:cNvSpPr/>
              <p:nvPr/>
            </p:nvSpPr>
            <p:spPr>
              <a:xfrm>
                <a:off x="6894330" y="5025296"/>
                <a:ext cx="2253624" cy="39936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n-ea"/>
                    <a:cs typeface="Times New Roman" panose="02020603050405020304" pitchFamily="18" charset="0"/>
                  </a:rPr>
                  <a:t>Threshold </a:t>
                </a:r>
                <a14:m>
                  <m:oMath xmlns:m="http://schemas.openxmlformats.org/officeDocument/2006/math">
                    <m:sSub>
                      <m:sSubPr>
                        <m:ctrlPr>
                          <a:rPr lang="en-US" altLang="zh-CN" b="1" i="1" smtClean="0">
                            <a:latin typeface="Cambria Math" panose="02040503050406030204" pitchFamily="18" charset="0"/>
                            <a:cs typeface="Times New Roman" panose="02020603050405020304" pitchFamily="18" charset="0"/>
                          </a:rPr>
                        </m:ctrlPr>
                      </m:sSubPr>
                      <m:e>
                        <m:r>
                          <a:rPr lang="en-US" altLang="zh-CN" b="1" i="1" smtClean="0">
                            <a:latin typeface="Cambria Math" panose="02040503050406030204" pitchFamily="18" charset="0"/>
                            <a:cs typeface="Times New Roman" panose="02020603050405020304" pitchFamily="18" charset="0"/>
                          </a:rPr>
                          <m:t>𝜽</m:t>
                        </m:r>
                      </m:e>
                      <m:sub>
                        <m:r>
                          <a:rPr lang="en-US" altLang="zh-CN" b="1" i="1" smtClean="0">
                            <a:latin typeface="Cambria Math" panose="02040503050406030204" pitchFamily="18" charset="0"/>
                            <a:cs typeface="Times New Roman" panose="02020603050405020304" pitchFamily="18" charset="0"/>
                          </a:rPr>
                          <m:t>𝒏𝒆𝒕</m:t>
                        </m:r>
                      </m:sub>
                    </m:sSub>
                  </m:oMath>
                </a14:m>
                <a:endParaRPr lang="zh-CN" altLang="en-US" sz="1600" b="1" dirty="0">
                  <a:latin typeface="+mn-ea"/>
                  <a:cs typeface="Times New Roman" panose="02020603050405020304" pitchFamily="18" charset="0"/>
                </a:endParaRPr>
              </a:p>
            </p:txBody>
          </p:sp>
        </mc:Choice>
        <mc:Fallback xmlns="">
          <p:sp>
            <p:nvSpPr>
              <p:cNvPr id="26" name="矩形: 圆角 25">
                <a:extLst>
                  <a:ext uri="{FF2B5EF4-FFF2-40B4-BE49-F238E27FC236}">
                    <a16:creationId xmlns:a16="http://schemas.microsoft.com/office/drawing/2014/main" id="{0598B06C-C936-E447-02CF-3FEE7DB3F59B}"/>
                  </a:ext>
                </a:extLst>
              </p:cNvPr>
              <p:cNvSpPr>
                <a:spLocks noRot="1" noChangeAspect="1" noMove="1" noResize="1" noEditPoints="1" noAdjustHandles="1" noChangeArrowheads="1" noChangeShapeType="1" noTextEdit="1"/>
              </p:cNvSpPr>
              <p:nvPr/>
            </p:nvSpPr>
            <p:spPr>
              <a:xfrm>
                <a:off x="6894330" y="5025296"/>
                <a:ext cx="2253624" cy="399366"/>
              </a:xfrm>
              <a:prstGeom prst="roundRect">
                <a:avLst/>
              </a:prstGeom>
              <a:blipFill>
                <a:blip r:embed="rId7"/>
                <a:stretch>
                  <a:fillRect t="-3030" b="-19697"/>
                </a:stretch>
              </a:blipFill>
              <a:ln>
                <a:noFill/>
              </a:ln>
            </p:spPr>
            <p:txBody>
              <a:bodyPr/>
              <a:lstStyle/>
              <a:p>
                <a:r>
                  <a:rPr lang="zh-CN" altLang="en-US">
                    <a:noFill/>
                  </a:rPr>
                  <a:t> </a:t>
                </a:r>
              </a:p>
            </p:txBody>
          </p:sp>
        </mc:Fallback>
      </mc:AlternateContent>
      <p:cxnSp>
        <p:nvCxnSpPr>
          <p:cNvPr id="27" name="直接箭头连接符 26">
            <a:extLst>
              <a:ext uri="{FF2B5EF4-FFF2-40B4-BE49-F238E27FC236}">
                <a16:creationId xmlns:a16="http://schemas.microsoft.com/office/drawing/2014/main" id="{2515065E-AA85-C032-449E-9A21F2DA05E9}"/>
              </a:ext>
            </a:extLst>
          </p:cNvPr>
          <p:cNvCxnSpPr>
            <a:cxnSpLocks/>
          </p:cNvCxnSpPr>
          <p:nvPr/>
        </p:nvCxnSpPr>
        <p:spPr>
          <a:xfrm>
            <a:off x="4935005" y="4657135"/>
            <a:ext cx="1889760" cy="585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32153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667DF-A3AC-BBD0-CE2D-958785E50936}"/>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E01CE06-2832-52D9-787F-A1F067D6A697}"/>
              </a:ext>
            </a:extLst>
          </p:cNvPr>
          <p:cNvSpPr>
            <a:spLocks noGrp="1"/>
          </p:cNvSpPr>
          <p:nvPr>
            <p:ph type="title"/>
          </p:nvPr>
        </p:nvSpPr>
        <p:spPr/>
        <p:txBody>
          <a:bodyPr/>
          <a:lstStyle/>
          <a:p>
            <a:r>
              <a:rPr lang="en-US" altLang="zh-CN" dirty="0"/>
              <a:t>Multi-source</a:t>
            </a:r>
            <a:endParaRPr lang="zh-CN" altLang="en-US" dirty="0"/>
          </a:p>
        </p:txBody>
      </p:sp>
      <p:sp>
        <p:nvSpPr>
          <p:cNvPr id="4" name="文本框 3">
            <a:extLst>
              <a:ext uri="{FF2B5EF4-FFF2-40B4-BE49-F238E27FC236}">
                <a16:creationId xmlns:a16="http://schemas.microsoft.com/office/drawing/2014/main" id="{A4C75BCA-92C4-7375-D976-2D4046361BD0}"/>
              </a:ext>
            </a:extLst>
          </p:cNvPr>
          <p:cNvSpPr txBox="1"/>
          <p:nvPr/>
        </p:nvSpPr>
        <p:spPr>
          <a:xfrm>
            <a:off x="2139861" y="4078844"/>
            <a:ext cx="1469614" cy="646331"/>
          </a:xfrm>
          <a:prstGeom prst="rect">
            <a:avLst/>
          </a:prstGeom>
          <a:noFill/>
        </p:spPr>
        <p:txBody>
          <a:bodyPr wrap="square" rtlCol="0">
            <a:spAutoFit/>
          </a:bodyPr>
          <a:lstStyle/>
          <a:p>
            <a:pPr algn="ctr"/>
            <a:r>
              <a:rPr lang="en-US" altLang="zh-CN" sz="2000" b="1" dirty="0">
                <a:solidFill>
                  <a:schemeClr val="accent1"/>
                </a:solidFill>
                <a:latin typeface="+mn-ea"/>
                <a:cs typeface="Times New Roman" panose="02020603050405020304" pitchFamily="18" charset="0"/>
              </a:rPr>
              <a:t>Net Alert</a:t>
            </a:r>
          </a:p>
          <a:p>
            <a:r>
              <a:rPr lang="en-US" altLang="zh-CN" sz="1600" b="1" dirty="0">
                <a:solidFill>
                  <a:schemeClr val="accent2"/>
                </a:solidFill>
                <a:latin typeface="+mn-ea"/>
                <a:cs typeface="Times New Roman" panose="02020603050405020304" pitchFamily="18" charset="0"/>
              </a:rPr>
              <a:t>(</a:t>
            </a:r>
            <a:r>
              <a:rPr lang="en-US" altLang="zh-CN" sz="1600" b="1" dirty="0" err="1">
                <a:solidFill>
                  <a:schemeClr val="accent2"/>
                </a:solidFill>
                <a:latin typeface="+mn-ea"/>
                <a:cs typeface="Times New Roman" panose="02020603050405020304" pitchFamily="18" charset="0"/>
              </a:rPr>
              <a:t>ip</a:t>
            </a:r>
            <a:r>
              <a:rPr lang="en-US" altLang="zh-CN" sz="1600" b="1" dirty="0">
                <a:solidFill>
                  <a:schemeClr val="accent2"/>
                </a:solidFill>
                <a:latin typeface="+mn-ea"/>
                <a:cs typeface="Times New Roman" panose="02020603050405020304" pitchFamily="18" charset="0"/>
              </a:rPr>
              <a:t>/port/</a:t>
            </a:r>
            <a:r>
              <a:rPr lang="en-US" altLang="zh-CN" sz="1600" b="1" dirty="0" err="1">
                <a:solidFill>
                  <a:schemeClr val="accent2"/>
                </a:solidFill>
                <a:latin typeface="+mn-ea"/>
                <a:cs typeface="Times New Roman" panose="02020603050405020304" pitchFamily="18" charset="0"/>
              </a:rPr>
              <a:t>t_net</a:t>
            </a:r>
            <a:r>
              <a:rPr lang="en-US" altLang="zh-CN" sz="1600" b="1" dirty="0">
                <a:solidFill>
                  <a:schemeClr val="accent2"/>
                </a:solidFill>
                <a:latin typeface="+mn-ea"/>
                <a:cs typeface="Times New Roman" panose="02020603050405020304" pitchFamily="18" charset="0"/>
              </a:rPr>
              <a:t>)</a:t>
            </a:r>
            <a:endParaRPr lang="zh-CN" altLang="en-US" sz="1600" b="1" dirty="0">
              <a:solidFill>
                <a:schemeClr val="accent2"/>
              </a:solidFill>
              <a:latin typeface="+mn-ea"/>
              <a:cs typeface="Times New Roman" panose="02020603050405020304" pitchFamily="18" charset="0"/>
            </a:endParaRPr>
          </a:p>
        </p:txBody>
      </p:sp>
      <p:sp>
        <p:nvSpPr>
          <p:cNvPr id="5" name="文本框 4">
            <a:extLst>
              <a:ext uri="{FF2B5EF4-FFF2-40B4-BE49-F238E27FC236}">
                <a16:creationId xmlns:a16="http://schemas.microsoft.com/office/drawing/2014/main" id="{F5C2AE97-E676-3869-2182-2B39F6EA7529}"/>
              </a:ext>
            </a:extLst>
          </p:cNvPr>
          <p:cNvSpPr txBox="1"/>
          <p:nvPr/>
        </p:nvSpPr>
        <p:spPr>
          <a:xfrm>
            <a:off x="5587387" y="2016180"/>
            <a:ext cx="1469614" cy="646331"/>
          </a:xfrm>
          <a:prstGeom prst="rect">
            <a:avLst/>
          </a:prstGeom>
          <a:noFill/>
        </p:spPr>
        <p:txBody>
          <a:bodyPr wrap="square" rtlCol="0">
            <a:spAutoFit/>
          </a:bodyPr>
          <a:lstStyle/>
          <a:p>
            <a:pPr algn="ctr"/>
            <a:r>
              <a:rPr lang="en-US" altLang="zh-CN" sz="2000" b="1" dirty="0">
                <a:solidFill>
                  <a:schemeClr val="accent1"/>
                </a:solidFill>
                <a:latin typeface="+mn-ea"/>
                <a:cs typeface="Times New Roman" panose="02020603050405020304" pitchFamily="18" charset="0"/>
              </a:rPr>
              <a:t>Host Alert</a:t>
            </a:r>
          </a:p>
          <a:p>
            <a:r>
              <a:rPr lang="en-US" altLang="zh-CN" sz="1600" b="1" dirty="0">
                <a:solidFill>
                  <a:schemeClr val="accent2"/>
                </a:solidFill>
                <a:latin typeface="+mn-ea"/>
                <a:cs typeface="Times New Roman" panose="02020603050405020304" pitchFamily="18" charset="0"/>
              </a:rPr>
              <a:t>(</a:t>
            </a:r>
            <a:r>
              <a:rPr lang="en-US" altLang="zh-CN" sz="1600" b="1" dirty="0" err="1">
                <a:solidFill>
                  <a:schemeClr val="accent2"/>
                </a:solidFill>
                <a:latin typeface="+mn-ea"/>
                <a:cs typeface="Times New Roman" panose="02020603050405020304" pitchFamily="18" charset="0"/>
              </a:rPr>
              <a:t>ip</a:t>
            </a:r>
            <a:r>
              <a:rPr lang="en-US" altLang="zh-CN" sz="1600" b="1" dirty="0">
                <a:solidFill>
                  <a:schemeClr val="accent2"/>
                </a:solidFill>
                <a:latin typeface="+mn-ea"/>
                <a:cs typeface="Times New Roman" panose="02020603050405020304" pitchFamily="18" charset="0"/>
              </a:rPr>
              <a:t>/port/</a:t>
            </a:r>
            <a:r>
              <a:rPr lang="en-US" altLang="zh-CN" sz="1600" b="1" dirty="0" err="1">
                <a:solidFill>
                  <a:schemeClr val="accent2"/>
                </a:solidFill>
                <a:latin typeface="+mn-ea"/>
                <a:cs typeface="Times New Roman" panose="02020603050405020304" pitchFamily="18" charset="0"/>
              </a:rPr>
              <a:t>t_sys</a:t>
            </a:r>
            <a:r>
              <a:rPr lang="en-US" altLang="zh-CN" sz="1600" b="1" dirty="0">
                <a:solidFill>
                  <a:schemeClr val="accent2"/>
                </a:solidFill>
                <a:latin typeface="+mn-ea"/>
                <a:cs typeface="Times New Roman" panose="02020603050405020304" pitchFamily="18" charset="0"/>
              </a:rPr>
              <a:t>)</a:t>
            </a:r>
            <a:endParaRPr lang="zh-CN" altLang="en-US" sz="1600" b="1" dirty="0">
              <a:solidFill>
                <a:schemeClr val="accent2"/>
              </a:solidFill>
              <a:latin typeface="+mn-ea"/>
              <a:cs typeface="Times New Roman" panose="02020603050405020304" pitchFamily="18" charset="0"/>
            </a:endParaRPr>
          </a:p>
        </p:txBody>
      </p:sp>
      <p:sp>
        <p:nvSpPr>
          <p:cNvPr id="6" name="文本框 5">
            <a:extLst>
              <a:ext uri="{FF2B5EF4-FFF2-40B4-BE49-F238E27FC236}">
                <a16:creationId xmlns:a16="http://schemas.microsoft.com/office/drawing/2014/main" id="{316287A9-5824-C999-F18C-AD7C5FD9E033}"/>
              </a:ext>
            </a:extLst>
          </p:cNvPr>
          <p:cNvSpPr txBox="1"/>
          <p:nvPr/>
        </p:nvSpPr>
        <p:spPr>
          <a:xfrm>
            <a:off x="4985150" y="3820881"/>
            <a:ext cx="1469614" cy="400110"/>
          </a:xfrm>
          <a:prstGeom prst="rect">
            <a:avLst/>
          </a:prstGeom>
          <a:noFill/>
        </p:spPr>
        <p:txBody>
          <a:bodyPr wrap="square" rtlCol="0">
            <a:spAutoFit/>
          </a:bodyPr>
          <a:lstStyle/>
          <a:p>
            <a:pPr algn="ctr"/>
            <a:r>
              <a:rPr lang="en-US" altLang="zh-CN" sz="2000" b="1" dirty="0">
                <a:solidFill>
                  <a:schemeClr val="accent1"/>
                </a:solidFill>
                <a:latin typeface="+mn-ea"/>
                <a:cs typeface="Times New Roman" panose="02020603050405020304" pitchFamily="18" charset="0"/>
              </a:rPr>
              <a:t>Search</a:t>
            </a:r>
          </a:p>
        </p:txBody>
      </p:sp>
      <p:cxnSp>
        <p:nvCxnSpPr>
          <p:cNvPr id="7" name="直接箭头连接符 6">
            <a:extLst>
              <a:ext uri="{FF2B5EF4-FFF2-40B4-BE49-F238E27FC236}">
                <a16:creationId xmlns:a16="http://schemas.microsoft.com/office/drawing/2014/main" id="{19360A66-03EC-6A49-F840-6131548132C6}"/>
              </a:ext>
            </a:extLst>
          </p:cNvPr>
          <p:cNvCxnSpPr>
            <a:cxnSpLocks/>
            <a:stCxn id="4" idx="3"/>
          </p:cNvCxnSpPr>
          <p:nvPr/>
        </p:nvCxnSpPr>
        <p:spPr>
          <a:xfrm flipV="1">
            <a:off x="3609475" y="4078844"/>
            <a:ext cx="1608865" cy="3231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450E8563-7D0C-2F6F-64E2-644F50CEDD1F}"/>
              </a:ext>
            </a:extLst>
          </p:cNvPr>
          <p:cNvSpPr txBox="1"/>
          <p:nvPr/>
        </p:nvSpPr>
        <p:spPr>
          <a:xfrm>
            <a:off x="3573642" y="3874743"/>
            <a:ext cx="1469614" cy="338554"/>
          </a:xfrm>
          <a:prstGeom prst="rect">
            <a:avLst/>
          </a:prstGeom>
          <a:noFill/>
        </p:spPr>
        <p:txBody>
          <a:bodyPr wrap="square" rtlCol="0">
            <a:spAutoFit/>
          </a:bodyPr>
          <a:lstStyle/>
          <a:p>
            <a:pPr algn="ctr"/>
            <a:r>
              <a:rPr lang="en-US" altLang="zh-CN" sz="1600" b="1" dirty="0">
                <a:solidFill>
                  <a:schemeClr val="accent1"/>
                </a:solidFill>
                <a:latin typeface="+mn-ea"/>
                <a:cs typeface="Times New Roman" panose="02020603050405020304" pitchFamily="18" charset="0"/>
              </a:rPr>
              <a:t>Extract</a:t>
            </a:r>
          </a:p>
        </p:txBody>
      </p:sp>
      <p:sp>
        <p:nvSpPr>
          <p:cNvPr id="11" name="左大括号 10">
            <a:extLst>
              <a:ext uri="{FF2B5EF4-FFF2-40B4-BE49-F238E27FC236}">
                <a16:creationId xmlns:a16="http://schemas.microsoft.com/office/drawing/2014/main" id="{DCFFFA29-F04B-7D92-C841-C8F03B688535}"/>
              </a:ext>
            </a:extLst>
          </p:cNvPr>
          <p:cNvSpPr/>
          <p:nvPr/>
        </p:nvSpPr>
        <p:spPr>
          <a:xfrm>
            <a:off x="6198670" y="3457842"/>
            <a:ext cx="424249" cy="115503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19306DF1-6BF2-DAFC-9BA3-88D19C96F77B}"/>
                  </a:ext>
                </a:extLst>
              </p:cNvPr>
              <p:cNvSpPr txBox="1"/>
              <p:nvPr/>
            </p:nvSpPr>
            <p:spPr>
              <a:xfrm>
                <a:off x="6376657" y="3429000"/>
                <a:ext cx="3550777" cy="42825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000" b="1" i="1" dirty="0" smtClean="0">
                              <a:solidFill>
                                <a:schemeClr val="accent1"/>
                              </a:solidFill>
                              <a:latin typeface="Cambria Math" panose="02040503050406030204" pitchFamily="18" charset="0"/>
                              <a:cs typeface="Times New Roman" panose="02020603050405020304" pitchFamily="18" charset="0"/>
                            </a:rPr>
                          </m:ctrlPr>
                        </m:sSubPr>
                        <m:e>
                          <m:r>
                            <a:rPr lang="en-US" altLang="zh-CN" sz="2000" b="1" i="1" dirty="0">
                              <a:solidFill>
                                <a:schemeClr val="accent1"/>
                              </a:solidFill>
                              <a:latin typeface="Cambria Math" panose="02040503050406030204" pitchFamily="18" charset="0"/>
                              <a:cs typeface="Times New Roman" panose="02020603050405020304" pitchFamily="18" charset="0"/>
                            </a:rPr>
                            <m:t>𝒕</m:t>
                          </m:r>
                        </m:e>
                        <m:sub>
                          <m:r>
                            <a:rPr lang="en-US" altLang="zh-CN" sz="2000" b="1" i="1" dirty="0" smtClean="0">
                              <a:solidFill>
                                <a:schemeClr val="accent1"/>
                              </a:solidFill>
                              <a:latin typeface="Cambria Math" panose="02040503050406030204" pitchFamily="18" charset="0"/>
                              <a:cs typeface="Times New Roman" panose="02020603050405020304" pitchFamily="18" charset="0"/>
                            </a:rPr>
                            <m:t>𝒔𝒚𝒔</m:t>
                          </m:r>
                        </m:sub>
                      </m:sSub>
                      <m:r>
                        <a:rPr lang="en-US" altLang="zh-CN" sz="2000" b="1" i="1" dirty="0" smtClean="0">
                          <a:solidFill>
                            <a:schemeClr val="accent1"/>
                          </a:solidFill>
                          <a:latin typeface="Cambria Math" panose="02040503050406030204" pitchFamily="18" charset="0"/>
                          <a:cs typeface="Times New Roman" panose="02020603050405020304" pitchFamily="18" charset="0"/>
                        </a:rPr>
                        <m:t>∈</m:t>
                      </m:r>
                      <m:d>
                        <m:dPr>
                          <m:begChr m:val="["/>
                          <m:endChr m:val="]"/>
                          <m:ctrlPr>
                            <a:rPr lang="en-US" altLang="zh-CN" sz="2000" b="1" i="1" dirty="0" smtClean="0">
                              <a:solidFill>
                                <a:schemeClr val="accent1"/>
                              </a:solidFill>
                              <a:latin typeface="Cambria Math" panose="02040503050406030204" pitchFamily="18" charset="0"/>
                              <a:cs typeface="Times New Roman" panose="02020603050405020304" pitchFamily="18" charset="0"/>
                            </a:rPr>
                          </m:ctrlPr>
                        </m:dPr>
                        <m:e>
                          <m:sSub>
                            <m:sSubPr>
                              <m:ctrlPr>
                                <a:rPr lang="en-US" altLang="zh-CN" sz="2000" b="1" i="1" dirty="0" smtClean="0">
                                  <a:solidFill>
                                    <a:schemeClr val="accent1"/>
                                  </a:solidFill>
                                  <a:latin typeface="Cambria Math" panose="02040503050406030204" pitchFamily="18" charset="0"/>
                                  <a:cs typeface="Times New Roman" panose="02020603050405020304" pitchFamily="18" charset="0"/>
                                </a:rPr>
                              </m:ctrlPr>
                            </m:sSubPr>
                            <m:e>
                              <m:r>
                                <a:rPr lang="en-US" altLang="zh-CN" sz="2000" b="1" i="1" dirty="0" smtClean="0">
                                  <a:solidFill>
                                    <a:schemeClr val="accent1"/>
                                  </a:solidFill>
                                  <a:latin typeface="Cambria Math" panose="02040503050406030204" pitchFamily="18" charset="0"/>
                                  <a:cs typeface="Times New Roman" panose="02020603050405020304" pitchFamily="18" charset="0"/>
                                </a:rPr>
                                <m:t>𝒕</m:t>
                              </m:r>
                            </m:e>
                            <m:sub>
                              <m:r>
                                <a:rPr lang="en-US" altLang="zh-CN" sz="2000" b="1" i="1" dirty="0" smtClean="0">
                                  <a:solidFill>
                                    <a:schemeClr val="accent1"/>
                                  </a:solidFill>
                                  <a:latin typeface="Cambria Math" panose="02040503050406030204" pitchFamily="18" charset="0"/>
                                  <a:cs typeface="Times New Roman" panose="02020603050405020304" pitchFamily="18" charset="0"/>
                                </a:rPr>
                                <m:t>𝒏𝒆𝒕</m:t>
                              </m:r>
                            </m:sub>
                          </m:sSub>
                          <m:r>
                            <a:rPr lang="en-US" altLang="zh-CN" sz="2000" b="1" i="1" dirty="0" smtClean="0">
                              <a:solidFill>
                                <a:schemeClr val="accent1"/>
                              </a:solidFill>
                              <a:latin typeface="Cambria Math" panose="02040503050406030204" pitchFamily="18" charset="0"/>
                              <a:cs typeface="Times New Roman" panose="02020603050405020304" pitchFamily="18" charset="0"/>
                            </a:rPr>
                            <m:t>−</m:t>
                          </m:r>
                          <m:sSub>
                            <m:sSubPr>
                              <m:ctrlPr>
                                <a:rPr lang="en-US" altLang="zh-CN" sz="2000" b="1" i="1" dirty="0" smtClean="0">
                                  <a:solidFill>
                                    <a:schemeClr val="accent1"/>
                                  </a:solidFill>
                                  <a:latin typeface="Cambria Math" panose="02040503050406030204" pitchFamily="18" charset="0"/>
                                  <a:cs typeface="Times New Roman" panose="02020603050405020304" pitchFamily="18" charset="0"/>
                                </a:rPr>
                              </m:ctrlPr>
                            </m:sSubPr>
                            <m:e>
                              <m:r>
                                <a:rPr lang="en-US" altLang="zh-CN" sz="2000" b="1" i="1" dirty="0" smtClean="0">
                                  <a:solidFill>
                                    <a:schemeClr val="accent1"/>
                                  </a:solidFill>
                                  <a:latin typeface="Cambria Math" panose="02040503050406030204" pitchFamily="18" charset="0"/>
                                  <a:cs typeface="Times New Roman" panose="02020603050405020304" pitchFamily="18" charset="0"/>
                                </a:rPr>
                                <m:t>𝒕</m:t>
                              </m:r>
                            </m:e>
                            <m:sub>
                              <m:r>
                                <a:rPr lang="en-US" altLang="zh-CN" sz="2000" b="1" i="1" dirty="0" smtClean="0">
                                  <a:solidFill>
                                    <a:schemeClr val="accent1"/>
                                  </a:solidFill>
                                  <a:latin typeface="Cambria Math" panose="02040503050406030204" pitchFamily="18" charset="0"/>
                                  <a:cs typeface="Times New Roman" panose="02020603050405020304" pitchFamily="18" charset="0"/>
                                </a:rPr>
                                <m:t>𝒘</m:t>
                              </m:r>
                            </m:sub>
                          </m:sSub>
                          <m:r>
                            <a:rPr lang="en-US" altLang="zh-CN" sz="2000" b="1" i="1" dirty="0" smtClean="0">
                              <a:solidFill>
                                <a:schemeClr val="accent1"/>
                              </a:solidFill>
                              <a:latin typeface="Cambria Math" panose="02040503050406030204" pitchFamily="18" charset="0"/>
                              <a:cs typeface="Times New Roman" panose="02020603050405020304" pitchFamily="18" charset="0"/>
                            </a:rPr>
                            <m:t>,</m:t>
                          </m:r>
                          <m:sSub>
                            <m:sSubPr>
                              <m:ctrlPr>
                                <a:rPr lang="en-US" altLang="zh-CN" sz="2000" b="1" i="1" dirty="0" smtClean="0">
                                  <a:solidFill>
                                    <a:schemeClr val="accent1"/>
                                  </a:solidFill>
                                  <a:latin typeface="Cambria Math" panose="02040503050406030204" pitchFamily="18" charset="0"/>
                                  <a:cs typeface="Times New Roman" panose="02020603050405020304" pitchFamily="18" charset="0"/>
                                </a:rPr>
                              </m:ctrlPr>
                            </m:sSubPr>
                            <m:e>
                              <m:r>
                                <a:rPr lang="en-US" altLang="zh-CN" sz="2000" b="1" i="1" dirty="0" smtClean="0">
                                  <a:solidFill>
                                    <a:schemeClr val="accent1"/>
                                  </a:solidFill>
                                  <a:latin typeface="Cambria Math" panose="02040503050406030204" pitchFamily="18" charset="0"/>
                                  <a:cs typeface="Times New Roman" panose="02020603050405020304" pitchFamily="18" charset="0"/>
                                </a:rPr>
                                <m:t>𝒕</m:t>
                              </m:r>
                            </m:e>
                            <m:sub>
                              <m:r>
                                <a:rPr lang="en-US" altLang="zh-CN" sz="2000" b="1" i="1" dirty="0" smtClean="0">
                                  <a:solidFill>
                                    <a:schemeClr val="accent1"/>
                                  </a:solidFill>
                                  <a:latin typeface="Cambria Math" panose="02040503050406030204" pitchFamily="18" charset="0"/>
                                  <a:cs typeface="Times New Roman" panose="02020603050405020304" pitchFamily="18" charset="0"/>
                                </a:rPr>
                                <m:t>𝒏𝒆𝒕</m:t>
                              </m:r>
                            </m:sub>
                          </m:sSub>
                          <m:r>
                            <a:rPr lang="en-US" altLang="zh-CN" sz="2000" b="1" i="1" dirty="0" smtClean="0">
                              <a:solidFill>
                                <a:schemeClr val="accent1"/>
                              </a:solidFill>
                              <a:latin typeface="Cambria Math" panose="02040503050406030204" pitchFamily="18" charset="0"/>
                              <a:cs typeface="Times New Roman" panose="02020603050405020304" pitchFamily="18" charset="0"/>
                            </a:rPr>
                            <m:t>+</m:t>
                          </m:r>
                          <m:sSub>
                            <m:sSubPr>
                              <m:ctrlPr>
                                <a:rPr lang="en-US" altLang="zh-CN" sz="2000" b="1" i="1" dirty="0" smtClean="0">
                                  <a:solidFill>
                                    <a:schemeClr val="accent1"/>
                                  </a:solidFill>
                                  <a:latin typeface="Cambria Math" panose="02040503050406030204" pitchFamily="18" charset="0"/>
                                  <a:cs typeface="Times New Roman" panose="02020603050405020304" pitchFamily="18" charset="0"/>
                                </a:rPr>
                              </m:ctrlPr>
                            </m:sSubPr>
                            <m:e>
                              <m:r>
                                <a:rPr lang="en-US" altLang="zh-CN" sz="2000" b="1" i="1" dirty="0" smtClean="0">
                                  <a:solidFill>
                                    <a:schemeClr val="accent1"/>
                                  </a:solidFill>
                                  <a:latin typeface="Cambria Math" panose="02040503050406030204" pitchFamily="18" charset="0"/>
                                  <a:cs typeface="Times New Roman" panose="02020603050405020304" pitchFamily="18" charset="0"/>
                                </a:rPr>
                                <m:t>𝒕</m:t>
                              </m:r>
                            </m:e>
                            <m:sub>
                              <m:r>
                                <a:rPr lang="en-US" altLang="zh-CN" sz="2000" b="1" i="1" dirty="0" smtClean="0">
                                  <a:solidFill>
                                    <a:schemeClr val="accent1"/>
                                  </a:solidFill>
                                  <a:latin typeface="Cambria Math" panose="02040503050406030204" pitchFamily="18" charset="0"/>
                                  <a:cs typeface="Times New Roman" panose="02020603050405020304" pitchFamily="18" charset="0"/>
                                </a:rPr>
                                <m:t>𝒘</m:t>
                              </m:r>
                            </m:sub>
                          </m:sSub>
                        </m:e>
                      </m:d>
                    </m:oMath>
                  </m:oMathPara>
                </a14:m>
                <a:endParaRPr dirty="0"/>
              </a:p>
            </p:txBody>
          </p:sp>
        </mc:Choice>
        <mc:Fallback xmlns="">
          <p:sp>
            <p:nvSpPr>
              <p:cNvPr id="12" name="文本框 11">
                <a:extLst>
                  <a:ext uri="{FF2B5EF4-FFF2-40B4-BE49-F238E27FC236}">
                    <a16:creationId xmlns:a16="http://schemas.microsoft.com/office/drawing/2014/main" id="{19306DF1-6BF2-DAFC-9BA3-88D19C96F77B}"/>
                  </a:ext>
                </a:extLst>
              </p:cNvPr>
              <p:cNvSpPr txBox="1">
                <a:spLocks noRot="1" noChangeAspect="1" noMove="1" noResize="1" noEditPoints="1" noAdjustHandles="1" noChangeArrowheads="1" noChangeShapeType="1" noTextEdit="1"/>
              </p:cNvSpPr>
              <p:nvPr/>
            </p:nvSpPr>
            <p:spPr>
              <a:xfrm>
                <a:off x="6376657" y="3429000"/>
                <a:ext cx="3550777" cy="428259"/>
              </a:xfrm>
              <a:prstGeom prst="rect">
                <a:avLst/>
              </a:prstGeom>
              <a:blipFill>
                <a:blip r:embed="rId3"/>
                <a:stretch>
                  <a:fillRect t="-10000" b="-15714"/>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CFF3E54B-8F38-50AB-213E-079BC08EE6D1}"/>
              </a:ext>
            </a:extLst>
          </p:cNvPr>
          <p:cNvSpPr txBox="1"/>
          <p:nvPr/>
        </p:nvSpPr>
        <p:spPr>
          <a:xfrm>
            <a:off x="6410793" y="4161943"/>
            <a:ext cx="2188355" cy="400110"/>
          </a:xfrm>
          <a:prstGeom prst="rect">
            <a:avLst/>
          </a:prstGeom>
          <a:noFill/>
        </p:spPr>
        <p:txBody>
          <a:bodyPr wrap="square" rtlCol="0">
            <a:spAutoFit/>
          </a:bodyPr>
          <a:lstStyle/>
          <a:p>
            <a:pPr algn="ctr"/>
            <a:r>
              <a:rPr lang="en-US" altLang="zh-CN" sz="2000" b="1" dirty="0">
                <a:solidFill>
                  <a:schemeClr val="accent1"/>
                </a:solidFill>
                <a:latin typeface="+mn-ea"/>
                <a:cs typeface="Times New Roman" panose="02020603050405020304" pitchFamily="18" charset="0"/>
              </a:rPr>
              <a:t>Same (</a:t>
            </a:r>
            <a:r>
              <a:rPr lang="en-US" altLang="zh-CN" sz="2000" b="1" dirty="0" err="1">
                <a:solidFill>
                  <a:schemeClr val="accent1"/>
                </a:solidFill>
                <a:latin typeface="+mn-ea"/>
                <a:cs typeface="Times New Roman" panose="02020603050405020304" pitchFamily="18" charset="0"/>
              </a:rPr>
              <a:t>ip</a:t>
            </a:r>
            <a:r>
              <a:rPr lang="en-US" altLang="zh-CN" sz="2000" b="1" dirty="0">
                <a:solidFill>
                  <a:schemeClr val="accent1"/>
                </a:solidFill>
                <a:latin typeface="+mn-ea"/>
                <a:cs typeface="Times New Roman" panose="02020603050405020304" pitchFamily="18" charset="0"/>
              </a:rPr>
              <a:t>, port)</a:t>
            </a:r>
          </a:p>
        </p:txBody>
      </p:sp>
      <p:cxnSp>
        <p:nvCxnSpPr>
          <p:cNvPr id="14" name="直接箭头连接符 13">
            <a:extLst>
              <a:ext uri="{FF2B5EF4-FFF2-40B4-BE49-F238E27FC236}">
                <a16:creationId xmlns:a16="http://schemas.microsoft.com/office/drawing/2014/main" id="{BED04C36-9C0A-825F-8676-818BC9F751EF}"/>
              </a:ext>
            </a:extLst>
          </p:cNvPr>
          <p:cNvCxnSpPr>
            <a:cxnSpLocks/>
          </p:cNvCxnSpPr>
          <p:nvPr/>
        </p:nvCxnSpPr>
        <p:spPr>
          <a:xfrm flipH="1">
            <a:off x="5587387" y="2765812"/>
            <a:ext cx="611283" cy="10550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A3FCF917-720B-E6E3-C3DB-90E83383547E}"/>
              </a:ext>
            </a:extLst>
          </p:cNvPr>
          <p:cNvCxnSpPr>
            <a:cxnSpLocks/>
            <a:stCxn id="6" idx="2"/>
          </p:cNvCxnSpPr>
          <p:nvPr/>
        </p:nvCxnSpPr>
        <p:spPr>
          <a:xfrm>
            <a:off x="5719957" y="4220991"/>
            <a:ext cx="874058" cy="1325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6D523AC3-5619-96FB-69DA-7656525E6945}"/>
              </a:ext>
            </a:extLst>
          </p:cNvPr>
          <p:cNvSpPr txBox="1"/>
          <p:nvPr/>
        </p:nvSpPr>
        <p:spPr>
          <a:xfrm>
            <a:off x="6594015" y="5636680"/>
            <a:ext cx="1469614" cy="400110"/>
          </a:xfrm>
          <a:prstGeom prst="rect">
            <a:avLst/>
          </a:prstGeom>
          <a:noFill/>
        </p:spPr>
        <p:txBody>
          <a:bodyPr wrap="square" rtlCol="0">
            <a:spAutoFit/>
          </a:bodyPr>
          <a:lstStyle/>
          <a:p>
            <a:pPr algn="ctr"/>
            <a:r>
              <a:rPr lang="en-US" altLang="zh-CN" sz="2000" b="1" dirty="0">
                <a:solidFill>
                  <a:schemeClr val="accent1"/>
                </a:solidFill>
                <a:latin typeface="+mn-ea"/>
                <a:cs typeface="Times New Roman" panose="02020603050405020304" pitchFamily="18" charset="0"/>
              </a:rPr>
              <a:t>Final Alert</a:t>
            </a:r>
          </a:p>
        </p:txBody>
      </p:sp>
    </p:spTree>
    <p:extLst>
      <p:ext uri="{BB962C8B-B14F-4D97-AF65-F5344CB8AC3E}">
        <p14:creationId xmlns:p14="http://schemas.microsoft.com/office/powerpoint/2010/main" val="25758238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952AA-A671-C7AB-E239-678C4B0CE15B}"/>
            </a:ext>
          </a:extLst>
        </p:cNvPr>
        <p:cNvGrpSpPr/>
        <p:nvPr/>
      </p:nvGrpSpPr>
      <p:grpSpPr>
        <a:xfrm>
          <a:off x="0" y="0"/>
          <a:ext cx="0" cy="0"/>
          <a:chOff x="0" y="0"/>
          <a:chExt cx="0" cy="0"/>
        </a:xfrm>
      </p:grpSpPr>
      <p:pic>
        <p:nvPicPr>
          <p:cNvPr id="5" name="内容占位符 4">
            <a:extLst>
              <a:ext uri="{FF2B5EF4-FFF2-40B4-BE49-F238E27FC236}">
                <a16:creationId xmlns:a16="http://schemas.microsoft.com/office/drawing/2014/main" id="{FDFF3D6F-142E-E797-D170-C176F83032DB}"/>
              </a:ext>
            </a:extLst>
          </p:cNvPr>
          <p:cNvPicPr>
            <a:picLocks noGrp="1" noChangeAspect="1"/>
          </p:cNvPicPr>
          <p:nvPr>
            <p:ph sz="quarter" idx="10"/>
          </p:nvPr>
        </p:nvPicPr>
        <p:blipFill>
          <a:blip r:embed="rId3" cstate="print">
            <a:extLst>
              <a:ext uri="{28A0092B-C50C-407E-A947-70E740481C1C}">
                <a14:useLocalDpi xmlns:a14="http://schemas.microsoft.com/office/drawing/2010/main" val="0"/>
              </a:ext>
            </a:extLst>
          </a:blip>
          <a:stretch>
            <a:fillRect/>
          </a:stretch>
        </p:blipFill>
        <p:spPr>
          <a:xfrm>
            <a:off x="6179896" y="2548854"/>
            <a:ext cx="5147932" cy="2895712"/>
          </a:xfrm>
        </p:spPr>
      </p:pic>
      <p:sp>
        <p:nvSpPr>
          <p:cNvPr id="3" name="标题 2">
            <a:extLst>
              <a:ext uri="{FF2B5EF4-FFF2-40B4-BE49-F238E27FC236}">
                <a16:creationId xmlns:a16="http://schemas.microsoft.com/office/drawing/2014/main" id="{1E4381A3-311C-754D-600D-55A66CE6BD17}"/>
              </a:ext>
            </a:extLst>
          </p:cNvPr>
          <p:cNvSpPr>
            <a:spLocks noGrp="1"/>
          </p:cNvSpPr>
          <p:nvPr>
            <p:ph type="title"/>
          </p:nvPr>
        </p:nvSpPr>
        <p:spPr/>
        <p:txBody>
          <a:bodyPr/>
          <a:lstStyle/>
          <a:p>
            <a:r>
              <a:rPr lang="en-US" altLang="zh-CN" dirty="0"/>
              <a:t>Investigate</a:t>
            </a:r>
            <a:endParaRPr lang="zh-CN" altLang="en-US" dirty="0"/>
          </a:p>
        </p:txBody>
      </p:sp>
      <p:sp>
        <p:nvSpPr>
          <p:cNvPr id="6" name="矩形: 圆角 5">
            <a:extLst>
              <a:ext uri="{FF2B5EF4-FFF2-40B4-BE49-F238E27FC236}">
                <a16:creationId xmlns:a16="http://schemas.microsoft.com/office/drawing/2014/main" id="{4E6D056B-CD43-D991-7CEF-873D99E9D9B6}"/>
              </a:ext>
            </a:extLst>
          </p:cNvPr>
          <p:cNvSpPr/>
          <p:nvPr/>
        </p:nvSpPr>
        <p:spPr>
          <a:xfrm>
            <a:off x="5089146" y="3728186"/>
            <a:ext cx="683910" cy="39936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n-ea"/>
                <a:cs typeface="Times New Roman" panose="02020603050405020304" pitchFamily="18" charset="0"/>
              </a:rPr>
              <a:t>STP</a:t>
            </a:r>
            <a:endParaRPr lang="zh-CN" altLang="en-US" sz="1200" b="1" dirty="0">
              <a:latin typeface="+mn-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矩形: 圆角 6">
                <a:extLst>
                  <a:ext uri="{FF2B5EF4-FFF2-40B4-BE49-F238E27FC236}">
                    <a16:creationId xmlns:a16="http://schemas.microsoft.com/office/drawing/2014/main" id="{859FC191-CFA5-2C15-6013-FBFD25127F19}"/>
                  </a:ext>
                </a:extLst>
              </p:cNvPr>
              <p:cNvSpPr/>
              <p:nvPr/>
            </p:nvSpPr>
            <p:spPr>
              <a:xfrm>
                <a:off x="3733671" y="2811183"/>
                <a:ext cx="478438" cy="39936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1" i="1" dirty="0" smtClean="0">
                          <a:latin typeface="Cambria Math" panose="02040503050406030204" pitchFamily="18" charset="0"/>
                          <a:cs typeface="Times New Roman" panose="02020603050405020304" pitchFamily="18" charset="0"/>
                        </a:rPr>
                        <m:t> </m:t>
                      </m:r>
                      <m:r>
                        <a:rPr lang="en-US" altLang="zh-CN" b="1" i="1" dirty="0" smtClean="0">
                          <a:latin typeface="Cambria Math" panose="02040503050406030204" pitchFamily="18" charset="0"/>
                          <a:cs typeface="Times New Roman" panose="02020603050405020304" pitchFamily="18" charset="0"/>
                        </a:rPr>
                        <m:t>𝑺</m:t>
                      </m:r>
                    </m:oMath>
                  </m:oMathPara>
                </a14:m>
                <a:endParaRPr lang="zh-CN" altLang="en-US" sz="1200" b="1" dirty="0">
                  <a:latin typeface="+mn-ea"/>
                  <a:cs typeface="Times New Roman" panose="02020603050405020304" pitchFamily="18" charset="0"/>
                </a:endParaRPr>
              </a:p>
            </p:txBody>
          </p:sp>
        </mc:Choice>
        <mc:Fallback xmlns="">
          <p:sp>
            <p:nvSpPr>
              <p:cNvPr id="7" name="矩形: 圆角 6">
                <a:extLst>
                  <a:ext uri="{FF2B5EF4-FFF2-40B4-BE49-F238E27FC236}">
                    <a16:creationId xmlns:a16="http://schemas.microsoft.com/office/drawing/2014/main" id="{859FC191-CFA5-2C15-6013-FBFD25127F19}"/>
                  </a:ext>
                </a:extLst>
              </p:cNvPr>
              <p:cNvSpPr>
                <a:spLocks noRot="1" noChangeAspect="1" noMove="1" noResize="1" noEditPoints="1" noAdjustHandles="1" noChangeArrowheads="1" noChangeShapeType="1" noTextEdit="1"/>
              </p:cNvSpPr>
              <p:nvPr/>
            </p:nvSpPr>
            <p:spPr>
              <a:xfrm>
                <a:off x="3733671" y="2811183"/>
                <a:ext cx="478438" cy="399366"/>
              </a:xfrm>
              <a:prstGeom prst="roundRect">
                <a:avLst/>
              </a:prstGeom>
              <a:blipFill>
                <a:blip r:embed="rId4"/>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圆角 7">
                <a:extLst>
                  <a:ext uri="{FF2B5EF4-FFF2-40B4-BE49-F238E27FC236}">
                    <a16:creationId xmlns:a16="http://schemas.microsoft.com/office/drawing/2014/main" id="{21D68BF8-3333-9585-EF29-93A3FF313FB9}"/>
                  </a:ext>
                </a:extLst>
              </p:cNvPr>
              <p:cNvSpPr/>
              <p:nvPr/>
            </p:nvSpPr>
            <p:spPr>
              <a:xfrm>
                <a:off x="3733671" y="1830013"/>
                <a:ext cx="478438" cy="39936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1" i="1" dirty="0" smtClean="0">
                          <a:latin typeface="Cambria Math" panose="02040503050406030204" pitchFamily="18" charset="0"/>
                          <a:cs typeface="Times New Roman" panose="02020603050405020304" pitchFamily="18" charset="0"/>
                        </a:rPr>
                        <m:t> </m:t>
                      </m:r>
                      <m:r>
                        <a:rPr lang="en-US" altLang="zh-CN" b="1" i="1" dirty="0" smtClean="0">
                          <a:latin typeface="Cambria Math" panose="02040503050406030204" pitchFamily="18" charset="0"/>
                          <a:cs typeface="Times New Roman" panose="02020603050405020304" pitchFamily="18" charset="0"/>
                        </a:rPr>
                        <m:t>𝑽</m:t>
                      </m:r>
                    </m:oMath>
                  </m:oMathPara>
                </a14:m>
                <a:endParaRPr lang="zh-CN" altLang="en-US" sz="1200" b="1" dirty="0">
                  <a:latin typeface="+mn-ea"/>
                  <a:cs typeface="Times New Roman" panose="02020603050405020304" pitchFamily="18" charset="0"/>
                </a:endParaRPr>
              </a:p>
            </p:txBody>
          </p:sp>
        </mc:Choice>
        <mc:Fallback xmlns="">
          <p:sp>
            <p:nvSpPr>
              <p:cNvPr id="8" name="矩形: 圆角 7">
                <a:extLst>
                  <a:ext uri="{FF2B5EF4-FFF2-40B4-BE49-F238E27FC236}">
                    <a16:creationId xmlns:a16="http://schemas.microsoft.com/office/drawing/2014/main" id="{21D68BF8-3333-9585-EF29-93A3FF313FB9}"/>
                  </a:ext>
                </a:extLst>
              </p:cNvPr>
              <p:cNvSpPr>
                <a:spLocks noRot="1" noChangeAspect="1" noMove="1" noResize="1" noEditPoints="1" noAdjustHandles="1" noChangeArrowheads="1" noChangeShapeType="1" noTextEdit="1"/>
              </p:cNvSpPr>
              <p:nvPr/>
            </p:nvSpPr>
            <p:spPr>
              <a:xfrm>
                <a:off x="3733671" y="1830013"/>
                <a:ext cx="478438" cy="399366"/>
              </a:xfrm>
              <a:prstGeom prst="roundRect">
                <a:avLst/>
              </a:prstGeom>
              <a:blipFill>
                <a:blip r:embed="rId5"/>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圆角 8">
                <a:extLst>
                  <a:ext uri="{FF2B5EF4-FFF2-40B4-BE49-F238E27FC236}">
                    <a16:creationId xmlns:a16="http://schemas.microsoft.com/office/drawing/2014/main" id="{C0C8AEFD-3DD7-7642-6087-056A3BC901A8}"/>
                  </a:ext>
                </a:extLst>
              </p:cNvPr>
              <p:cNvSpPr/>
              <p:nvPr/>
            </p:nvSpPr>
            <p:spPr>
              <a:xfrm>
                <a:off x="3733671" y="3774421"/>
                <a:ext cx="478438" cy="39936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1" i="1" dirty="0" smtClean="0">
                          <a:latin typeface="Cambria Math" panose="02040503050406030204" pitchFamily="18" charset="0"/>
                          <a:cs typeface="Times New Roman" panose="02020603050405020304" pitchFamily="18" charset="0"/>
                        </a:rPr>
                        <m:t> </m:t>
                      </m:r>
                      <m:r>
                        <a:rPr lang="en-US" altLang="zh-CN" b="1" i="1" dirty="0" smtClean="0">
                          <a:latin typeface="Cambria Math" panose="02040503050406030204" pitchFamily="18" charset="0"/>
                          <a:cs typeface="Times New Roman" panose="02020603050405020304" pitchFamily="18" charset="0"/>
                        </a:rPr>
                        <m:t>𝑬</m:t>
                      </m:r>
                    </m:oMath>
                  </m:oMathPara>
                </a14:m>
                <a:endParaRPr lang="zh-CN" altLang="en-US" b="1" dirty="0">
                  <a:latin typeface="+mn-ea"/>
                  <a:cs typeface="Times New Roman" panose="02020603050405020304" pitchFamily="18" charset="0"/>
                </a:endParaRPr>
              </a:p>
            </p:txBody>
          </p:sp>
        </mc:Choice>
        <mc:Fallback xmlns="">
          <p:sp>
            <p:nvSpPr>
              <p:cNvPr id="9" name="矩形: 圆角 8">
                <a:extLst>
                  <a:ext uri="{FF2B5EF4-FFF2-40B4-BE49-F238E27FC236}">
                    <a16:creationId xmlns:a16="http://schemas.microsoft.com/office/drawing/2014/main" id="{C0C8AEFD-3DD7-7642-6087-056A3BC901A8}"/>
                  </a:ext>
                </a:extLst>
              </p:cNvPr>
              <p:cNvSpPr>
                <a:spLocks noRot="1" noChangeAspect="1" noMove="1" noResize="1" noEditPoints="1" noAdjustHandles="1" noChangeArrowheads="1" noChangeShapeType="1" noTextEdit="1"/>
              </p:cNvSpPr>
              <p:nvPr/>
            </p:nvSpPr>
            <p:spPr>
              <a:xfrm>
                <a:off x="3733671" y="3774421"/>
                <a:ext cx="478438" cy="399366"/>
              </a:xfrm>
              <a:prstGeom prst="roundRect">
                <a:avLst/>
              </a:prstGeom>
              <a:blipFill>
                <a:blip r:embed="rId6"/>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圆角 9">
                <a:extLst>
                  <a:ext uri="{FF2B5EF4-FFF2-40B4-BE49-F238E27FC236}">
                    <a16:creationId xmlns:a16="http://schemas.microsoft.com/office/drawing/2014/main" id="{71702CBC-D412-EAAB-B202-0A94AACB7352}"/>
                  </a:ext>
                </a:extLst>
              </p:cNvPr>
              <p:cNvSpPr/>
              <p:nvPr/>
            </p:nvSpPr>
            <p:spPr>
              <a:xfrm>
                <a:off x="3603100" y="4737659"/>
                <a:ext cx="835834" cy="39936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1" i="1" dirty="0" smtClean="0">
                          <a:latin typeface="Cambria Math" panose="02040503050406030204" pitchFamily="18" charset="0"/>
                          <a:cs typeface="Times New Roman" panose="02020603050405020304" pitchFamily="18" charset="0"/>
                        </a:rPr>
                        <m:t> </m:t>
                      </m:r>
                      <m:r>
                        <a:rPr lang="en-US" altLang="zh-CN" b="1" i="1" dirty="0" smtClean="0">
                          <a:latin typeface="Cambria Math" panose="02040503050406030204" pitchFamily="18" charset="0"/>
                          <a:cs typeface="Times New Roman" panose="02020603050405020304" pitchFamily="18" charset="0"/>
                        </a:rPr>
                        <m:t>𝒅</m:t>
                      </m:r>
                      <m:r>
                        <a:rPr lang="en-US" altLang="zh-CN" b="1" i="1" dirty="0" smtClean="0">
                          <a:latin typeface="Cambria Math" panose="02040503050406030204" pitchFamily="18" charset="0"/>
                          <a:cs typeface="Times New Roman" panose="02020603050405020304" pitchFamily="18" charset="0"/>
                        </a:rPr>
                        <m:t>(</m:t>
                      </m:r>
                      <m:r>
                        <a:rPr lang="en-US" altLang="zh-CN" b="1" i="1" dirty="0" err="1">
                          <a:latin typeface="Cambria Math" panose="02040503050406030204" pitchFamily="18" charset="0"/>
                          <a:cs typeface="Times New Roman" panose="02020603050405020304" pitchFamily="18" charset="0"/>
                        </a:rPr>
                        <m:t>𝒖</m:t>
                      </m:r>
                      <m:r>
                        <a:rPr lang="en-US" altLang="zh-CN" b="1" i="1" dirty="0" err="1">
                          <a:latin typeface="Cambria Math" panose="02040503050406030204" pitchFamily="18" charset="0"/>
                          <a:cs typeface="Times New Roman" panose="02020603050405020304" pitchFamily="18" charset="0"/>
                        </a:rPr>
                        <m:t>,</m:t>
                      </m:r>
                      <m:r>
                        <a:rPr lang="en-US" altLang="zh-CN" b="1" i="1" dirty="0" err="1">
                          <a:latin typeface="Cambria Math" panose="02040503050406030204" pitchFamily="18" charset="0"/>
                          <a:cs typeface="Times New Roman" panose="02020603050405020304" pitchFamily="18" charset="0"/>
                        </a:rPr>
                        <m:t>𝒗</m:t>
                      </m:r>
                      <m:r>
                        <a:rPr lang="en-US" altLang="zh-CN" b="1" i="1" dirty="0">
                          <a:latin typeface="Cambria Math" panose="02040503050406030204" pitchFamily="18" charset="0"/>
                          <a:cs typeface="Times New Roman" panose="02020603050405020304" pitchFamily="18" charset="0"/>
                        </a:rPr>
                        <m:t>)</m:t>
                      </m:r>
                    </m:oMath>
                  </m:oMathPara>
                </a14:m>
                <a:endParaRPr lang="zh-CN" altLang="en-US" b="1" dirty="0">
                  <a:latin typeface="+mn-ea"/>
                  <a:cs typeface="Times New Roman" panose="02020603050405020304" pitchFamily="18" charset="0"/>
                </a:endParaRPr>
              </a:p>
            </p:txBody>
          </p:sp>
        </mc:Choice>
        <mc:Fallback xmlns="">
          <p:sp>
            <p:nvSpPr>
              <p:cNvPr id="10" name="矩形: 圆角 9">
                <a:extLst>
                  <a:ext uri="{FF2B5EF4-FFF2-40B4-BE49-F238E27FC236}">
                    <a16:creationId xmlns:a16="http://schemas.microsoft.com/office/drawing/2014/main" id="{71702CBC-D412-EAAB-B202-0A94AACB7352}"/>
                  </a:ext>
                </a:extLst>
              </p:cNvPr>
              <p:cNvSpPr>
                <a:spLocks noRot="1" noChangeAspect="1" noMove="1" noResize="1" noEditPoints="1" noAdjustHandles="1" noChangeArrowheads="1" noChangeShapeType="1" noTextEdit="1"/>
              </p:cNvSpPr>
              <p:nvPr/>
            </p:nvSpPr>
            <p:spPr>
              <a:xfrm>
                <a:off x="3603100" y="4737659"/>
                <a:ext cx="835834" cy="399366"/>
              </a:xfrm>
              <a:prstGeom prst="roundRect">
                <a:avLst/>
              </a:prstGeom>
              <a:blipFill>
                <a:blip r:embed="rId7"/>
                <a:stretch>
                  <a:fillRect l="-3650" r="-5109" b="-757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圆角 10">
                <a:extLst>
                  <a:ext uri="{FF2B5EF4-FFF2-40B4-BE49-F238E27FC236}">
                    <a16:creationId xmlns:a16="http://schemas.microsoft.com/office/drawing/2014/main" id="{BF824190-4C06-0191-A8E6-9B4DE308466E}"/>
                  </a:ext>
                </a:extLst>
              </p:cNvPr>
              <p:cNvSpPr/>
              <p:nvPr/>
            </p:nvSpPr>
            <p:spPr>
              <a:xfrm>
                <a:off x="3671320" y="5718829"/>
                <a:ext cx="699393" cy="39936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1" i="1" dirty="0" smtClean="0">
                          <a:latin typeface="Cambria Math" panose="02040503050406030204" pitchFamily="18" charset="0"/>
                          <a:cs typeface="Times New Roman" panose="02020603050405020304" pitchFamily="18" charset="0"/>
                        </a:rPr>
                        <m:t> </m:t>
                      </m:r>
                      <m:r>
                        <a:rPr lang="en-US" altLang="zh-CN" b="1" i="1" dirty="0" smtClean="0">
                          <a:latin typeface="Cambria Math" panose="02040503050406030204" pitchFamily="18" charset="0"/>
                          <a:cs typeface="Times New Roman" panose="02020603050405020304" pitchFamily="18" charset="0"/>
                        </a:rPr>
                        <m:t>𝑴𝑺𝑻</m:t>
                      </m:r>
                    </m:oMath>
                  </m:oMathPara>
                </a14:m>
                <a:endParaRPr lang="zh-CN" altLang="en-US" b="1" dirty="0">
                  <a:latin typeface="+mn-ea"/>
                  <a:cs typeface="Times New Roman" panose="02020603050405020304" pitchFamily="18" charset="0"/>
                </a:endParaRPr>
              </a:p>
            </p:txBody>
          </p:sp>
        </mc:Choice>
        <mc:Fallback xmlns="">
          <p:sp>
            <p:nvSpPr>
              <p:cNvPr id="11" name="矩形: 圆角 10">
                <a:extLst>
                  <a:ext uri="{FF2B5EF4-FFF2-40B4-BE49-F238E27FC236}">
                    <a16:creationId xmlns:a16="http://schemas.microsoft.com/office/drawing/2014/main" id="{BF824190-4C06-0191-A8E6-9B4DE308466E}"/>
                  </a:ext>
                </a:extLst>
              </p:cNvPr>
              <p:cNvSpPr>
                <a:spLocks noRot="1" noChangeAspect="1" noMove="1" noResize="1" noEditPoints="1" noAdjustHandles="1" noChangeArrowheads="1" noChangeShapeType="1" noTextEdit="1"/>
              </p:cNvSpPr>
              <p:nvPr/>
            </p:nvSpPr>
            <p:spPr>
              <a:xfrm>
                <a:off x="3671320" y="5718829"/>
                <a:ext cx="699393" cy="399366"/>
              </a:xfrm>
              <a:prstGeom prst="roundRect">
                <a:avLst/>
              </a:prstGeom>
              <a:blipFill>
                <a:blip r:embed="rId8"/>
                <a:stretch>
                  <a:fillRect/>
                </a:stretch>
              </a:blipFill>
              <a:ln>
                <a:noFill/>
              </a:ln>
            </p:spPr>
            <p:txBody>
              <a:bodyPr/>
              <a:lstStyle/>
              <a:p>
                <a:r>
                  <a:rPr lang="zh-CN" altLang="en-US">
                    <a:noFill/>
                  </a:rPr>
                  <a:t> </a:t>
                </a:r>
              </a:p>
            </p:txBody>
          </p:sp>
        </mc:Fallback>
      </mc:AlternateContent>
      <p:sp>
        <p:nvSpPr>
          <p:cNvPr id="12" name="左大括号 11">
            <a:extLst>
              <a:ext uri="{FF2B5EF4-FFF2-40B4-BE49-F238E27FC236}">
                <a16:creationId xmlns:a16="http://schemas.microsoft.com/office/drawing/2014/main" id="{1033EE88-102B-608D-6455-6D3E490CBC47}"/>
              </a:ext>
            </a:extLst>
          </p:cNvPr>
          <p:cNvSpPr/>
          <p:nvPr/>
        </p:nvSpPr>
        <p:spPr>
          <a:xfrm flipH="1">
            <a:off x="4470179" y="2050182"/>
            <a:ext cx="424249" cy="383354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AC5CEDBD-0285-AF10-C01B-8A24412C89D9}"/>
              </a:ext>
            </a:extLst>
          </p:cNvPr>
          <p:cNvSpPr txBox="1"/>
          <p:nvPr/>
        </p:nvSpPr>
        <p:spPr>
          <a:xfrm>
            <a:off x="1134943" y="1820857"/>
            <a:ext cx="1469614" cy="400110"/>
          </a:xfrm>
          <a:prstGeom prst="rect">
            <a:avLst/>
          </a:prstGeom>
          <a:noFill/>
        </p:spPr>
        <p:txBody>
          <a:bodyPr wrap="square" rtlCol="0">
            <a:spAutoFit/>
          </a:bodyPr>
          <a:lstStyle/>
          <a:p>
            <a:pPr algn="ctr"/>
            <a:r>
              <a:rPr lang="en-US" altLang="zh-CN" sz="2000" b="1" dirty="0">
                <a:solidFill>
                  <a:schemeClr val="accent1"/>
                </a:solidFill>
                <a:latin typeface="+mn-ea"/>
                <a:cs typeface="Times New Roman" panose="02020603050405020304" pitchFamily="18" charset="0"/>
              </a:rPr>
              <a:t>Terminals</a:t>
            </a:r>
          </a:p>
        </p:txBody>
      </p:sp>
      <p:sp>
        <p:nvSpPr>
          <p:cNvPr id="14" name="文本框 13">
            <a:extLst>
              <a:ext uri="{FF2B5EF4-FFF2-40B4-BE49-F238E27FC236}">
                <a16:creationId xmlns:a16="http://schemas.microsoft.com/office/drawing/2014/main" id="{C0461B68-352D-D0D6-B11C-1C711A14BFCD}"/>
              </a:ext>
            </a:extLst>
          </p:cNvPr>
          <p:cNvSpPr txBox="1"/>
          <p:nvPr/>
        </p:nvSpPr>
        <p:spPr>
          <a:xfrm>
            <a:off x="1134943" y="2792571"/>
            <a:ext cx="1469614" cy="400110"/>
          </a:xfrm>
          <a:prstGeom prst="rect">
            <a:avLst/>
          </a:prstGeom>
          <a:noFill/>
        </p:spPr>
        <p:txBody>
          <a:bodyPr wrap="square" rtlCol="0">
            <a:spAutoFit/>
          </a:bodyPr>
          <a:lstStyle/>
          <a:p>
            <a:pPr algn="ctr"/>
            <a:r>
              <a:rPr lang="en-US" altLang="zh-CN" sz="2000" b="1" dirty="0">
                <a:solidFill>
                  <a:schemeClr val="accent1"/>
                </a:solidFill>
                <a:latin typeface="+mn-ea"/>
                <a:cs typeface="Times New Roman" panose="02020603050405020304" pitchFamily="18" charset="0"/>
              </a:rPr>
              <a:t>Alerts</a:t>
            </a:r>
          </a:p>
        </p:txBody>
      </p:sp>
      <p:sp>
        <p:nvSpPr>
          <p:cNvPr id="15" name="文本框 14">
            <a:extLst>
              <a:ext uri="{FF2B5EF4-FFF2-40B4-BE49-F238E27FC236}">
                <a16:creationId xmlns:a16="http://schemas.microsoft.com/office/drawing/2014/main" id="{4A8E9A7E-F4EB-85CE-3D38-A8D4CDCF9E6D}"/>
              </a:ext>
            </a:extLst>
          </p:cNvPr>
          <p:cNvSpPr txBox="1"/>
          <p:nvPr/>
        </p:nvSpPr>
        <p:spPr>
          <a:xfrm>
            <a:off x="1020429" y="3804226"/>
            <a:ext cx="1698643" cy="400110"/>
          </a:xfrm>
          <a:prstGeom prst="rect">
            <a:avLst/>
          </a:prstGeom>
          <a:noFill/>
        </p:spPr>
        <p:txBody>
          <a:bodyPr wrap="square" rtlCol="0">
            <a:spAutoFit/>
          </a:bodyPr>
          <a:lstStyle/>
          <a:p>
            <a:pPr algn="ctr"/>
            <a:r>
              <a:rPr lang="en-US" altLang="zh-CN" sz="2000" b="1" dirty="0">
                <a:solidFill>
                  <a:schemeClr val="accent1"/>
                </a:solidFill>
                <a:latin typeface="+mn-ea"/>
                <a:cs typeface="Times New Roman" panose="02020603050405020304" pitchFamily="18" charset="0"/>
              </a:rPr>
              <a:t>Match Flows</a:t>
            </a:r>
          </a:p>
        </p:txBody>
      </p:sp>
      <p:sp>
        <p:nvSpPr>
          <p:cNvPr id="16" name="文本框 15">
            <a:extLst>
              <a:ext uri="{FF2B5EF4-FFF2-40B4-BE49-F238E27FC236}">
                <a16:creationId xmlns:a16="http://schemas.microsoft.com/office/drawing/2014/main" id="{1A95F064-28EF-5DE2-188E-7E6CEED4C1F4}"/>
              </a:ext>
            </a:extLst>
          </p:cNvPr>
          <p:cNvSpPr txBox="1"/>
          <p:nvPr/>
        </p:nvSpPr>
        <p:spPr>
          <a:xfrm>
            <a:off x="1020430" y="4756877"/>
            <a:ext cx="1698643" cy="400110"/>
          </a:xfrm>
          <a:prstGeom prst="rect">
            <a:avLst/>
          </a:prstGeom>
          <a:noFill/>
        </p:spPr>
        <p:txBody>
          <a:bodyPr wrap="square" rtlCol="0">
            <a:spAutoFit/>
          </a:bodyPr>
          <a:lstStyle/>
          <a:p>
            <a:pPr algn="ctr"/>
            <a:r>
              <a:rPr lang="en-US" altLang="zh-CN" sz="2000" b="1" dirty="0">
                <a:solidFill>
                  <a:schemeClr val="accent1"/>
                </a:solidFill>
                <a:latin typeface="+mn-ea"/>
                <a:cs typeface="Times New Roman" panose="02020603050405020304" pitchFamily="18" charset="0"/>
              </a:rPr>
              <a:t>Hop Count</a:t>
            </a:r>
          </a:p>
        </p:txBody>
      </p:sp>
      <p:sp>
        <p:nvSpPr>
          <p:cNvPr id="17" name="文本框 16">
            <a:extLst>
              <a:ext uri="{FF2B5EF4-FFF2-40B4-BE49-F238E27FC236}">
                <a16:creationId xmlns:a16="http://schemas.microsoft.com/office/drawing/2014/main" id="{79067D7B-5085-D55C-9059-DC4C4C5107A4}"/>
              </a:ext>
            </a:extLst>
          </p:cNvPr>
          <p:cNvSpPr txBox="1"/>
          <p:nvPr/>
        </p:nvSpPr>
        <p:spPr>
          <a:xfrm>
            <a:off x="594405" y="5718829"/>
            <a:ext cx="2550694" cy="400110"/>
          </a:xfrm>
          <a:prstGeom prst="rect">
            <a:avLst/>
          </a:prstGeom>
          <a:noFill/>
        </p:spPr>
        <p:txBody>
          <a:bodyPr wrap="square" rtlCol="0">
            <a:spAutoFit/>
          </a:bodyPr>
          <a:lstStyle/>
          <a:p>
            <a:pPr algn="ctr"/>
            <a:r>
              <a:rPr lang="en-US" altLang="zh-CN" sz="2000" b="1" dirty="0">
                <a:solidFill>
                  <a:schemeClr val="accent1"/>
                </a:solidFill>
                <a:latin typeface="+mn-ea"/>
                <a:cs typeface="Times New Roman" panose="02020603050405020304" pitchFamily="18" charset="0"/>
              </a:rPr>
              <a:t>Reconstructed Link</a:t>
            </a:r>
          </a:p>
        </p:txBody>
      </p:sp>
      <p:cxnSp>
        <p:nvCxnSpPr>
          <p:cNvPr id="18" name="直接箭头连接符 17">
            <a:extLst>
              <a:ext uri="{FF2B5EF4-FFF2-40B4-BE49-F238E27FC236}">
                <a16:creationId xmlns:a16="http://schemas.microsoft.com/office/drawing/2014/main" id="{FC1AD2A3-A6F9-FCF1-3DA5-EED39A819382}"/>
              </a:ext>
            </a:extLst>
          </p:cNvPr>
          <p:cNvCxnSpPr>
            <a:cxnSpLocks/>
          </p:cNvCxnSpPr>
          <p:nvPr/>
        </p:nvCxnSpPr>
        <p:spPr>
          <a:xfrm flipV="1">
            <a:off x="2719072" y="2048044"/>
            <a:ext cx="884028" cy="21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A97DC836-DD82-DD7A-D4C5-CE25E9398F5B}"/>
              </a:ext>
            </a:extLst>
          </p:cNvPr>
          <p:cNvCxnSpPr>
            <a:cxnSpLocks/>
          </p:cNvCxnSpPr>
          <p:nvPr/>
        </p:nvCxnSpPr>
        <p:spPr>
          <a:xfrm flipV="1">
            <a:off x="2703085" y="2992626"/>
            <a:ext cx="884028" cy="21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9C3BE933-D557-1708-67D6-22A47FCC3D33}"/>
              </a:ext>
            </a:extLst>
          </p:cNvPr>
          <p:cNvCxnSpPr>
            <a:cxnSpLocks/>
          </p:cNvCxnSpPr>
          <p:nvPr/>
        </p:nvCxnSpPr>
        <p:spPr>
          <a:xfrm flipV="1">
            <a:off x="2703085" y="3992339"/>
            <a:ext cx="884028" cy="21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9E6A35BC-82A3-CBB9-16E2-DE1B0F2BB998}"/>
              </a:ext>
            </a:extLst>
          </p:cNvPr>
          <p:cNvCxnSpPr>
            <a:cxnSpLocks/>
          </p:cNvCxnSpPr>
          <p:nvPr/>
        </p:nvCxnSpPr>
        <p:spPr>
          <a:xfrm flipV="1">
            <a:off x="2604557" y="4954794"/>
            <a:ext cx="884028" cy="21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027A72C0-0FAB-B6CD-27D1-ABE638FBD8B3}"/>
              </a:ext>
            </a:extLst>
          </p:cNvPr>
          <p:cNvCxnSpPr>
            <a:cxnSpLocks/>
          </p:cNvCxnSpPr>
          <p:nvPr/>
        </p:nvCxnSpPr>
        <p:spPr>
          <a:xfrm flipV="1">
            <a:off x="3094946" y="5917249"/>
            <a:ext cx="426755" cy="21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7991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32294-5AB6-11CE-6EED-84B5695FA65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D89A70D-C211-A136-2B07-2F2F7239E5F2}"/>
              </a:ext>
            </a:extLst>
          </p:cNvPr>
          <p:cNvSpPr>
            <a:spLocks noGrp="1"/>
          </p:cNvSpPr>
          <p:nvPr>
            <p:ph type="title"/>
          </p:nvPr>
        </p:nvSpPr>
        <p:spPr/>
        <p:txBody>
          <a:bodyPr>
            <a:normAutofit fontScale="90000"/>
          </a:bodyPr>
          <a:lstStyle/>
          <a:p>
            <a:r>
              <a:rPr lang="en-US" altLang="zh-CN" dirty="0">
                <a:latin typeface="微软雅黑" panose="020B0503020204020204" pitchFamily="34" charset="-122"/>
                <a:ea typeface="微软雅黑" panose="020B0503020204020204" pitchFamily="34" charset="-122"/>
              </a:rPr>
              <a:t>Contents</a:t>
            </a:r>
            <a:endParaRPr lang="zh-CN" altLang="en-US" dirty="0">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68022C07-B1E2-C4AD-65A6-280744B5ECA5}"/>
              </a:ext>
            </a:extLst>
          </p:cNvPr>
          <p:cNvGrpSpPr/>
          <p:nvPr/>
        </p:nvGrpSpPr>
        <p:grpSpPr>
          <a:xfrm>
            <a:off x="3365536" y="1303550"/>
            <a:ext cx="843427" cy="443226"/>
            <a:chOff x="666810" y="2586037"/>
            <a:chExt cx="468000" cy="245937"/>
          </a:xfrm>
          <a:solidFill>
            <a:schemeClr val="bg2"/>
          </a:solidFill>
        </p:grpSpPr>
        <p:sp>
          <p:nvSpPr>
            <p:cNvPr id="4" name="Freeform 10">
              <a:extLst>
                <a:ext uri="{FF2B5EF4-FFF2-40B4-BE49-F238E27FC236}">
                  <a16:creationId xmlns:a16="http://schemas.microsoft.com/office/drawing/2014/main" id="{4254D9B3-B66D-EA17-9304-6F6D0F1AC3D5}"/>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grp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5" name="文本框 4">
              <a:extLst>
                <a:ext uri="{FF2B5EF4-FFF2-40B4-BE49-F238E27FC236}">
                  <a16:creationId xmlns:a16="http://schemas.microsoft.com/office/drawing/2014/main" id="{AE8BAA79-F6F6-A875-D254-C57B8BAC7D0C}"/>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1</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7" name="直接连接符 6">
            <a:extLst>
              <a:ext uri="{FF2B5EF4-FFF2-40B4-BE49-F238E27FC236}">
                <a16:creationId xmlns:a16="http://schemas.microsoft.com/office/drawing/2014/main" id="{ED836E06-F651-0DC6-16B5-6E50C99B277F}"/>
              </a:ext>
            </a:extLst>
          </p:cNvPr>
          <p:cNvCxnSpPr>
            <a:stCxn id="4" idx="6"/>
          </p:cNvCxnSpPr>
          <p:nvPr/>
        </p:nvCxnSpPr>
        <p:spPr>
          <a:xfrm>
            <a:off x="4058033" y="1711215"/>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C7E5F923-2751-C0CF-02FC-A42F0222DFC1}"/>
              </a:ext>
            </a:extLst>
          </p:cNvPr>
          <p:cNvSpPr txBox="1"/>
          <p:nvPr/>
        </p:nvSpPr>
        <p:spPr>
          <a:xfrm>
            <a:off x="4439073" y="1274735"/>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Background</a:t>
            </a:r>
            <a:endParaRPr lang="zh-CN" altLang="en-US" sz="2400" b="1" dirty="0">
              <a:latin typeface="+mn-ea"/>
              <a:cs typeface="Times New Roman" panose="02020603050405020304" pitchFamily="18" charset="0"/>
            </a:endParaRPr>
          </a:p>
        </p:txBody>
      </p:sp>
      <p:grpSp>
        <p:nvGrpSpPr>
          <p:cNvPr id="12" name="组合 11">
            <a:extLst>
              <a:ext uri="{FF2B5EF4-FFF2-40B4-BE49-F238E27FC236}">
                <a16:creationId xmlns:a16="http://schemas.microsoft.com/office/drawing/2014/main" id="{9F8F3DF7-4159-011C-91A9-4ED35311618F}"/>
              </a:ext>
            </a:extLst>
          </p:cNvPr>
          <p:cNvGrpSpPr/>
          <p:nvPr/>
        </p:nvGrpSpPr>
        <p:grpSpPr>
          <a:xfrm>
            <a:off x="3365536" y="2223523"/>
            <a:ext cx="843427" cy="443226"/>
            <a:chOff x="666810" y="2586037"/>
            <a:chExt cx="468000" cy="245937"/>
          </a:xfrm>
          <a:solidFill>
            <a:schemeClr val="accent1"/>
          </a:solidFill>
        </p:grpSpPr>
        <p:sp>
          <p:nvSpPr>
            <p:cNvPr id="13" name="Freeform 10">
              <a:extLst>
                <a:ext uri="{FF2B5EF4-FFF2-40B4-BE49-F238E27FC236}">
                  <a16:creationId xmlns:a16="http://schemas.microsoft.com/office/drawing/2014/main" id="{65847071-4392-25C1-49DD-73927BD3603A}"/>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4" name="文本框 13">
              <a:extLst>
                <a:ext uri="{FF2B5EF4-FFF2-40B4-BE49-F238E27FC236}">
                  <a16:creationId xmlns:a16="http://schemas.microsoft.com/office/drawing/2014/main" id="{EC5A25A9-279D-9C21-5294-52D6E41AF8B1}"/>
                </a:ext>
              </a:extLst>
            </p:cNvPr>
            <p:cNvSpPr txBox="1"/>
            <p:nvPr userDrawn="1"/>
          </p:nvSpPr>
          <p:spPr>
            <a:xfrm>
              <a:off x="794494" y="2586037"/>
              <a:ext cx="212633" cy="245937"/>
            </a:xfrm>
            <a:prstGeom prst="rect">
              <a:avLst/>
            </a:prstGeom>
            <a:noFill/>
            <a:ln>
              <a:noFill/>
            </a:ln>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2</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15" name="直接连接符 14">
            <a:extLst>
              <a:ext uri="{FF2B5EF4-FFF2-40B4-BE49-F238E27FC236}">
                <a16:creationId xmlns:a16="http://schemas.microsoft.com/office/drawing/2014/main" id="{89713549-4871-A30C-FFAF-9F1A8DCE2AB6}"/>
              </a:ext>
            </a:extLst>
          </p:cNvPr>
          <p:cNvCxnSpPr>
            <a:stCxn id="13" idx="6"/>
          </p:cNvCxnSpPr>
          <p:nvPr/>
        </p:nvCxnSpPr>
        <p:spPr>
          <a:xfrm>
            <a:off x="4058033" y="2631188"/>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137225DF-B388-1FEC-E5F7-B8795FF066D3}"/>
              </a:ext>
            </a:extLst>
          </p:cNvPr>
          <p:cNvSpPr txBox="1"/>
          <p:nvPr/>
        </p:nvSpPr>
        <p:spPr>
          <a:xfrm>
            <a:off x="4439073" y="2194708"/>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Nexus</a:t>
            </a:r>
            <a:r>
              <a:rPr lang="zh-CN" altLang="en-US" sz="2400" b="1" dirty="0">
                <a:latin typeface="+mn-ea"/>
                <a:cs typeface="Times New Roman" panose="02020603050405020304" pitchFamily="18" charset="0"/>
              </a:rPr>
              <a:t> </a:t>
            </a:r>
            <a:r>
              <a:rPr lang="en-US" altLang="zh-CN" sz="2400" b="1" dirty="0">
                <a:latin typeface="+mn-ea"/>
                <a:cs typeface="Times New Roman" panose="02020603050405020304" pitchFamily="18" charset="0"/>
              </a:rPr>
              <a:t>Design</a:t>
            </a:r>
            <a:endParaRPr lang="zh-CN" altLang="en-US" sz="2400" b="1" dirty="0">
              <a:latin typeface="+mn-ea"/>
              <a:cs typeface="Times New Roman" panose="02020603050405020304" pitchFamily="18" charset="0"/>
            </a:endParaRPr>
          </a:p>
        </p:txBody>
      </p:sp>
      <p:grpSp>
        <p:nvGrpSpPr>
          <p:cNvPr id="17" name="组合 16">
            <a:extLst>
              <a:ext uri="{FF2B5EF4-FFF2-40B4-BE49-F238E27FC236}">
                <a16:creationId xmlns:a16="http://schemas.microsoft.com/office/drawing/2014/main" id="{C5BDC188-3DBF-7ED5-3434-0FE730CEF382}"/>
              </a:ext>
            </a:extLst>
          </p:cNvPr>
          <p:cNvGrpSpPr/>
          <p:nvPr/>
        </p:nvGrpSpPr>
        <p:grpSpPr>
          <a:xfrm>
            <a:off x="3365536" y="3143496"/>
            <a:ext cx="843427" cy="443226"/>
            <a:chOff x="666810" y="2586037"/>
            <a:chExt cx="468000" cy="245937"/>
          </a:xfrm>
          <a:solidFill>
            <a:schemeClr val="bg2"/>
          </a:solidFill>
        </p:grpSpPr>
        <p:sp>
          <p:nvSpPr>
            <p:cNvPr id="18" name="Freeform 10">
              <a:extLst>
                <a:ext uri="{FF2B5EF4-FFF2-40B4-BE49-F238E27FC236}">
                  <a16:creationId xmlns:a16="http://schemas.microsoft.com/office/drawing/2014/main" id="{7BBD54A8-669A-9BA1-F57C-36F53FE9ACEA}"/>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accent1"/>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9" name="文本框 18">
              <a:extLst>
                <a:ext uri="{FF2B5EF4-FFF2-40B4-BE49-F238E27FC236}">
                  <a16:creationId xmlns:a16="http://schemas.microsoft.com/office/drawing/2014/main" id="{895E1C9B-66A6-13AF-E199-F198B2E2DB08}"/>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3</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20" name="直接连接符 19">
            <a:extLst>
              <a:ext uri="{FF2B5EF4-FFF2-40B4-BE49-F238E27FC236}">
                <a16:creationId xmlns:a16="http://schemas.microsoft.com/office/drawing/2014/main" id="{4AF77D27-0AB8-3958-8976-978BD2014B12}"/>
              </a:ext>
            </a:extLst>
          </p:cNvPr>
          <p:cNvCxnSpPr>
            <a:stCxn id="18" idx="6"/>
          </p:cNvCxnSpPr>
          <p:nvPr/>
        </p:nvCxnSpPr>
        <p:spPr>
          <a:xfrm>
            <a:off x="4058033" y="3551161"/>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845EEBCD-F407-A8F7-C372-A35782E1DF12}"/>
              </a:ext>
            </a:extLst>
          </p:cNvPr>
          <p:cNvSpPr txBox="1"/>
          <p:nvPr/>
        </p:nvSpPr>
        <p:spPr>
          <a:xfrm>
            <a:off x="4439073" y="3114681"/>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Experiment Result</a:t>
            </a:r>
            <a:endParaRPr lang="zh-CN" altLang="en-US" sz="2400" b="1" dirty="0">
              <a:latin typeface="+mn-ea"/>
              <a:cs typeface="Times New Roman" panose="02020603050405020304" pitchFamily="18" charset="0"/>
            </a:endParaRPr>
          </a:p>
        </p:txBody>
      </p:sp>
      <p:grpSp>
        <p:nvGrpSpPr>
          <p:cNvPr id="22" name="组合 21">
            <a:extLst>
              <a:ext uri="{FF2B5EF4-FFF2-40B4-BE49-F238E27FC236}">
                <a16:creationId xmlns:a16="http://schemas.microsoft.com/office/drawing/2014/main" id="{8D8F19C7-A5F5-E6D6-943A-1FBECC780D4C}"/>
              </a:ext>
            </a:extLst>
          </p:cNvPr>
          <p:cNvGrpSpPr/>
          <p:nvPr/>
        </p:nvGrpSpPr>
        <p:grpSpPr>
          <a:xfrm>
            <a:off x="3365536" y="4063469"/>
            <a:ext cx="843427" cy="443226"/>
            <a:chOff x="666810" y="2586037"/>
            <a:chExt cx="468000" cy="245937"/>
          </a:xfrm>
          <a:solidFill>
            <a:schemeClr val="bg2"/>
          </a:solidFill>
        </p:grpSpPr>
        <p:sp>
          <p:nvSpPr>
            <p:cNvPr id="23" name="Freeform 10">
              <a:extLst>
                <a:ext uri="{FF2B5EF4-FFF2-40B4-BE49-F238E27FC236}">
                  <a16:creationId xmlns:a16="http://schemas.microsoft.com/office/drawing/2014/main" id="{A92F0B2E-EA02-B18B-5A0E-64E15B87148D}"/>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grp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24" name="文本框 23">
              <a:extLst>
                <a:ext uri="{FF2B5EF4-FFF2-40B4-BE49-F238E27FC236}">
                  <a16:creationId xmlns:a16="http://schemas.microsoft.com/office/drawing/2014/main" id="{878391EB-14FD-3EC3-7F1C-93E44EBA1A49}"/>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4</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25" name="直接连接符 24">
            <a:extLst>
              <a:ext uri="{FF2B5EF4-FFF2-40B4-BE49-F238E27FC236}">
                <a16:creationId xmlns:a16="http://schemas.microsoft.com/office/drawing/2014/main" id="{60D5D398-A9B0-8004-9905-3B80BCC5B856}"/>
              </a:ext>
            </a:extLst>
          </p:cNvPr>
          <p:cNvCxnSpPr>
            <a:stCxn id="23" idx="6"/>
          </p:cNvCxnSpPr>
          <p:nvPr/>
        </p:nvCxnSpPr>
        <p:spPr>
          <a:xfrm>
            <a:off x="4058033" y="4471134"/>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04DDE0C8-8D1F-4DDD-06F4-ED7F7A4B4B43}"/>
              </a:ext>
            </a:extLst>
          </p:cNvPr>
          <p:cNvSpPr txBox="1"/>
          <p:nvPr/>
        </p:nvSpPr>
        <p:spPr>
          <a:xfrm>
            <a:off x="4439073" y="4034654"/>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Discussion</a:t>
            </a:r>
            <a:endParaRPr lang="zh-CN" altLang="en-US" sz="2400" b="1" dirty="0">
              <a:latin typeface="+mn-ea"/>
              <a:cs typeface="Times New Roman" panose="02020603050405020304" pitchFamily="18" charset="0"/>
            </a:endParaRPr>
          </a:p>
        </p:txBody>
      </p:sp>
      <p:grpSp>
        <p:nvGrpSpPr>
          <p:cNvPr id="32" name="组合 31">
            <a:extLst>
              <a:ext uri="{FF2B5EF4-FFF2-40B4-BE49-F238E27FC236}">
                <a16:creationId xmlns:a16="http://schemas.microsoft.com/office/drawing/2014/main" id="{DBB12776-29C7-67CA-F0B0-5F9131B00924}"/>
              </a:ext>
            </a:extLst>
          </p:cNvPr>
          <p:cNvGrpSpPr/>
          <p:nvPr/>
        </p:nvGrpSpPr>
        <p:grpSpPr>
          <a:xfrm>
            <a:off x="3365536" y="4983444"/>
            <a:ext cx="843427" cy="443226"/>
            <a:chOff x="666810" y="2586037"/>
            <a:chExt cx="468000" cy="245937"/>
          </a:xfrm>
          <a:solidFill>
            <a:schemeClr val="bg2"/>
          </a:solidFill>
        </p:grpSpPr>
        <p:sp>
          <p:nvSpPr>
            <p:cNvPr id="33" name="Freeform 10">
              <a:extLst>
                <a:ext uri="{FF2B5EF4-FFF2-40B4-BE49-F238E27FC236}">
                  <a16:creationId xmlns:a16="http://schemas.microsoft.com/office/drawing/2014/main" id="{71719B1A-C575-D87D-9695-5DD0FB3B4203}"/>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grp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34" name="文本框 33">
              <a:extLst>
                <a:ext uri="{FF2B5EF4-FFF2-40B4-BE49-F238E27FC236}">
                  <a16:creationId xmlns:a16="http://schemas.microsoft.com/office/drawing/2014/main" id="{C973DDBB-C101-E7CF-AC5B-0D5B3A182AA2}"/>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5</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35" name="直接连接符 34">
            <a:extLst>
              <a:ext uri="{FF2B5EF4-FFF2-40B4-BE49-F238E27FC236}">
                <a16:creationId xmlns:a16="http://schemas.microsoft.com/office/drawing/2014/main" id="{43840BBF-EF2D-A42C-37BC-BFAAEB8CE3FC}"/>
              </a:ext>
            </a:extLst>
          </p:cNvPr>
          <p:cNvCxnSpPr>
            <a:stCxn id="33" idx="6"/>
          </p:cNvCxnSpPr>
          <p:nvPr/>
        </p:nvCxnSpPr>
        <p:spPr>
          <a:xfrm>
            <a:off x="4058033" y="5391109"/>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897ED676-BBB7-83A2-9F3A-744F6ECF70C8}"/>
              </a:ext>
            </a:extLst>
          </p:cNvPr>
          <p:cNvSpPr txBox="1"/>
          <p:nvPr/>
        </p:nvSpPr>
        <p:spPr>
          <a:xfrm>
            <a:off x="4439073" y="4954629"/>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Conclusion</a:t>
            </a:r>
            <a:endParaRPr lang="zh-CN" altLang="en-US" sz="2400" b="1" dirty="0">
              <a:latin typeface="+mn-ea"/>
              <a:cs typeface="Times New Roman" panose="02020603050405020304" pitchFamily="18" charset="0"/>
            </a:endParaRPr>
          </a:p>
        </p:txBody>
      </p:sp>
    </p:spTree>
    <p:extLst>
      <p:ext uri="{BB962C8B-B14F-4D97-AF65-F5344CB8AC3E}">
        <p14:creationId xmlns:p14="http://schemas.microsoft.com/office/powerpoint/2010/main" val="3460932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流程图: 接点 28">
            <a:extLst>
              <a:ext uri="{FF2B5EF4-FFF2-40B4-BE49-F238E27FC236}">
                <a16:creationId xmlns:a16="http://schemas.microsoft.com/office/drawing/2014/main" id="{94E0B96F-E3CD-BCDC-DFC8-F982D3F63B50}"/>
              </a:ext>
            </a:extLst>
          </p:cNvPr>
          <p:cNvSpPr/>
          <p:nvPr/>
        </p:nvSpPr>
        <p:spPr>
          <a:xfrm>
            <a:off x="6514798" y="5152973"/>
            <a:ext cx="423512" cy="423512"/>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流程图: 接点 27">
            <a:extLst>
              <a:ext uri="{FF2B5EF4-FFF2-40B4-BE49-F238E27FC236}">
                <a16:creationId xmlns:a16="http://schemas.microsoft.com/office/drawing/2014/main" id="{74240726-BE6B-93D1-3350-7F26767E2088}"/>
              </a:ext>
            </a:extLst>
          </p:cNvPr>
          <p:cNvSpPr/>
          <p:nvPr/>
        </p:nvSpPr>
        <p:spPr>
          <a:xfrm>
            <a:off x="5080935" y="5152973"/>
            <a:ext cx="423512" cy="423512"/>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流程图: 接点 26">
            <a:extLst>
              <a:ext uri="{FF2B5EF4-FFF2-40B4-BE49-F238E27FC236}">
                <a16:creationId xmlns:a16="http://schemas.microsoft.com/office/drawing/2014/main" id="{F9C5E4DA-EF49-8F9A-132F-260DBEF7B2FA}"/>
              </a:ext>
            </a:extLst>
          </p:cNvPr>
          <p:cNvSpPr/>
          <p:nvPr/>
        </p:nvSpPr>
        <p:spPr>
          <a:xfrm>
            <a:off x="10640413" y="5883722"/>
            <a:ext cx="423512" cy="423512"/>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流程图: 接点 25">
            <a:extLst>
              <a:ext uri="{FF2B5EF4-FFF2-40B4-BE49-F238E27FC236}">
                <a16:creationId xmlns:a16="http://schemas.microsoft.com/office/drawing/2014/main" id="{D6FF4FCA-14BB-90C5-B7A4-70AE6F38FAA5}"/>
              </a:ext>
            </a:extLst>
          </p:cNvPr>
          <p:cNvSpPr/>
          <p:nvPr/>
        </p:nvSpPr>
        <p:spPr>
          <a:xfrm>
            <a:off x="1314450" y="4476954"/>
            <a:ext cx="423512" cy="423512"/>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流程图: 接点 20">
            <a:extLst>
              <a:ext uri="{FF2B5EF4-FFF2-40B4-BE49-F238E27FC236}">
                <a16:creationId xmlns:a16="http://schemas.microsoft.com/office/drawing/2014/main" id="{86CE9103-C1C7-C8C2-330C-549809C60FC3}"/>
              </a:ext>
            </a:extLst>
          </p:cNvPr>
          <p:cNvSpPr/>
          <p:nvPr/>
        </p:nvSpPr>
        <p:spPr>
          <a:xfrm>
            <a:off x="7016817" y="5883722"/>
            <a:ext cx="423512" cy="423512"/>
          </a:xfrm>
          <a:prstGeom prst="flowChartConnector">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BE029847-6845-85D8-3A5F-48C89969149A}"/>
              </a:ext>
            </a:extLst>
          </p:cNvPr>
          <p:cNvSpPr/>
          <p:nvPr/>
        </p:nvSpPr>
        <p:spPr>
          <a:xfrm>
            <a:off x="7228573" y="5883722"/>
            <a:ext cx="3049948" cy="423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accent1"/>
                </a:solidFill>
                <a:latin typeface="+mn-ea"/>
                <a:cs typeface="Times New Roman" panose="02020603050405020304" pitchFamily="18" charset="0"/>
              </a:rPr>
              <a:t>Net logs collected by Bro</a:t>
            </a:r>
          </a:p>
        </p:txBody>
      </p:sp>
      <p:sp>
        <p:nvSpPr>
          <p:cNvPr id="19" name="流程图: 接点 18">
            <a:extLst>
              <a:ext uri="{FF2B5EF4-FFF2-40B4-BE49-F238E27FC236}">
                <a16:creationId xmlns:a16="http://schemas.microsoft.com/office/drawing/2014/main" id="{87658F8C-C0C3-87AD-CE55-51B7BEB83051}"/>
              </a:ext>
            </a:extLst>
          </p:cNvPr>
          <p:cNvSpPr/>
          <p:nvPr/>
        </p:nvSpPr>
        <p:spPr>
          <a:xfrm>
            <a:off x="4657423" y="4476954"/>
            <a:ext cx="423512" cy="423512"/>
          </a:xfrm>
          <a:prstGeom prst="flowChartConnector">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5809B24C-FAD0-E6BF-C0C5-8848EF379F8A}"/>
              </a:ext>
            </a:extLst>
          </p:cNvPr>
          <p:cNvSpPr/>
          <p:nvPr/>
        </p:nvSpPr>
        <p:spPr>
          <a:xfrm>
            <a:off x="2295524" y="4476954"/>
            <a:ext cx="2573655" cy="423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accent1"/>
                </a:solidFill>
                <a:latin typeface="+mn-ea"/>
                <a:cs typeface="Times New Roman" panose="02020603050405020304" pitchFamily="18" charset="0"/>
              </a:rPr>
              <a:t>   Host logs typed eCar</a:t>
            </a:r>
          </a:p>
        </p:txBody>
      </p:sp>
      <p:graphicFrame>
        <p:nvGraphicFramePr>
          <p:cNvPr id="5" name="内容占位符 4">
            <a:extLst>
              <a:ext uri="{FF2B5EF4-FFF2-40B4-BE49-F238E27FC236}">
                <a16:creationId xmlns:a16="http://schemas.microsoft.com/office/drawing/2014/main" id="{49988379-3BD3-8E40-EBAB-83158039DF6E}"/>
              </a:ext>
            </a:extLst>
          </p:cNvPr>
          <p:cNvGraphicFramePr>
            <a:graphicFrameLocks noGrp="1"/>
          </p:cNvGraphicFramePr>
          <p:nvPr>
            <p:ph sz="quarter" idx="10"/>
            <p:extLst>
              <p:ext uri="{D42A27DB-BD31-4B8C-83A1-F6EECF244321}">
                <p14:modId xmlns:p14="http://schemas.microsoft.com/office/powerpoint/2010/main" val="3406629883"/>
              </p:ext>
            </p:extLst>
          </p:nvPr>
        </p:nvGraphicFramePr>
        <p:xfrm>
          <a:off x="247650" y="2381046"/>
          <a:ext cx="8769317" cy="1628640"/>
        </p:xfrm>
        <a:graphic>
          <a:graphicData uri="http://schemas.openxmlformats.org/drawingml/2006/table">
            <a:tbl>
              <a:tblPr firstRow="1" firstCol="1" bandRow="1">
                <a:tableStyleId>{5C22544A-7EE6-4342-B048-85BDC9FD1C3A}</a:tableStyleId>
              </a:tblPr>
              <a:tblGrid>
                <a:gridCol w="1647825">
                  <a:extLst>
                    <a:ext uri="{9D8B030D-6E8A-4147-A177-3AD203B41FA5}">
                      <a16:colId xmlns:a16="http://schemas.microsoft.com/office/drawing/2014/main" val="4051892915"/>
                    </a:ext>
                  </a:extLst>
                </a:gridCol>
                <a:gridCol w="2895600">
                  <a:extLst>
                    <a:ext uri="{9D8B030D-6E8A-4147-A177-3AD203B41FA5}">
                      <a16:colId xmlns:a16="http://schemas.microsoft.com/office/drawing/2014/main" val="2341823686"/>
                    </a:ext>
                  </a:extLst>
                </a:gridCol>
                <a:gridCol w="1152525">
                  <a:extLst>
                    <a:ext uri="{9D8B030D-6E8A-4147-A177-3AD203B41FA5}">
                      <a16:colId xmlns:a16="http://schemas.microsoft.com/office/drawing/2014/main" val="2525960197"/>
                    </a:ext>
                  </a:extLst>
                </a:gridCol>
                <a:gridCol w="1435342">
                  <a:extLst>
                    <a:ext uri="{9D8B030D-6E8A-4147-A177-3AD203B41FA5}">
                      <a16:colId xmlns:a16="http://schemas.microsoft.com/office/drawing/2014/main" val="3522013265"/>
                    </a:ext>
                  </a:extLst>
                </a:gridCol>
                <a:gridCol w="1638025">
                  <a:extLst>
                    <a:ext uri="{9D8B030D-6E8A-4147-A177-3AD203B41FA5}">
                      <a16:colId xmlns:a16="http://schemas.microsoft.com/office/drawing/2014/main" val="1449312205"/>
                    </a:ext>
                  </a:extLst>
                </a:gridCol>
              </a:tblGrid>
              <a:tr h="490248">
                <a:tc>
                  <a:txBody>
                    <a:bodyPr/>
                    <a:lstStyle/>
                    <a:p>
                      <a:pPr indent="127000" algn="ctr">
                        <a:buNone/>
                      </a:pPr>
                      <a:r>
                        <a:rPr lang="en-US" altLang="zh-CN" sz="1800" kern="100" dirty="0">
                          <a:effectLst/>
                          <a:latin typeface="+mn-ea"/>
                          <a:ea typeface="+mn-ea"/>
                        </a:rPr>
                        <a:t>Dataset</a:t>
                      </a:r>
                      <a:endParaRPr lang="zh-CN" sz="20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altLang="zh-CN" sz="1800" kern="100" dirty="0">
                          <a:effectLst/>
                          <a:latin typeface="+mn-ea"/>
                          <a:ea typeface="+mn-ea"/>
                        </a:rPr>
                        <a:t>Contents</a:t>
                      </a:r>
                      <a:endParaRPr lang="zh-CN" sz="20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altLang="zh-CN" sz="1800" kern="100" dirty="0">
                          <a:effectLst/>
                          <a:latin typeface="+mn-ea"/>
                          <a:ea typeface="+mn-ea"/>
                          <a:cs typeface="Times New Roman" panose="02020603050405020304" pitchFamily="18" charset="0"/>
                        </a:rPr>
                        <a:t>Related</a:t>
                      </a:r>
                    </a:p>
                    <a:p>
                      <a:pPr indent="127000" algn="ctr">
                        <a:buNone/>
                      </a:pPr>
                      <a:r>
                        <a:rPr lang="en-US" altLang="zh-CN" sz="1800" kern="100" dirty="0">
                          <a:effectLst/>
                          <a:latin typeface="+mn-ea"/>
                          <a:ea typeface="+mn-ea"/>
                          <a:cs typeface="Times New Roman" panose="02020603050405020304" pitchFamily="18" charset="0"/>
                        </a:rPr>
                        <a:t>host ID</a:t>
                      </a:r>
                      <a:endParaRPr lang="zh-CN" sz="20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altLang="zh-CN" sz="1800" kern="100" dirty="0">
                          <a:effectLst/>
                          <a:latin typeface="+mn-ea"/>
                          <a:ea typeface="+mn-ea"/>
                        </a:rPr>
                        <a:t>Host events</a:t>
                      </a:r>
                      <a:endParaRPr lang="zh-CN" sz="20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altLang="zh-CN" sz="1800" kern="100" dirty="0">
                          <a:effectLst/>
                          <a:latin typeface="+mn-ea"/>
                          <a:ea typeface="+mn-ea"/>
                        </a:rPr>
                        <a:t>Net events</a:t>
                      </a:r>
                      <a:endParaRPr lang="zh-CN" sz="2000" kern="100" dirty="0">
                        <a:effectLst/>
                        <a:latin typeface="+mn-ea"/>
                        <a:ea typeface="+mn-ea"/>
                        <a:cs typeface="Times New Roman" panose="02020603050405020304" pitchFamily="18" charset="0"/>
                      </a:endParaRPr>
                    </a:p>
                  </a:txBody>
                  <a:tcPr marL="68580" marR="68580" marT="0" marB="0"/>
                </a:tc>
                <a:extLst>
                  <a:ext uri="{0D108BD9-81ED-4DB2-BD59-A6C34878D82A}">
                    <a16:rowId xmlns:a16="http://schemas.microsoft.com/office/drawing/2014/main" val="2060100689"/>
                  </a:ext>
                </a:extLst>
              </a:tr>
              <a:tr h="360000">
                <a:tc>
                  <a:txBody>
                    <a:bodyPr/>
                    <a:lstStyle/>
                    <a:p>
                      <a:pPr indent="127000" algn="ctr">
                        <a:buNone/>
                      </a:pPr>
                      <a:r>
                        <a:rPr lang="en-US" sz="1800" kern="100" dirty="0">
                          <a:effectLst/>
                          <a:latin typeface="+mn-ea"/>
                          <a:ea typeface="+mn-ea"/>
                        </a:rPr>
                        <a:t>OPTC day23</a:t>
                      </a:r>
                      <a:endParaRPr lang="zh-CN" sz="20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1800" kern="100" dirty="0">
                          <a:effectLst/>
                          <a:latin typeface="+mn-ea"/>
                          <a:ea typeface="+mn-ea"/>
                        </a:rPr>
                        <a:t>Plain Powershell Empire</a:t>
                      </a:r>
                      <a:endParaRPr lang="zh-CN" sz="20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1800" kern="100" dirty="0">
                          <a:effectLst/>
                          <a:latin typeface="+mn-ea"/>
                          <a:ea typeface="+mn-ea"/>
                        </a:rPr>
                        <a:t>0201</a:t>
                      </a:r>
                      <a:endParaRPr lang="zh-CN" sz="20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1800" kern="100" dirty="0">
                          <a:effectLst/>
                          <a:latin typeface="+mn-ea"/>
                          <a:ea typeface="+mn-ea"/>
                        </a:rPr>
                        <a:t>1180221</a:t>
                      </a:r>
                      <a:endParaRPr lang="zh-CN" sz="20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1800" kern="100" dirty="0">
                          <a:effectLst/>
                          <a:latin typeface="+mn-ea"/>
                          <a:ea typeface="+mn-ea"/>
                        </a:rPr>
                        <a:t>6698833</a:t>
                      </a:r>
                      <a:endParaRPr lang="zh-CN" sz="2000" kern="100" dirty="0">
                        <a:effectLst/>
                        <a:latin typeface="+mn-ea"/>
                        <a:ea typeface="+mn-ea"/>
                        <a:cs typeface="Times New Roman" panose="02020603050405020304" pitchFamily="18" charset="0"/>
                      </a:endParaRPr>
                    </a:p>
                  </a:txBody>
                  <a:tcPr marL="68580" marR="68580" marT="0" marB="0"/>
                </a:tc>
                <a:extLst>
                  <a:ext uri="{0D108BD9-81ED-4DB2-BD59-A6C34878D82A}">
                    <a16:rowId xmlns:a16="http://schemas.microsoft.com/office/drawing/2014/main" val="262562874"/>
                  </a:ext>
                </a:extLst>
              </a:tr>
              <a:tr h="360000">
                <a:tc>
                  <a:txBody>
                    <a:bodyPr/>
                    <a:lstStyle/>
                    <a:p>
                      <a:pPr indent="127000" algn="ctr">
                        <a:buNone/>
                      </a:pPr>
                      <a:r>
                        <a:rPr lang="en-US" sz="1800" kern="100" dirty="0">
                          <a:effectLst/>
                          <a:latin typeface="+mn-ea"/>
                          <a:ea typeface="+mn-ea"/>
                        </a:rPr>
                        <a:t>OPTC day24</a:t>
                      </a:r>
                      <a:endParaRPr lang="zh-CN" sz="20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1800" kern="100" dirty="0">
                          <a:effectLst/>
                          <a:latin typeface="+mn-ea"/>
                          <a:ea typeface="+mn-ea"/>
                        </a:rPr>
                        <a:t>Custom Powershell Empire</a:t>
                      </a:r>
                      <a:endParaRPr lang="zh-CN" sz="20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1800" kern="100" dirty="0">
                          <a:effectLst/>
                          <a:latin typeface="+mn-ea"/>
                          <a:ea typeface="+mn-ea"/>
                        </a:rPr>
                        <a:t>0501</a:t>
                      </a:r>
                      <a:endParaRPr lang="zh-CN" sz="20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1800" kern="100" dirty="0">
                          <a:effectLst/>
                          <a:latin typeface="+mn-ea"/>
                          <a:ea typeface="+mn-ea"/>
                        </a:rPr>
                        <a:t>3837326</a:t>
                      </a:r>
                      <a:endParaRPr lang="zh-CN" sz="20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1800" kern="100">
                          <a:effectLst/>
                          <a:latin typeface="+mn-ea"/>
                          <a:ea typeface="+mn-ea"/>
                        </a:rPr>
                        <a:t>11628232</a:t>
                      </a:r>
                      <a:endParaRPr lang="zh-CN" sz="2000" kern="100">
                        <a:effectLst/>
                        <a:latin typeface="+mn-ea"/>
                        <a:ea typeface="+mn-ea"/>
                        <a:cs typeface="Times New Roman" panose="02020603050405020304" pitchFamily="18" charset="0"/>
                      </a:endParaRPr>
                    </a:p>
                  </a:txBody>
                  <a:tcPr marL="68580" marR="68580" marT="0" marB="0"/>
                </a:tc>
                <a:extLst>
                  <a:ext uri="{0D108BD9-81ED-4DB2-BD59-A6C34878D82A}">
                    <a16:rowId xmlns:a16="http://schemas.microsoft.com/office/drawing/2014/main" val="2695166223"/>
                  </a:ext>
                </a:extLst>
              </a:tr>
              <a:tr h="360000">
                <a:tc>
                  <a:txBody>
                    <a:bodyPr/>
                    <a:lstStyle/>
                    <a:p>
                      <a:pPr indent="127000" algn="ctr">
                        <a:buNone/>
                      </a:pPr>
                      <a:r>
                        <a:rPr lang="en-US" sz="1800" kern="100" dirty="0">
                          <a:effectLst/>
                          <a:latin typeface="+mn-ea"/>
                          <a:ea typeface="+mn-ea"/>
                        </a:rPr>
                        <a:t>OPTC day25</a:t>
                      </a:r>
                      <a:endParaRPr lang="zh-CN" sz="20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1800" kern="100" dirty="0">
                          <a:effectLst/>
                          <a:latin typeface="+mn-ea"/>
                          <a:ea typeface="+mn-ea"/>
                        </a:rPr>
                        <a:t>Malicious Upgrade</a:t>
                      </a:r>
                      <a:endParaRPr lang="zh-CN" sz="20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1800" kern="100" dirty="0">
                          <a:effectLst/>
                          <a:latin typeface="+mn-ea"/>
                          <a:ea typeface="+mn-ea"/>
                        </a:rPr>
                        <a:t>0051</a:t>
                      </a:r>
                      <a:endParaRPr lang="zh-CN" sz="20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1800" kern="100">
                          <a:effectLst/>
                          <a:latin typeface="+mn-ea"/>
                          <a:ea typeface="+mn-ea"/>
                        </a:rPr>
                        <a:t>1060489</a:t>
                      </a:r>
                      <a:endParaRPr lang="zh-CN" sz="2000" kern="10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1800" kern="100" dirty="0">
                          <a:effectLst/>
                          <a:latin typeface="+mn-ea"/>
                          <a:ea typeface="+mn-ea"/>
                        </a:rPr>
                        <a:t>6094212</a:t>
                      </a:r>
                      <a:endParaRPr lang="zh-CN" sz="2000" kern="100" dirty="0">
                        <a:effectLst/>
                        <a:latin typeface="+mn-ea"/>
                        <a:ea typeface="+mn-ea"/>
                        <a:cs typeface="Times New Roman" panose="02020603050405020304" pitchFamily="18" charset="0"/>
                      </a:endParaRPr>
                    </a:p>
                  </a:txBody>
                  <a:tcPr marL="68580" marR="68580" marT="0" marB="0"/>
                </a:tc>
                <a:extLst>
                  <a:ext uri="{0D108BD9-81ED-4DB2-BD59-A6C34878D82A}">
                    <a16:rowId xmlns:a16="http://schemas.microsoft.com/office/drawing/2014/main" val="1487592442"/>
                  </a:ext>
                </a:extLst>
              </a:tr>
            </a:tbl>
          </a:graphicData>
        </a:graphic>
      </p:graphicFrame>
      <p:sp>
        <p:nvSpPr>
          <p:cNvPr id="3" name="标题 2">
            <a:extLst>
              <a:ext uri="{FF2B5EF4-FFF2-40B4-BE49-F238E27FC236}">
                <a16:creationId xmlns:a16="http://schemas.microsoft.com/office/drawing/2014/main" id="{2C8216FB-F8D2-A8E3-CEB2-13450804831D}"/>
              </a:ext>
            </a:extLst>
          </p:cNvPr>
          <p:cNvSpPr>
            <a:spLocks noGrp="1"/>
          </p:cNvSpPr>
          <p:nvPr>
            <p:ph type="title"/>
          </p:nvPr>
        </p:nvSpPr>
        <p:spPr/>
        <p:txBody>
          <a:bodyPr/>
          <a:lstStyle/>
          <a:p>
            <a:r>
              <a:rPr lang="en-US" altLang="zh-CN" dirty="0"/>
              <a:t>DARPA-OPTC</a:t>
            </a:r>
            <a:endParaRPr lang="zh-CN" altLang="en-US" dirty="0"/>
          </a:p>
        </p:txBody>
      </p:sp>
      <p:pic>
        <p:nvPicPr>
          <p:cNvPr id="9" name="图片 8">
            <a:extLst>
              <a:ext uri="{FF2B5EF4-FFF2-40B4-BE49-F238E27FC236}">
                <a16:creationId xmlns:a16="http://schemas.microsoft.com/office/drawing/2014/main" id="{C7937451-EE7C-245B-687F-C6D2041CEB3F}"/>
              </a:ext>
            </a:extLst>
          </p:cNvPr>
          <p:cNvPicPr>
            <a:picLocks noChangeAspect="1"/>
          </p:cNvPicPr>
          <p:nvPr/>
        </p:nvPicPr>
        <p:blipFill>
          <a:blip r:embed="rId3"/>
          <a:stretch>
            <a:fillRect/>
          </a:stretch>
        </p:blipFill>
        <p:spPr>
          <a:xfrm>
            <a:off x="9432758" y="1778950"/>
            <a:ext cx="1691525" cy="2544517"/>
          </a:xfrm>
          <a:prstGeom prst="rect">
            <a:avLst/>
          </a:prstGeom>
        </p:spPr>
      </p:pic>
      <p:sp>
        <p:nvSpPr>
          <p:cNvPr id="14" name="矩形: 剪去对角 13">
            <a:extLst>
              <a:ext uri="{FF2B5EF4-FFF2-40B4-BE49-F238E27FC236}">
                <a16:creationId xmlns:a16="http://schemas.microsoft.com/office/drawing/2014/main" id="{2C8846CD-B911-9646-C4C3-58DDF531102E}"/>
              </a:ext>
            </a:extLst>
          </p:cNvPr>
          <p:cNvSpPr/>
          <p:nvPr/>
        </p:nvSpPr>
        <p:spPr>
          <a:xfrm>
            <a:off x="5080935" y="5155978"/>
            <a:ext cx="1857375" cy="423512"/>
          </a:xfrm>
          <a:prstGeom prst="snip2DiagRect">
            <a:avLst>
              <a:gd name="adj1" fmla="val 0"/>
              <a:gd name="adj2"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mn-ea"/>
              </a:rPr>
              <a:t>/ecar-bro</a:t>
            </a:r>
            <a:endParaRPr lang="zh-CN" altLang="en-US" sz="2400" b="1" dirty="0">
              <a:latin typeface="+mn-ea"/>
            </a:endParaRPr>
          </a:p>
        </p:txBody>
      </p:sp>
      <p:sp>
        <p:nvSpPr>
          <p:cNvPr id="15" name="矩形: 剪去对角 14">
            <a:extLst>
              <a:ext uri="{FF2B5EF4-FFF2-40B4-BE49-F238E27FC236}">
                <a16:creationId xmlns:a16="http://schemas.microsoft.com/office/drawing/2014/main" id="{1437DCCF-F3BB-A932-E1D4-7AB9B32F2212}"/>
              </a:ext>
            </a:extLst>
          </p:cNvPr>
          <p:cNvSpPr/>
          <p:nvPr/>
        </p:nvSpPr>
        <p:spPr>
          <a:xfrm>
            <a:off x="10006650" y="5883722"/>
            <a:ext cx="1057275" cy="423512"/>
          </a:xfrm>
          <a:prstGeom prst="snip2DiagRect">
            <a:avLst>
              <a:gd name="adj1" fmla="val 0"/>
              <a:gd name="adj2"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mn-ea"/>
              </a:rPr>
              <a:t>/bro</a:t>
            </a:r>
            <a:endParaRPr lang="zh-CN" altLang="en-US" sz="2400" b="1" dirty="0">
              <a:latin typeface="+mn-ea"/>
            </a:endParaRPr>
          </a:p>
        </p:txBody>
      </p:sp>
      <p:sp>
        <p:nvSpPr>
          <p:cNvPr id="13" name="矩形: 剪去对角 12">
            <a:extLst>
              <a:ext uri="{FF2B5EF4-FFF2-40B4-BE49-F238E27FC236}">
                <a16:creationId xmlns:a16="http://schemas.microsoft.com/office/drawing/2014/main" id="{7B583782-EE1C-1543-0DE4-F2FEE59DA709}"/>
              </a:ext>
            </a:extLst>
          </p:cNvPr>
          <p:cNvSpPr/>
          <p:nvPr/>
        </p:nvSpPr>
        <p:spPr>
          <a:xfrm>
            <a:off x="1314450" y="4476954"/>
            <a:ext cx="1200150" cy="423512"/>
          </a:xfrm>
          <a:prstGeom prst="snip2DiagRect">
            <a:avLst>
              <a:gd name="adj1" fmla="val 0"/>
              <a:gd name="adj2"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mn-ea"/>
              </a:rPr>
              <a:t>/ecar</a:t>
            </a:r>
            <a:endParaRPr lang="zh-CN" altLang="en-US" sz="2400" b="1" dirty="0">
              <a:latin typeface="+mn-ea"/>
            </a:endParaRPr>
          </a:p>
        </p:txBody>
      </p:sp>
      <p:sp>
        <p:nvSpPr>
          <p:cNvPr id="24" name="箭头: 直角上 23">
            <a:extLst>
              <a:ext uri="{FF2B5EF4-FFF2-40B4-BE49-F238E27FC236}">
                <a16:creationId xmlns:a16="http://schemas.microsoft.com/office/drawing/2014/main" id="{9AC02E09-139C-92DA-970E-7A91CE445676}"/>
              </a:ext>
            </a:extLst>
          </p:cNvPr>
          <p:cNvSpPr/>
          <p:nvPr/>
        </p:nvSpPr>
        <p:spPr>
          <a:xfrm rot="16200000">
            <a:off x="7869743" y="4475667"/>
            <a:ext cx="574184" cy="2082279"/>
          </a:xfrm>
          <a:prstGeom prst="bentUpArrow">
            <a:avLst>
              <a:gd name="adj1" fmla="val 25000"/>
              <a:gd name="adj2" fmla="val 25000"/>
              <a:gd name="adj3" fmla="val 27212"/>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直角上 24">
            <a:extLst>
              <a:ext uri="{FF2B5EF4-FFF2-40B4-BE49-F238E27FC236}">
                <a16:creationId xmlns:a16="http://schemas.microsoft.com/office/drawing/2014/main" id="{0EF1839F-48D0-A143-0243-19A9096EBABD}"/>
              </a:ext>
            </a:extLst>
          </p:cNvPr>
          <p:cNvSpPr/>
          <p:nvPr/>
        </p:nvSpPr>
        <p:spPr>
          <a:xfrm rot="5400000">
            <a:off x="3575318" y="4167300"/>
            <a:ext cx="574184" cy="2082279"/>
          </a:xfrm>
          <a:prstGeom prst="bentUpArrow">
            <a:avLst>
              <a:gd name="adj1" fmla="val 25000"/>
              <a:gd name="adj2" fmla="val 25000"/>
              <a:gd name="adj3" fmla="val 27212"/>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E4EF50C1-FC58-61E7-7433-78AB536F8436}"/>
              </a:ext>
            </a:extLst>
          </p:cNvPr>
          <p:cNvSpPr txBox="1"/>
          <p:nvPr/>
        </p:nvSpPr>
        <p:spPr>
          <a:xfrm>
            <a:off x="4571026" y="5569941"/>
            <a:ext cx="3049948" cy="307777"/>
          </a:xfrm>
          <a:prstGeom prst="rect">
            <a:avLst/>
          </a:prstGeom>
          <a:noFill/>
        </p:spPr>
        <p:txBody>
          <a:bodyPr wrap="square" rtlCol="0">
            <a:spAutoFit/>
          </a:bodyPr>
          <a:lstStyle/>
          <a:p>
            <a:pPr algn="ctr"/>
            <a:r>
              <a:rPr lang="en-US" altLang="zh-CN" sz="1400" b="1" dirty="0">
                <a:solidFill>
                  <a:schemeClr val="accent1"/>
                </a:solidFill>
                <a:latin typeface="+mn-ea"/>
                <a:cs typeface="Times New Roman" panose="02020603050405020304" pitchFamily="18" charset="0"/>
              </a:rPr>
              <a:t>eCar logs with Bro nums</a:t>
            </a:r>
          </a:p>
        </p:txBody>
      </p:sp>
    </p:spTree>
    <p:extLst>
      <p:ext uri="{BB962C8B-B14F-4D97-AF65-F5344CB8AC3E}">
        <p14:creationId xmlns:p14="http://schemas.microsoft.com/office/powerpoint/2010/main" val="3898962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6FBC2-B09B-88CC-2657-F18156EBD0F8}"/>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5D2E6800-A4EE-4321-D4E2-1072067D73D7}"/>
              </a:ext>
            </a:extLst>
          </p:cNvPr>
          <p:cNvPicPr>
            <a:picLocks noChangeAspect="1"/>
          </p:cNvPicPr>
          <p:nvPr/>
        </p:nvPicPr>
        <p:blipFill>
          <a:blip r:embed="rId3"/>
          <a:stretch>
            <a:fillRect/>
          </a:stretch>
        </p:blipFill>
        <p:spPr>
          <a:xfrm>
            <a:off x="2696347" y="2234272"/>
            <a:ext cx="7087588" cy="723657"/>
          </a:xfrm>
          <a:prstGeom prst="rect">
            <a:avLst/>
          </a:prstGeom>
        </p:spPr>
      </p:pic>
      <p:sp>
        <p:nvSpPr>
          <p:cNvPr id="3" name="标题 2">
            <a:extLst>
              <a:ext uri="{FF2B5EF4-FFF2-40B4-BE49-F238E27FC236}">
                <a16:creationId xmlns:a16="http://schemas.microsoft.com/office/drawing/2014/main" id="{84B9BE2C-4B12-5191-6DAA-1031855CE590}"/>
              </a:ext>
            </a:extLst>
          </p:cNvPr>
          <p:cNvSpPr>
            <a:spLocks noGrp="1"/>
          </p:cNvSpPr>
          <p:nvPr>
            <p:ph type="title"/>
          </p:nvPr>
        </p:nvSpPr>
        <p:spPr/>
        <p:txBody>
          <a:bodyPr/>
          <a:lstStyle/>
          <a:p>
            <a:r>
              <a:rPr lang="en-US" altLang="zh-CN" dirty="0"/>
              <a:t>Result</a:t>
            </a:r>
            <a:r>
              <a:rPr lang="zh-CN" altLang="en-US" dirty="0"/>
              <a:t>：</a:t>
            </a:r>
            <a:r>
              <a:rPr lang="en-US" altLang="zh-CN" dirty="0"/>
              <a:t>Accuracy</a:t>
            </a:r>
            <a:endParaRPr lang="zh-CN" altLang="en-US" dirty="0"/>
          </a:p>
        </p:txBody>
      </p:sp>
      <p:graphicFrame>
        <p:nvGraphicFramePr>
          <p:cNvPr id="4" name="表格 3">
            <a:extLst>
              <a:ext uri="{FF2B5EF4-FFF2-40B4-BE49-F238E27FC236}">
                <a16:creationId xmlns:a16="http://schemas.microsoft.com/office/drawing/2014/main" id="{BE1DC948-53BC-0ACF-04FA-2BF595E92782}"/>
              </a:ext>
            </a:extLst>
          </p:cNvPr>
          <p:cNvGraphicFramePr>
            <a:graphicFrameLocks noGrp="1"/>
          </p:cNvGraphicFramePr>
          <p:nvPr>
            <p:extLst>
              <p:ext uri="{D42A27DB-BD31-4B8C-83A1-F6EECF244321}">
                <p14:modId xmlns:p14="http://schemas.microsoft.com/office/powerpoint/2010/main" val="4113283591"/>
              </p:ext>
            </p:extLst>
          </p:nvPr>
        </p:nvGraphicFramePr>
        <p:xfrm>
          <a:off x="1518390" y="3643741"/>
          <a:ext cx="9155220" cy="1836194"/>
        </p:xfrm>
        <a:graphic>
          <a:graphicData uri="http://schemas.openxmlformats.org/drawingml/2006/table">
            <a:tbl>
              <a:tblPr firstRow="1" firstCol="1" bandRow="1">
                <a:tableStyleId>{5C22544A-7EE6-4342-B048-85BDC9FD1C3A}</a:tableStyleId>
              </a:tblPr>
              <a:tblGrid>
                <a:gridCol w="2040266">
                  <a:extLst>
                    <a:ext uri="{9D8B030D-6E8A-4147-A177-3AD203B41FA5}">
                      <a16:colId xmlns:a16="http://schemas.microsoft.com/office/drawing/2014/main" val="3922767209"/>
                    </a:ext>
                  </a:extLst>
                </a:gridCol>
                <a:gridCol w="838262">
                  <a:extLst>
                    <a:ext uri="{9D8B030D-6E8A-4147-A177-3AD203B41FA5}">
                      <a16:colId xmlns:a16="http://schemas.microsoft.com/office/drawing/2014/main" val="1176025619"/>
                    </a:ext>
                  </a:extLst>
                </a:gridCol>
                <a:gridCol w="838262">
                  <a:extLst>
                    <a:ext uri="{9D8B030D-6E8A-4147-A177-3AD203B41FA5}">
                      <a16:colId xmlns:a16="http://schemas.microsoft.com/office/drawing/2014/main" val="1285573126"/>
                    </a:ext>
                  </a:extLst>
                </a:gridCol>
                <a:gridCol w="838262">
                  <a:extLst>
                    <a:ext uri="{9D8B030D-6E8A-4147-A177-3AD203B41FA5}">
                      <a16:colId xmlns:a16="http://schemas.microsoft.com/office/drawing/2014/main" val="1335153202"/>
                    </a:ext>
                  </a:extLst>
                </a:gridCol>
                <a:gridCol w="1247119">
                  <a:extLst>
                    <a:ext uri="{9D8B030D-6E8A-4147-A177-3AD203B41FA5}">
                      <a16:colId xmlns:a16="http://schemas.microsoft.com/office/drawing/2014/main" val="319280562"/>
                    </a:ext>
                  </a:extLst>
                </a:gridCol>
                <a:gridCol w="1117683">
                  <a:extLst>
                    <a:ext uri="{9D8B030D-6E8A-4147-A177-3AD203B41FA5}">
                      <a16:colId xmlns:a16="http://schemas.microsoft.com/office/drawing/2014/main" val="2316254940"/>
                    </a:ext>
                  </a:extLst>
                </a:gridCol>
                <a:gridCol w="1117683">
                  <a:extLst>
                    <a:ext uri="{9D8B030D-6E8A-4147-A177-3AD203B41FA5}">
                      <a16:colId xmlns:a16="http://schemas.microsoft.com/office/drawing/2014/main" val="2719056815"/>
                    </a:ext>
                  </a:extLst>
                </a:gridCol>
                <a:gridCol w="1117683">
                  <a:extLst>
                    <a:ext uri="{9D8B030D-6E8A-4147-A177-3AD203B41FA5}">
                      <a16:colId xmlns:a16="http://schemas.microsoft.com/office/drawing/2014/main" val="2697465366"/>
                    </a:ext>
                  </a:extLst>
                </a:gridCol>
              </a:tblGrid>
              <a:tr h="399173">
                <a:tc>
                  <a:txBody>
                    <a:bodyPr/>
                    <a:lstStyle/>
                    <a:p>
                      <a:pPr indent="127000" algn="ctr">
                        <a:buNone/>
                      </a:pPr>
                      <a:r>
                        <a:rPr lang="en-US" altLang="zh-CN" sz="2200" kern="100" dirty="0">
                          <a:effectLst/>
                          <a:latin typeface="+mn-ea"/>
                          <a:ea typeface="+mn-ea"/>
                        </a:rPr>
                        <a:t>Dataset</a:t>
                      </a:r>
                      <a:endParaRPr lang="zh-CN" sz="270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altLang="zh-CN" sz="2200" kern="100" dirty="0">
                          <a:effectLst/>
                          <a:latin typeface="+mn-ea"/>
                          <a:ea typeface="+mn-ea"/>
                          <a:cs typeface="Times New Roman" panose="02020603050405020304" pitchFamily="18" charset="0"/>
                        </a:rPr>
                        <a:t>TP</a:t>
                      </a:r>
                      <a:endParaRPr lang="zh-CN" sz="220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altLang="zh-CN" sz="2200" kern="100" dirty="0">
                          <a:effectLst/>
                          <a:latin typeface="+mn-ea"/>
                          <a:ea typeface="+mn-ea"/>
                          <a:cs typeface="Times New Roman" panose="02020603050405020304" pitchFamily="18" charset="0"/>
                        </a:rPr>
                        <a:t>FP</a:t>
                      </a:r>
                      <a:endParaRPr lang="zh-CN" sz="270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altLang="zh-CN" sz="2200" kern="100" dirty="0">
                          <a:effectLst/>
                          <a:latin typeface="+mn-ea"/>
                          <a:ea typeface="+mn-ea"/>
                          <a:cs typeface="Times New Roman" panose="02020603050405020304" pitchFamily="18" charset="0"/>
                        </a:rPr>
                        <a:t>FN</a:t>
                      </a:r>
                      <a:endParaRPr lang="zh-CN" sz="220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altLang="zh-CN" sz="2200" kern="100" dirty="0">
                          <a:effectLst/>
                          <a:latin typeface="+mn-ea"/>
                          <a:ea typeface="+mn-ea"/>
                          <a:cs typeface="Times New Roman" panose="02020603050405020304" pitchFamily="18" charset="0"/>
                        </a:rPr>
                        <a:t>TN</a:t>
                      </a:r>
                      <a:endParaRPr lang="zh-CN" sz="270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altLang="zh-CN" sz="2200" kern="100" dirty="0">
                          <a:effectLst/>
                          <a:latin typeface="+mn-ea"/>
                          <a:ea typeface="+mn-ea"/>
                          <a:cs typeface="Times New Roman" panose="02020603050405020304" pitchFamily="18" charset="0"/>
                        </a:rPr>
                        <a:t>PRC</a:t>
                      </a:r>
                      <a:endParaRPr lang="zh-CN" sz="220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altLang="zh-CN" sz="2200" kern="100" dirty="0">
                          <a:effectLst/>
                          <a:latin typeface="+mn-ea"/>
                          <a:ea typeface="+mn-ea"/>
                          <a:cs typeface="Times New Roman" panose="02020603050405020304" pitchFamily="18" charset="0"/>
                        </a:rPr>
                        <a:t>REC</a:t>
                      </a:r>
                      <a:endParaRPr lang="zh-CN" sz="220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altLang="zh-CN" sz="2200" kern="100" dirty="0">
                          <a:effectLst/>
                          <a:latin typeface="+mn-ea"/>
                          <a:ea typeface="+mn-ea"/>
                          <a:cs typeface="Times New Roman" panose="02020603050405020304" pitchFamily="18" charset="0"/>
                        </a:rPr>
                        <a:t>F1</a:t>
                      </a:r>
                    </a:p>
                  </a:txBody>
                  <a:tcPr marL="76042" marR="76042" marT="0" marB="0"/>
                </a:tc>
                <a:extLst>
                  <a:ext uri="{0D108BD9-81ED-4DB2-BD59-A6C34878D82A}">
                    <a16:rowId xmlns:a16="http://schemas.microsoft.com/office/drawing/2014/main" val="1672664243"/>
                  </a:ext>
                </a:extLst>
              </a:tr>
              <a:tr h="479007">
                <a:tc>
                  <a:txBody>
                    <a:bodyPr/>
                    <a:lstStyle/>
                    <a:p>
                      <a:pPr indent="127000" algn="ctr">
                        <a:buNone/>
                      </a:pPr>
                      <a:r>
                        <a:rPr lang="en-US" sz="2200" kern="100" dirty="0">
                          <a:effectLst/>
                          <a:latin typeface="+mn-ea"/>
                          <a:ea typeface="+mn-ea"/>
                        </a:rPr>
                        <a:t>OPTC day23</a:t>
                      </a:r>
                      <a:endParaRPr lang="zh-CN" sz="270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sz="2200" b="0" kern="100" dirty="0">
                          <a:effectLst/>
                          <a:latin typeface="+mn-ea"/>
                          <a:ea typeface="+mn-ea"/>
                        </a:rPr>
                        <a:t>61</a:t>
                      </a:r>
                      <a:endParaRPr lang="zh-CN" sz="2700" b="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sz="2200" b="0" kern="100" dirty="0">
                          <a:effectLst/>
                          <a:latin typeface="+mn-ea"/>
                          <a:ea typeface="+mn-ea"/>
                        </a:rPr>
                        <a:t>2</a:t>
                      </a:r>
                      <a:endParaRPr lang="zh-CN" sz="2700" b="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sz="2200" b="0" kern="100" dirty="0">
                          <a:effectLst/>
                          <a:latin typeface="+mn-ea"/>
                          <a:ea typeface="+mn-ea"/>
                        </a:rPr>
                        <a:t>1</a:t>
                      </a:r>
                      <a:endParaRPr lang="zh-CN" sz="2700" b="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sz="2200" b="0" kern="100" dirty="0">
                          <a:effectLst/>
                          <a:latin typeface="+mn-ea"/>
                          <a:ea typeface="+mn-ea"/>
                        </a:rPr>
                        <a:t>175021</a:t>
                      </a:r>
                      <a:endParaRPr lang="zh-CN" sz="2700" b="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sz="2200" b="0" kern="100" dirty="0">
                          <a:effectLst/>
                          <a:latin typeface="+mn-ea"/>
                          <a:ea typeface="+mn-ea"/>
                        </a:rPr>
                        <a:t>0.97</a:t>
                      </a:r>
                      <a:endParaRPr lang="zh-CN" sz="2700" b="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sz="2200" b="0" kern="100" dirty="0">
                          <a:effectLst/>
                          <a:latin typeface="+mn-ea"/>
                          <a:ea typeface="+mn-ea"/>
                        </a:rPr>
                        <a:t>0.98</a:t>
                      </a:r>
                      <a:endParaRPr lang="zh-CN" sz="2700" b="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sz="2200" b="0" kern="100" dirty="0">
                          <a:effectLst/>
                          <a:latin typeface="+mn-ea"/>
                          <a:ea typeface="+mn-ea"/>
                        </a:rPr>
                        <a:t>0.98</a:t>
                      </a:r>
                      <a:endParaRPr lang="zh-CN" sz="2700" b="0" kern="100" dirty="0">
                        <a:effectLst/>
                        <a:latin typeface="+mn-ea"/>
                        <a:ea typeface="+mn-ea"/>
                        <a:cs typeface="Times New Roman" panose="02020603050405020304" pitchFamily="18" charset="0"/>
                      </a:endParaRPr>
                    </a:p>
                  </a:txBody>
                  <a:tcPr marL="76042" marR="76042" marT="0" marB="0"/>
                </a:tc>
                <a:extLst>
                  <a:ext uri="{0D108BD9-81ED-4DB2-BD59-A6C34878D82A}">
                    <a16:rowId xmlns:a16="http://schemas.microsoft.com/office/drawing/2014/main" val="3519934936"/>
                  </a:ext>
                </a:extLst>
              </a:tr>
              <a:tr h="479007">
                <a:tc>
                  <a:txBody>
                    <a:bodyPr/>
                    <a:lstStyle/>
                    <a:p>
                      <a:pPr indent="127000" algn="ctr">
                        <a:buNone/>
                      </a:pPr>
                      <a:r>
                        <a:rPr lang="en-US" sz="2200" kern="100" dirty="0">
                          <a:effectLst/>
                          <a:latin typeface="+mn-ea"/>
                          <a:ea typeface="+mn-ea"/>
                        </a:rPr>
                        <a:t>OPTC day24</a:t>
                      </a:r>
                      <a:endParaRPr lang="zh-CN" sz="270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sz="2200" b="0" kern="100" dirty="0">
                          <a:effectLst/>
                          <a:latin typeface="+mn-ea"/>
                          <a:ea typeface="+mn-ea"/>
                        </a:rPr>
                        <a:t>377</a:t>
                      </a:r>
                      <a:endParaRPr lang="zh-CN" sz="2700" b="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sz="2200" b="0" kern="100" dirty="0">
                          <a:effectLst/>
                          <a:latin typeface="+mn-ea"/>
                          <a:ea typeface="+mn-ea"/>
                        </a:rPr>
                        <a:t>9</a:t>
                      </a:r>
                      <a:endParaRPr lang="zh-CN" sz="2700" b="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sz="2200" b="0" kern="100" dirty="0">
                          <a:effectLst/>
                          <a:latin typeface="+mn-ea"/>
                          <a:ea typeface="+mn-ea"/>
                        </a:rPr>
                        <a:t>0</a:t>
                      </a:r>
                      <a:endParaRPr lang="zh-CN" sz="2700" b="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sz="2200" b="0" kern="100" dirty="0">
                          <a:effectLst/>
                          <a:latin typeface="+mn-ea"/>
                          <a:ea typeface="+mn-ea"/>
                        </a:rPr>
                        <a:t>539610</a:t>
                      </a:r>
                      <a:endParaRPr lang="zh-CN" sz="2700" b="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sz="2200" b="0" kern="100" dirty="0">
                          <a:effectLst/>
                          <a:latin typeface="+mn-ea"/>
                          <a:ea typeface="+mn-ea"/>
                        </a:rPr>
                        <a:t>0.98</a:t>
                      </a:r>
                      <a:endParaRPr lang="zh-CN" sz="2700" b="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sz="2200" b="0" kern="100" dirty="0">
                          <a:effectLst/>
                          <a:latin typeface="+mn-ea"/>
                          <a:ea typeface="+mn-ea"/>
                        </a:rPr>
                        <a:t>1.00</a:t>
                      </a:r>
                      <a:endParaRPr lang="zh-CN" sz="2700" b="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sz="2200" b="0" kern="100" dirty="0">
                          <a:effectLst/>
                          <a:latin typeface="+mn-ea"/>
                          <a:ea typeface="+mn-ea"/>
                        </a:rPr>
                        <a:t>0.99</a:t>
                      </a:r>
                      <a:endParaRPr lang="zh-CN" sz="2700" b="0" kern="100" dirty="0">
                        <a:effectLst/>
                        <a:latin typeface="+mn-ea"/>
                        <a:ea typeface="+mn-ea"/>
                        <a:cs typeface="Times New Roman" panose="02020603050405020304" pitchFamily="18" charset="0"/>
                      </a:endParaRPr>
                    </a:p>
                  </a:txBody>
                  <a:tcPr marL="76042" marR="76042" marT="0" marB="0"/>
                </a:tc>
                <a:extLst>
                  <a:ext uri="{0D108BD9-81ED-4DB2-BD59-A6C34878D82A}">
                    <a16:rowId xmlns:a16="http://schemas.microsoft.com/office/drawing/2014/main" val="4013075830"/>
                  </a:ext>
                </a:extLst>
              </a:tr>
              <a:tr h="479007">
                <a:tc>
                  <a:txBody>
                    <a:bodyPr/>
                    <a:lstStyle/>
                    <a:p>
                      <a:pPr indent="127000" algn="ctr">
                        <a:buNone/>
                      </a:pPr>
                      <a:r>
                        <a:rPr lang="en-US" sz="2200" kern="100">
                          <a:effectLst/>
                          <a:latin typeface="+mn-ea"/>
                          <a:ea typeface="+mn-ea"/>
                        </a:rPr>
                        <a:t>OPTC day25</a:t>
                      </a:r>
                      <a:endParaRPr lang="zh-CN" sz="2700" kern="10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sz="2200" b="0" kern="100" dirty="0">
                          <a:effectLst/>
                          <a:latin typeface="+mn-ea"/>
                          <a:ea typeface="+mn-ea"/>
                        </a:rPr>
                        <a:t>174</a:t>
                      </a:r>
                      <a:endParaRPr lang="zh-CN" sz="2700" b="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sz="2200" b="0" kern="100" dirty="0">
                          <a:effectLst/>
                          <a:latin typeface="+mn-ea"/>
                          <a:ea typeface="+mn-ea"/>
                        </a:rPr>
                        <a:t>0</a:t>
                      </a:r>
                      <a:endParaRPr lang="zh-CN" sz="2700" b="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sz="2200" b="0" kern="100" dirty="0">
                          <a:effectLst/>
                          <a:latin typeface="+mn-ea"/>
                          <a:ea typeface="+mn-ea"/>
                        </a:rPr>
                        <a:t>0</a:t>
                      </a:r>
                      <a:endParaRPr lang="zh-CN" sz="2700" b="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sz="2200" b="0" kern="100" dirty="0">
                          <a:effectLst/>
                          <a:latin typeface="+mn-ea"/>
                          <a:ea typeface="+mn-ea"/>
                        </a:rPr>
                        <a:t>148010</a:t>
                      </a:r>
                      <a:endParaRPr lang="zh-CN" sz="2700" b="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sz="2200" b="0" kern="100" dirty="0">
                          <a:effectLst/>
                          <a:latin typeface="+mn-ea"/>
                          <a:ea typeface="+mn-ea"/>
                        </a:rPr>
                        <a:t>1.00</a:t>
                      </a:r>
                      <a:endParaRPr lang="zh-CN" sz="2700" b="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sz="2200" b="0" kern="100" dirty="0">
                          <a:effectLst/>
                          <a:latin typeface="+mn-ea"/>
                          <a:ea typeface="+mn-ea"/>
                        </a:rPr>
                        <a:t>1.00</a:t>
                      </a:r>
                      <a:endParaRPr lang="zh-CN" sz="2700" b="0" kern="100" dirty="0">
                        <a:effectLst/>
                        <a:latin typeface="+mn-ea"/>
                        <a:ea typeface="+mn-ea"/>
                        <a:cs typeface="Times New Roman" panose="02020603050405020304" pitchFamily="18" charset="0"/>
                      </a:endParaRPr>
                    </a:p>
                  </a:txBody>
                  <a:tcPr marL="76042" marR="76042" marT="0" marB="0"/>
                </a:tc>
                <a:tc>
                  <a:txBody>
                    <a:bodyPr/>
                    <a:lstStyle/>
                    <a:p>
                      <a:pPr indent="127000" algn="ctr">
                        <a:buNone/>
                      </a:pPr>
                      <a:r>
                        <a:rPr lang="en-US" sz="2200" b="0" kern="100" dirty="0">
                          <a:effectLst/>
                          <a:latin typeface="+mn-ea"/>
                          <a:ea typeface="+mn-ea"/>
                        </a:rPr>
                        <a:t>1.00</a:t>
                      </a:r>
                      <a:endParaRPr lang="zh-CN" sz="2700" b="0" kern="100" dirty="0">
                        <a:effectLst/>
                        <a:latin typeface="+mn-ea"/>
                        <a:ea typeface="+mn-ea"/>
                        <a:cs typeface="Times New Roman" panose="02020603050405020304" pitchFamily="18" charset="0"/>
                      </a:endParaRPr>
                    </a:p>
                  </a:txBody>
                  <a:tcPr marL="76042" marR="76042" marT="0" marB="0"/>
                </a:tc>
                <a:extLst>
                  <a:ext uri="{0D108BD9-81ED-4DB2-BD59-A6C34878D82A}">
                    <a16:rowId xmlns:a16="http://schemas.microsoft.com/office/drawing/2014/main" val="4207551165"/>
                  </a:ext>
                </a:extLst>
              </a:tr>
            </a:tbl>
          </a:graphicData>
        </a:graphic>
      </p:graphicFrame>
    </p:spTree>
    <p:extLst>
      <p:ext uri="{BB962C8B-B14F-4D97-AF65-F5344CB8AC3E}">
        <p14:creationId xmlns:p14="http://schemas.microsoft.com/office/powerpoint/2010/main" val="1500039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A51C9-7B74-8041-BF01-17E1C282AEAD}"/>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A931ADC-8DB2-5F67-7C94-E717BB703DA0}"/>
              </a:ext>
            </a:extLst>
          </p:cNvPr>
          <p:cNvSpPr>
            <a:spLocks noGrp="1"/>
          </p:cNvSpPr>
          <p:nvPr>
            <p:ph type="title"/>
          </p:nvPr>
        </p:nvSpPr>
        <p:spPr/>
        <p:txBody>
          <a:bodyPr/>
          <a:lstStyle/>
          <a:p>
            <a:r>
              <a:rPr lang="en-US" altLang="zh-CN" dirty="0"/>
              <a:t>Result</a:t>
            </a:r>
            <a:r>
              <a:rPr lang="zh-CN" altLang="en-US" dirty="0"/>
              <a:t>：</a:t>
            </a:r>
            <a:r>
              <a:rPr lang="en-US" altLang="zh-CN" dirty="0"/>
              <a:t>Time cost &amp; Comparison</a:t>
            </a:r>
            <a:endParaRPr lang="zh-CN" altLang="en-US" dirty="0"/>
          </a:p>
        </p:txBody>
      </p:sp>
      <p:graphicFrame>
        <p:nvGraphicFramePr>
          <p:cNvPr id="2" name="表格 1">
            <a:extLst>
              <a:ext uri="{FF2B5EF4-FFF2-40B4-BE49-F238E27FC236}">
                <a16:creationId xmlns:a16="http://schemas.microsoft.com/office/drawing/2014/main" id="{4EDB0B5A-6D0D-405F-A8C3-97EBF5E1B00C}"/>
              </a:ext>
            </a:extLst>
          </p:cNvPr>
          <p:cNvGraphicFramePr>
            <a:graphicFrameLocks noGrp="1"/>
          </p:cNvGraphicFramePr>
          <p:nvPr>
            <p:extLst>
              <p:ext uri="{D42A27DB-BD31-4B8C-83A1-F6EECF244321}">
                <p14:modId xmlns:p14="http://schemas.microsoft.com/office/powerpoint/2010/main" val="3380774916"/>
              </p:ext>
            </p:extLst>
          </p:nvPr>
        </p:nvGraphicFramePr>
        <p:xfrm>
          <a:off x="876000" y="1972597"/>
          <a:ext cx="10440000" cy="1841694"/>
        </p:xfrm>
        <a:graphic>
          <a:graphicData uri="http://schemas.openxmlformats.org/drawingml/2006/table">
            <a:tbl>
              <a:tblPr firstRow="1" firstCol="1" bandRow="1">
                <a:tableStyleId>{5C22544A-7EE6-4342-B048-85BDC9FD1C3A}</a:tableStyleId>
              </a:tblPr>
              <a:tblGrid>
                <a:gridCol w="2016000">
                  <a:extLst>
                    <a:ext uri="{9D8B030D-6E8A-4147-A177-3AD203B41FA5}">
                      <a16:colId xmlns:a16="http://schemas.microsoft.com/office/drawing/2014/main" val="812113957"/>
                    </a:ext>
                  </a:extLst>
                </a:gridCol>
                <a:gridCol w="1224000">
                  <a:extLst>
                    <a:ext uri="{9D8B030D-6E8A-4147-A177-3AD203B41FA5}">
                      <a16:colId xmlns:a16="http://schemas.microsoft.com/office/drawing/2014/main" val="800187157"/>
                    </a:ext>
                  </a:extLst>
                </a:gridCol>
                <a:gridCol w="1224000">
                  <a:extLst>
                    <a:ext uri="{9D8B030D-6E8A-4147-A177-3AD203B41FA5}">
                      <a16:colId xmlns:a16="http://schemas.microsoft.com/office/drawing/2014/main" val="720697080"/>
                    </a:ext>
                  </a:extLst>
                </a:gridCol>
                <a:gridCol w="1296000">
                  <a:extLst>
                    <a:ext uri="{9D8B030D-6E8A-4147-A177-3AD203B41FA5}">
                      <a16:colId xmlns:a16="http://schemas.microsoft.com/office/drawing/2014/main" val="299095620"/>
                    </a:ext>
                  </a:extLst>
                </a:gridCol>
                <a:gridCol w="1296000">
                  <a:extLst>
                    <a:ext uri="{9D8B030D-6E8A-4147-A177-3AD203B41FA5}">
                      <a16:colId xmlns:a16="http://schemas.microsoft.com/office/drawing/2014/main" val="3858612258"/>
                    </a:ext>
                  </a:extLst>
                </a:gridCol>
                <a:gridCol w="1836000">
                  <a:extLst>
                    <a:ext uri="{9D8B030D-6E8A-4147-A177-3AD203B41FA5}">
                      <a16:colId xmlns:a16="http://schemas.microsoft.com/office/drawing/2014/main" val="3030867749"/>
                    </a:ext>
                  </a:extLst>
                </a:gridCol>
                <a:gridCol w="1548000">
                  <a:extLst>
                    <a:ext uri="{9D8B030D-6E8A-4147-A177-3AD203B41FA5}">
                      <a16:colId xmlns:a16="http://schemas.microsoft.com/office/drawing/2014/main" val="3761933790"/>
                    </a:ext>
                  </a:extLst>
                </a:gridCol>
              </a:tblGrid>
              <a:tr h="360000">
                <a:tc rowSpan="2">
                  <a:txBody>
                    <a:bodyPr/>
                    <a:lstStyle/>
                    <a:p>
                      <a:pPr indent="127000" algn="ctr">
                        <a:buNone/>
                      </a:pPr>
                      <a:r>
                        <a:rPr lang="en-US" altLang="zh-CN" sz="2200" b="1" kern="100" dirty="0">
                          <a:effectLst/>
                          <a:latin typeface="+mn-ea"/>
                          <a:ea typeface="+mn-ea"/>
                        </a:rPr>
                        <a:t>Dataset</a:t>
                      </a:r>
                      <a:endParaRPr lang="zh-CN" sz="2200" b="1" kern="100" dirty="0">
                        <a:effectLst/>
                        <a:latin typeface="+mn-ea"/>
                        <a:ea typeface="+mn-ea"/>
                        <a:cs typeface="Times New Roman" panose="02020603050405020304" pitchFamily="18" charset="0"/>
                      </a:endParaRPr>
                    </a:p>
                  </a:txBody>
                  <a:tcPr marL="68580" marR="68580" marT="0" marB="0" anchor="ctr"/>
                </a:tc>
                <a:tc gridSpan="2">
                  <a:txBody>
                    <a:bodyPr/>
                    <a:lstStyle/>
                    <a:p>
                      <a:pPr indent="127000" algn="ctr">
                        <a:buNone/>
                      </a:pPr>
                      <a:r>
                        <a:rPr lang="en-US" altLang="zh-CN" sz="2200" b="1" kern="100" dirty="0">
                          <a:effectLst/>
                          <a:latin typeface="+mn-ea"/>
                          <a:ea typeface="+mn-ea"/>
                          <a:cs typeface="Times New Roman" panose="02020603050405020304" pitchFamily="18" charset="0"/>
                        </a:rPr>
                        <a:t>Host-detect</a:t>
                      </a:r>
                      <a:endParaRPr lang="zh-CN" sz="2200" b="1" kern="100" dirty="0">
                        <a:effectLst/>
                        <a:latin typeface="+mn-ea"/>
                        <a:ea typeface="+mn-ea"/>
                        <a:cs typeface="Times New Roman" panose="02020603050405020304" pitchFamily="18" charset="0"/>
                      </a:endParaRPr>
                    </a:p>
                  </a:txBody>
                  <a:tcPr marL="68580" marR="68580" marT="0" marB="0" anchor="ctr"/>
                </a:tc>
                <a:tc hMerge="1">
                  <a:txBody>
                    <a:bodyPr/>
                    <a:lstStyle/>
                    <a:p>
                      <a:endParaRPr lang="zh-CN" altLang="en-US"/>
                    </a:p>
                  </a:txBody>
                  <a:tcPr/>
                </a:tc>
                <a:tc gridSpan="2">
                  <a:txBody>
                    <a:bodyPr/>
                    <a:lstStyle/>
                    <a:p>
                      <a:pPr indent="127000" algn="ctr">
                        <a:buNone/>
                      </a:pPr>
                      <a:r>
                        <a:rPr lang="en-US" altLang="zh-CN" sz="2200" b="1" kern="100" dirty="0">
                          <a:effectLst/>
                          <a:latin typeface="+mn-ea"/>
                          <a:ea typeface="+mn-ea"/>
                        </a:rPr>
                        <a:t>Net-detect</a:t>
                      </a:r>
                      <a:endParaRPr lang="zh-CN" sz="2200" b="1" kern="100" dirty="0">
                        <a:effectLst/>
                        <a:latin typeface="+mn-ea"/>
                        <a:ea typeface="+mn-ea"/>
                        <a:cs typeface="Times New Roman" panose="02020603050405020304" pitchFamily="18" charset="0"/>
                      </a:endParaRPr>
                    </a:p>
                  </a:txBody>
                  <a:tcPr marL="68580" marR="68580" marT="0" marB="0" anchor="ctr"/>
                </a:tc>
                <a:tc hMerge="1">
                  <a:txBody>
                    <a:bodyPr/>
                    <a:lstStyle/>
                    <a:p>
                      <a:endParaRPr lang="zh-CN" altLang="en-US"/>
                    </a:p>
                  </a:txBody>
                  <a:tcPr/>
                </a:tc>
                <a:tc rowSpan="2">
                  <a:txBody>
                    <a:bodyPr/>
                    <a:lstStyle/>
                    <a:p>
                      <a:pPr indent="127000" algn="ctr">
                        <a:buNone/>
                      </a:pPr>
                      <a:r>
                        <a:rPr lang="en-US" altLang="zh-CN" sz="2200" b="1" kern="100" dirty="0">
                          <a:effectLst/>
                          <a:latin typeface="+mn-ea"/>
                          <a:ea typeface="+mn-ea"/>
                        </a:rPr>
                        <a:t>Investigate</a:t>
                      </a:r>
                      <a:endParaRPr lang="zh-CN" sz="2200" b="1" kern="100" dirty="0">
                        <a:effectLst/>
                        <a:latin typeface="+mn-ea"/>
                        <a:ea typeface="+mn-ea"/>
                        <a:cs typeface="Times New Roman" panose="02020603050405020304" pitchFamily="18" charset="0"/>
                      </a:endParaRPr>
                    </a:p>
                  </a:txBody>
                  <a:tcPr marL="68580" marR="68580" marT="0" marB="0" anchor="ctr"/>
                </a:tc>
                <a:tc rowSpan="2">
                  <a:txBody>
                    <a:bodyPr/>
                    <a:lstStyle/>
                    <a:p>
                      <a:pPr indent="127000" algn="ctr">
                        <a:buNone/>
                      </a:pPr>
                      <a:r>
                        <a:rPr lang="en-US" altLang="zh-CN" sz="2200" b="1" kern="100" dirty="0">
                          <a:effectLst/>
                          <a:latin typeface="+mn-ea"/>
                          <a:ea typeface="+mn-ea"/>
                          <a:cs typeface="Times New Roman" panose="02020603050405020304" pitchFamily="18" charset="0"/>
                        </a:rPr>
                        <a:t>In All</a:t>
                      </a:r>
                      <a:endParaRPr lang="zh-CN" sz="2200" b="1" kern="100" dirty="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3117237987"/>
                  </a:ext>
                </a:extLst>
              </a:tr>
              <a:tr h="360000">
                <a:tc vMerge="1">
                  <a:txBody>
                    <a:bodyPr/>
                    <a:lstStyle/>
                    <a:p>
                      <a:endParaRPr lang="zh-CN" altLang="en-US"/>
                    </a:p>
                  </a:txBody>
                  <a:tcPr/>
                </a:tc>
                <a:tc>
                  <a:txBody>
                    <a:bodyPr/>
                    <a:lstStyle/>
                    <a:p>
                      <a:pPr indent="127000" algn="ctr">
                        <a:buNone/>
                      </a:pPr>
                      <a:r>
                        <a:rPr lang="en-US" altLang="zh-CN" sz="2200" b="1" kern="100" dirty="0">
                          <a:effectLst/>
                          <a:latin typeface="+mn-ea"/>
                          <a:ea typeface="+mn-ea"/>
                        </a:rPr>
                        <a:t>Train</a:t>
                      </a:r>
                      <a:endParaRPr lang="zh-CN" sz="2200" b="1" kern="100" dirty="0">
                        <a:effectLst/>
                        <a:latin typeface="+mn-ea"/>
                        <a:ea typeface="+mn-ea"/>
                        <a:cs typeface="Times New Roman" panose="02020603050405020304" pitchFamily="18" charset="0"/>
                      </a:endParaRPr>
                    </a:p>
                  </a:txBody>
                  <a:tcPr marL="68580" marR="68580" marT="0" marB="0" anchor="ctr"/>
                </a:tc>
                <a:tc>
                  <a:txBody>
                    <a:bodyPr/>
                    <a:lstStyle/>
                    <a:p>
                      <a:pPr indent="127000" algn="ctr">
                        <a:buNone/>
                      </a:pPr>
                      <a:r>
                        <a:rPr lang="en-US" altLang="zh-CN" sz="2200" b="1" kern="100" dirty="0">
                          <a:effectLst/>
                          <a:latin typeface="+mn-ea"/>
                          <a:ea typeface="+mn-ea"/>
                        </a:rPr>
                        <a:t>Eval</a:t>
                      </a:r>
                      <a:endParaRPr lang="zh-CN" sz="2200" b="1" kern="100" dirty="0">
                        <a:effectLst/>
                        <a:latin typeface="+mn-ea"/>
                        <a:ea typeface="+mn-ea"/>
                        <a:cs typeface="Times New Roman" panose="02020603050405020304" pitchFamily="18" charset="0"/>
                      </a:endParaRPr>
                    </a:p>
                  </a:txBody>
                  <a:tcPr marL="68580" marR="68580" marT="0" marB="0" anchor="ctr"/>
                </a:tc>
                <a:tc>
                  <a:txBody>
                    <a:bodyPr/>
                    <a:lstStyle/>
                    <a:p>
                      <a:pPr indent="127000" algn="ctr">
                        <a:buNone/>
                      </a:pPr>
                      <a:r>
                        <a:rPr lang="en-US" altLang="zh-CN" sz="2200" b="1" kern="100" dirty="0">
                          <a:effectLst/>
                          <a:latin typeface="+mn-ea"/>
                          <a:ea typeface="+mn-ea"/>
                        </a:rPr>
                        <a:t>Train</a:t>
                      </a:r>
                      <a:endParaRPr lang="zh-CN" sz="2200" b="1" kern="100" dirty="0">
                        <a:effectLst/>
                        <a:latin typeface="+mn-ea"/>
                        <a:ea typeface="+mn-ea"/>
                        <a:cs typeface="Times New Roman" panose="02020603050405020304" pitchFamily="18" charset="0"/>
                      </a:endParaRPr>
                    </a:p>
                  </a:txBody>
                  <a:tcPr marL="68580" marR="68580" marT="0" marB="0" anchor="ctr"/>
                </a:tc>
                <a:tc>
                  <a:txBody>
                    <a:bodyPr/>
                    <a:lstStyle/>
                    <a:p>
                      <a:pPr indent="127000" algn="ctr">
                        <a:buNone/>
                      </a:pPr>
                      <a:r>
                        <a:rPr lang="en-US" altLang="zh-CN" sz="2200" b="1" kern="100" dirty="0">
                          <a:effectLst/>
                          <a:latin typeface="+mn-ea"/>
                          <a:ea typeface="+mn-ea"/>
                        </a:rPr>
                        <a:t>Eval</a:t>
                      </a:r>
                      <a:endParaRPr lang="zh-CN" sz="2200" b="1" kern="100" dirty="0">
                        <a:effectLst/>
                        <a:latin typeface="+mn-ea"/>
                        <a:ea typeface="+mn-ea"/>
                        <a:cs typeface="Times New Roman" panose="02020603050405020304" pitchFamily="18" charset="0"/>
                      </a:endParaRPr>
                    </a:p>
                  </a:txBody>
                  <a:tcPr marL="68580" marR="68580" marT="0" marB="0" anchor="ct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4236813732"/>
                  </a:ext>
                </a:extLst>
              </a:tr>
              <a:tr h="373898">
                <a:tc>
                  <a:txBody>
                    <a:bodyPr/>
                    <a:lstStyle/>
                    <a:p>
                      <a:pPr indent="127000" algn="ctr">
                        <a:buNone/>
                      </a:pPr>
                      <a:r>
                        <a:rPr lang="en-US" sz="2200" b="1" kern="100" dirty="0">
                          <a:effectLst/>
                          <a:latin typeface="+mn-ea"/>
                          <a:ea typeface="+mn-ea"/>
                        </a:rPr>
                        <a:t>OPTC day23</a:t>
                      </a:r>
                      <a:endParaRPr lang="zh-CN" sz="2200" b="1" kern="100" dirty="0">
                        <a:effectLst/>
                        <a:latin typeface="+mn-ea"/>
                        <a:ea typeface="+mn-ea"/>
                        <a:cs typeface="Times New Roman" panose="02020603050405020304" pitchFamily="18" charset="0"/>
                      </a:endParaRPr>
                    </a:p>
                  </a:txBody>
                  <a:tcPr marL="68580" marR="68580" marT="0" marB="0" anchor="ctr"/>
                </a:tc>
                <a:tc>
                  <a:txBody>
                    <a:bodyPr/>
                    <a:lstStyle/>
                    <a:p>
                      <a:pPr indent="127000" algn="ctr">
                        <a:buNone/>
                      </a:pPr>
                      <a:r>
                        <a:rPr lang="en-US" sz="2200" b="0" kern="100" dirty="0">
                          <a:effectLst/>
                          <a:latin typeface="+mn-ea"/>
                          <a:ea typeface="+mn-ea"/>
                        </a:rPr>
                        <a:t>1118.89</a:t>
                      </a:r>
                      <a:endParaRPr lang="zh-CN" sz="2200" b="0" kern="100" dirty="0">
                        <a:effectLst/>
                        <a:latin typeface="+mn-ea"/>
                        <a:ea typeface="+mn-ea"/>
                        <a:cs typeface="Times New Roman" panose="02020603050405020304" pitchFamily="18" charset="0"/>
                      </a:endParaRPr>
                    </a:p>
                  </a:txBody>
                  <a:tcPr marL="68580" marR="68580" marT="0" marB="0" anchor="ctr"/>
                </a:tc>
                <a:tc>
                  <a:txBody>
                    <a:bodyPr/>
                    <a:lstStyle/>
                    <a:p>
                      <a:pPr indent="127000" algn="ctr">
                        <a:buNone/>
                      </a:pPr>
                      <a:r>
                        <a:rPr lang="en-US" sz="2200" b="0" kern="100" dirty="0">
                          <a:effectLst/>
                          <a:latin typeface="+mn-ea"/>
                          <a:ea typeface="+mn-ea"/>
                        </a:rPr>
                        <a:t>381.71</a:t>
                      </a:r>
                      <a:endParaRPr lang="zh-CN" sz="2200" b="0" kern="100" dirty="0">
                        <a:effectLst/>
                        <a:latin typeface="+mn-ea"/>
                        <a:ea typeface="+mn-ea"/>
                        <a:cs typeface="Times New Roman" panose="02020603050405020304" pitchFamily="18" charset="0"/>
                      </a:endParaRPr>
                    </a:p>
                  </a:txBody>
                  <a:tcPr marL="68580" marR="68580" marT="0" marB="0" anchor="ctr"/>
                </a:tc>
                <a:tc rowSpan="3">
                  <a:txBody>
                    <a:bodyPr/>
                    <a:lstStyle/>
                    <a:p>
                      <a:pPr indent="127000" algn="ctr">
                        <a:buNone/>
                      </a:pPr>
                      <a:r>
                        <a:rPr lang="en-US" sz="2200" b="0" kern="100">
                          <a:effectLst/>
                          <a:latin typeface="+mn-ea"/>
                          <a:ea typeface="+mn-ea"/>
                        </a:rPr>
                        <a:t>7379.41</a:t>
                      </a:r>
                      <a:endParaRPr lang="zh-CN" sz="2200" b="0" kern="100">
                        <a:effectLst/>
                        <a:latin typeface="+mn-ea"/>
                        <a:ea typeface="+mn-ea"/>
                        <a:cs typeface="Times New Roman" panose="02020603050405020304" pitchFamily="18" charset="0"/>
                      </a:endParaRPr>
                    </a:p>
                  </a:txBody>
                  <a:tcPr marL="68580" marR="68580" marT="0" marB="0" anchor="ctr"/>
                </a:tc>
                <a:tc>
                  <a:txBody>
                    <a:bodyPr/>
                    <a:lstStyle/>
                    <a:p>
                      <a:pPr indent="127000" algn="ctr">
                        <a:buNone/>
                      </a:pPr>
                      <a:r>
                        <a:rPr lang="en-US" sz="2200" b="0" kern="100" dirty="0">
                          <a:effectLst/>
                          <a:latin typeface="+mn-ea"/>
                          <a:ea typeface="+mn-ea"/>
                        </a:rPr>
                        <a:t>1553.78</a:t>
                      </a:r>
                      <a:endParaRPr lang="zh-CN" sz="2200" b="0" kern="100" dirty="0">
                        <a:effectLst/>
                        <a:latin typeface="+mn-ea"/>
                        <a:ea typeface="+mn-ea"/>
                        <a:cs typeface="Times New Roman" panose="02020603050405020304" pitchFamily="18" charset="0"/>
                      </a:endParaRPr>
                    </a:p>
                  </a:txBody>
                  <a:tcPr marL="68580" marR="68580" marT="0" marB="0" anchor="ctr"/>
                </a:tc>
                <a:tc>
                  <a:txBody>
                    <a:bodyPr/>
                    <a:lstStyle/>
                    <a:p>
                      <a:pPr indent="127000" algn="ctr">
                        <a:buNone/>
                      </a:pPr>
                      <a:r>
                        <a:rPr lang="en-US" sz="2200" b="0" kern="100">
                          <a:effectLst/>
                          <a:latin typeface="+mn-ea"/>
                          <a:ea typeface="+mn-ea"/>
                        </a:rPr>
                        <a:t>8.20</a:t>
                      </a:r>
                      <a:endParaRPr lang="zh-CN" sz="2200" b="0" kern="100">
                        <a:effectLst/>
                        <a:latin typeface="+mn-ea"/>
                        <a:ea typeface="+mn-ea"/>
                        <a:cs typeface="Times New Roman" panose="02020603050405020304" pitchFamily="18" charset="0"/>
                      </a:endParaRPr>
                    </a:p>
                  </a:txBody>
                  <a:tcPr marL="68580" marR="68580" marT="0" marB="0" anchor="ctr"/>
                </a:tc>
                <a:tc>
                  <a:txBody>
                    <a:bodyPr/>
                    <a:lstStyle/>
                    <a:p>
                      <a:pPr indent="127000" algn="ctr">
                        <a:buNone/>
                      </a:pPr>
                      <a:r>
                        <a:rPr lang="en-US" sz="2200" b="0" kern="100">
                          <a:effectLst/>
                          <a:latin typeface="+mn-ea"/>
                          <a:ea typeface="+mn-ea"/>
                        </a:rPr>
                        <a:t>10441.99</a:t>
                      </a:r>
                      <a:endParaRPr lang="zh-CN" sz="2200" b="0" kern="10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3392331081"/>
                  </a:ext>
                </a:extLst>
              </a:tr>
              <a:tr h="373898">
                <a:tc>
                  <a:txBody>
                    <a:bodyPr/>
                    <a:lstStyle/>
                    <a:p>
                      <a:pPr indent="127000" algn="ctr">
                        <a:buNone/>
                      </a:pPr>
                      <a:r>
                        <a:rPr lang="en-US" sz="2200" b="1" kern="100">
                          <a:effectLst/>
                          <a:latin typeface="+mn-ea"/>
                          <a:ea typeface="+mn-ea"/>
                        </a:rPr>
                        <a:t>OPTC day24</a:t>
                      </a:r>
                      <a:endParaRPr lang="zh-CN" sz="2200" b="1" kern="100">
                        <a:effectLst/>
                        <a:latin typeface="+mn-ea"/>
                        <a:ea typeface="+mn-ea"/>
                        <a:cs typeface="Times New Roman" panose="02020603050405020304" pitchFamily="18" charset="0"/>
                      </a:endParaRPr>
                    </a:p>
                  </a:txBody>
                  <a:tcPr marL="68580" marR="68580" marT="0" marB="0" anchor="ctr"/>
                </a:tc>
                <a:tc>
                  <a:txBody>
                    <a:bodyPr/>
                    <a:lstStyle/>
                    <a:p>
                      <a:pPr indent="127000" algn="ctr">
                        <a:buNone/>
                      </a:pPr>
                      <a:r>
                        <a:rPr lang="en-US" sz="2200" b="0" kern="100">
                          <a:effectLst/>
                          <a:latin typeface="+mn-ea"/>
                          <a:ea typeface="+mn-ea"/>
                        </a:rPr>
                        <a:t>1101.10</a:t>
                      </a:r>
                      <a:endParaRPr lang="zh-CN" sz="2200" b="0" kern="100">
                        <a:effectLst/>
                        <a:latin typeface="+mn-ea"/>
                        <a:ea typeface="+mn-ea"/>
                        <a:cs typeface="Times New Roman" panose="02020603050405020304" pitchFamily="18" charset="0"/>
                      </a:endParaRPr>
                    </a:p>
                  </a:txBody>
                  <a:tcPr marL="68580" marR="68580" marT="0" marB="0" anchor="ctr"/>
                </a:tc>
                <a:tc>
                  <a:txBody>
                    <a:bodyPr/>
                    <a:lstStyle/>
                    <a:p>
                      <a:pPr indent="127000" algn="ctr">
                        <a:buNone/>
                      </a:pPr>
                      <a:r>
                        <a:rPr lang="en-US" sz="2200" b="0" kern="100" dirty="0">
                          <a:effectLst/>
                          <a:latin typeface="+mn-ea"/>
                          <a:ea typeface="+mn-ea"/>
                        </a:rPr>
                        <a:t>1003.67</a:t>
                      </a:r>
                      <a:endParaRPr lang="zh-CN" sz="2200" b="0" kern="100" dirty="0">
                        <a:effectLst/>
                        <a:latin typeface="+mn-ea"/>
                        <a:ea typeface="+mn-ea"/>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indent="127000" algn="ctr">
                        <a:buNone/>
                      </a:pPr>
                      <a:r>
                        <a:rPr lang="en-US" sz="2200" b="0" kern="100" dirty="0">
                          <a:effectLst/>
                          <a:latin typeface="+mn-ea"/>
                          <a:ea typeface="+mn-ea"/>
                        </a:rPr>
                        <a:t>2694.55</a:t>
                      </a:r>
                      <a:endParaRPr lang="zh-CN" sz="2200" b="0" kern="100" dirty="0">
                        <a:effectLst/>
                        <a:latin typeface="+mn-ea"/>
                        <a:ea typeface="+mn-ea"/>
                        <a:cs typeface="Times New Roman" panose="02020603050405020304" pitchFamily="18" charset="0"/>
                      </a:endParaRPr>
                    </a:p>
                  </a:txBody>
                  <a:tcPr marL="68580" marR="68580" marT="0" marB="0" anchor="ctr"/>
                </a:tc>
                <a:tc>
                  <a:txBody>
                    <a:bodyPr/>
                    <a:lstStyle/>
                    <a:p>
                      <a:pPr indent="127000" algn="ctr">
                        <a:buNone/>
                      </a:pPr>
                      <a:r>
                        <a:rPr lang="en-US" sz="2200" b="0" kern="100" dirty="0">
                          <a:effectLst/>
                          <a:latin typeface="+mn-ea"/>
                          <a:ea typeface="+mn-ea"/>
                        </a:rPr>
                        <a:t>48.42</a:t>
                      </a:r>
                      <a:endParaRPr lang="zh-CN" sz="2200" b="0" kern="100" dirty="0">
                        <a:effectLst/>
                        <a:latin typeface="+mn-ea"/>
                        <a:ea typeface="+mn-ea"/>
                        <a:cs typeface="Times New Roman" panose="02020603050405020304" pitchFamily="18" charset="0"/>
                      </a:endParaRPr>
                    </a:p>
                  </a:txBody>
                  <a:tcPr marL="68580" marR="68580" marT="0" marB="0" anchor="ctr"/>
                </a:tc>
                <a:tc>
                  <a:txBody>
                    <a:bodyPr/>
                    <a:lstStyle/>
                    <a:p>
                      <a:pPr indent="127000" algn="ctr">
                        <a:buNone/>
                      </a:pPr>
                      <a:r>
                        <a:rPr lang="en-US" sz="2200" b="0" kern="100" dirty="0">
                          <a:effectLst/>
                          <a:latin typeface="+mn-ea"/>
                          <a:ea typeface="+mn-ea"/>
                        </a:rPr>
                        <a:t>12227.15</a:t>
                      </a:r>
                      <a:endParaRPr lang="zh-CN" sz="2200" b="0" kern="100" dirty="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4043225661"/>
                  </a:ext>
                </a:extLst>
              </a:tr>
              <a:tr h="373898">
                <a:tc>
                  <a:txBody>
                    <a:bodyPr/>
                    <a:lstStyle/>
                    <a:p>
                      <a:pPr indent="127000" algn="ctr">
                        <a:buNone/>
                      </a:pPr>
                      <a:r>
                        <a:rPr lang="en-US" sz="2200" b="1" kern="100">
                          <a:effectLst/>
                          <a:latin typeface="+mn-ea"/>
                          <a:ea typeface="+mn-ea"/>
                        </a:rPr>
                        <a:t>OPTC day25</a:t>
                      </a:r>
                      <a:endParaRPr lang="zh-CN" sz="2200" b="1" kern="100">
                        <a:effectLst/>
                        <a:latin typeface="+mn-ea"/>
                        <a:ea typeface="+mn-ea"/>
                        <a:cs typeface="Times New Roman" panose="02020603050405020304" pitchFamily="18" charset="0"/>
                      </a:endParaRPr>
                    </a:p>
                  </a:txBody>
                  <a:tcPr marL="68580" marR="68580" marT="0" marB="0" anchor="ctr"/>
                </a:tc>
                <a:tc>
                  <a:txBody>
                    <a:bodyPr/>
                    <a:lstStyle/>
                    <a:p>
                      <a:pPr indent="127000" algn="ctr">
                        <a:buNone/>
                      </a:pPr>
                      <a:r>
                        <a:rPr lang="en-US" sz="2200" b="0" kern="100">
                          <a:effectLst/>
                          <a:latin typeface="+mn-ea"/>
                          <a:ea typeface="+mn-ea"/>
                        </a:rPr>
                        <a:t>892.46</a:t>
                      </a:r>
                      <a:endParaRPr lang="zh-CN" sz="2200" b="0" kern="100">
                        <a:effectLst/>
                        <a:latin typeface="+mn-ea"/>
                        <a:ea typeface="+mn-ea"/>
                        <a:cs typeface="Times New Roman" panose="02020603050405020304" pitchFamily="18" charset="0"/>
                      </a:endParaRPr>
                    </a:p>
                  </a:txBody>
                  <a:tcPr marL="68580" marR="68580" marT="0" marB="0" anchor="ctr"/>
                </a:tc>
                <a:tc>
                  <a:txBody>
                    <a:bodyPr/>
                    <a:lstStyle/>
                    <a:p>
                      <a:pPr indent="127000" algn="ctr">
                        <a:buNone/>
                      </a:pPr>
                      <a:r>
                        <a:rPr lang="en-US" sz="2200" b="0" kern="100">
                          <a:effectLst/>
                          <a:latin typeface="+mn-ea"/>
                          <a:ea typeface="+mn-ea"/>
                        </a:rPr>
                        <a:t>436.30</a:t>
                      </a:r>
                      <a:endParaRPr lang="zh-CN" sz="2200" b="0" kern="100">
                        <a:effectLst/>
                        <a:latin typeface="+mn-ea"/>
                        <a:ea typeface="+mn-ea"/>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indent="127000" algn="ctr">
                        <a:buNone/>
                      </a:pPr>
                      <a:r>
                        <a:rPr lang="en-US" sz="2200" b="0" kern="100">
                          <a:effectLst/>
                          <a:latin typeface="+mn-ea"/>
                          <a:ea typeface="+mn-ea"/>
                        </a:rPr>
                        <a:t>1449.72</a:t>
                      </a:r>
                      <a:endParaRPr lang="zh-CN" sz="2200" b="0" kern="100">
                        <a:effectLst/>
                        <a:latin typeface="+mn-ea"/>
                        <a:ea typeface="+mn-ea"/>
                        <a:cs typeface="Times New Roman" panose="02020603050405020304" pitchFamily="18" charset="0"/>
                      </a:endParaRPr>
                    </a:p>
                  </a:txBody>
                  <a:tcPr marL="68580" marR="68580" marT="0" marB="0" anchor="ctr"/>
                </a:tc>
                <a:tc>
                  <a:txBody>
                    <a:bodyPr/>
                    <a:lstStyle/>
                    <a:p>
                      <a:pPr indent="127000" algn="ctr">
                        <a:buNone/>
                      </a:pPr>
                      <a:r>
                        <a:rPr lang="en-US" sz="2200" b="0" kern="100">
                          <a:effectLst/>
                          <a:latin typeface="+mn-ea"/>
                          <a:ea typeface="+mn-ea"/>
                        </a:rPr>
                        <a:t>11.63</a:t>
                      </a:r>
                      <a:endParaRPr lang="zh-CN" sz="2200" b="0" kern="100">
                        <a:effectLst/>
                        <a:latin typeface="+mn-ea"/>
                        <a:ea typeface="+mn-ea"/>
                        <a:cs typeface="Times New Roman" panose="02020603050405020304" pitchFamily="18" charset="0"/>
                      </a:endParaRPr>
                    </a:p>
                  </a:txBody>
                  <a:tcPr marL="68580" marR="68580" marT="0" marB="0" anchor="ctr"/>
                </a:tc>
                <a:tc>
                  <a:txBody>
                    <a:bodyPr/>
                    <a:lstStyle/>
                    <a:p>
                      <a:pPr indent="127000" algn="ctr">
                        <a:buNone/>
                      </a:pPr>
                      <a:r>
                        <a:rPr lang="en-US" sz="2200" b="0" kern="100" dirty="0">
                          <a:effectLst/>
                          <a:latin typeface="+mn-ea"/>
                          <a:ea typeface="+mn-ea"/>
                        </a:rPr>
                        <a:t>10169.52</a:t>
                      </a:r>
                      <a:endParaRPr lang="zh-CN" sz="2200" b="0" kern="100" dirty="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1944022970"/>
                  </a:ext>
                </a:extLst>
              </a:tr>
            </a:tbl>
          </a:graphicData>
        </a:graphic>
      </p:graphicFrame>
      <p:graphicFrame>
        <p:nvGraphicFramePr>
          <p:cNvPr id="5" name="表格 4">
            <a:extLst>
              <a:ext uri="{FF2B5EF4-FFF2-40B4-BE49-F238E27FC236}">
                <a16:creationId xmlns:a16="http://schemas.microsoft.com/office/drawing/2014/main" id="{2CB0E91A-300E-7CE7-002C-35DF423F44CE}"/>
              </a:ext>
            </a:extLst>
          </p:cNvPr>
          <p:cNvGraphicFramePr>
            <a:graphicFrameLocks noGrp="1"/>
          </p:cNvGraphicFramePr>
          <p:nvPr>
            <p:extLst>
              <p:ext uri="{D42A27DB-BD31-4B8C-83A1-F6EECF244321}">
                <p14:modId xmlns:p14="http://schemas.microsoft.com/office/powerpoint/2010/main" val="3260281136"/>
              </p:ext>
            </p:extLst>
          </p:nvPr>
        </p:nvGraphicFramePr>
        <p:xfrm>
          <a:off x="1543980" y="4562158"/>
          <a:ext cx="9392321" cy="1725840"/>
        </p:xfrm>
        <a:graphic>
          <a:graphicData uri="http://schemas.openxmlformats.org/drawingml/2006/table">
            <a:tbl>
              <a:tblPr firstRow="1" firstCol="1" bandRow="1">
                <a:tableStyleId>{5C22544A-7EE6-4342-B048-85BDC9FD1C3A}</a:tableStyleId>
              </a:tblPr>
              <a:tblGrid>
                <a:gridCol w="2053161">
                  <a:extLst>
                    <a:ext uri="{9D8B030D-6E8A-4147-A177-3AD203B41FA5}">
                      <a16:colId xmlns:a16="http://schemas.microsoft.com/office/drawing/2014/main" val="3595716210"/>
                    </a:ext>
                  </a:extLst>
                </a:gridCol>
                <a:gridCol w="1172162">
                  <a:extLst>
                    <a:ext uri="{9D8B030D-6E8A-4147-A177-3AD203B41FA5}">
                      <a16:colId xmlns:a16="http://schemas.microsoft.com/office/drawing/2014/main" val="1520368335"/>
                    </a:ext>
                  </a:extLst>
                </a:gridCol>
                <a:gridCol w="1273599">
                  <a:extLst>
                    <a:ext uri="{9D8B030D-6E8A-4147-A177-3AD203B41FA5}">
                      <a16:colId xmlns:a16="http://schemas.microsoft.com/office/drawing/2014/main" val="641188777"/>
                    </a:ext>
                  </a:extLst>
                </a:gridCol>
                <a:gridCol w="1273599">
                  <a:extLst>
                    <a:ext uri="{9D8B030D-6E8A-4147-A177-3AD203B41FA5}">
                      <a16:colId xmlns:a16="http://schemas.microsoft.com/office/drawing/2014/main" val="149073263"/>
                    </a:ext>
                  </a:extLst>
                </a:gridCol>
                <a:gridCol w="1264206">
                  <a:extLst>
                    <a:ext uri="{9D8B030D-6E8A-4147-A177-3AD203B41FA5}">
                      <a16:colId xmlns:a16="http://schemas.microsoft.com/office/drawing/2014/main" val="4049653173"/>
                    </a:ext>
                  </a:extLst>
                </a:gridCol>
                <a:gridCol w="1264206">
                  <a:extLst>
                    <a:ext uri="{9D8B030D-6E8A-4147-A177-3AD203B41FA5}">
                      <a16:colId xmlns:a16="http://schemas.microsoft.com/office/drawing/2014/main" val="2088161655"/>
                    </a:ext>
                  </a:extLst>
                </a:gridCol>
                <a:gridCol w="1091388">
                  <a:extLst>
                    <a:ext uri="{9D8B030D-6E8A-4147-A177-3AD203B41FA5}">
                      <a16:colId xmlns:a16="http://schemas.microsoft.com/office/drawing/2014/main" val="856139642"/>
                    </a:ext>
                  </a:extLst>
                </a:gridCol>
              </a:tblGrid>
              <a:tr h="360000">
                <a:tc rowSpan="2">
                  <a:txBody>
                    <a:bodyPr/>
                    <a:lstStyle/>
                    <a:p>
                      <a:pPr indent="127000" algn="ctr">
                        <a:buNone/>
                      </a:pPr>
                      <a:r>
                        <a:rPr lang="en-US" altLang="zh-CN" sz="2200" kern="100" dirty="0">
                          <a:effectLst/>
                          <a:latin typeface="+mn-ea"/>
                          <a:ea typeface="+mn-ea"/>
                        </a:rPr>
                        <a:t>Dataset</a:t>
                      </a:r>
                      <a:endParaRPr lang="zh-CN" sz="2200" kern="100" dirty="0">
                        <a:effectLst/>
                        <a:latin typeface="+mn-ea"/>
                        <a:ea typeface="+mn-ea"/>
                        <a:cs typeface="Times New Roman" panose="02020603050405020304" pitchFamily="18" charset="0"/>
                      </a:endParaRPr>
                    </a:p>
                  </a:txBody>
                  <a:tcPr marL="68580" marR="68580" marT="0" marB="0" anchor="ctr"/>
                </a:tc>
                <a:tc gridSpan="3">
                  <a:txBody>
                    <a:bodyPr/>
                    <a:lstStyle/>
                    <a:p>
                      <a:pPr indent="127000" algn="ctr">
                        <a:buNone/>
                      </a:pPr>
                      <a:r>
                        <a:rPr lang="en-US" sz="2200" kern="100" dirty="0">
                          <a:effectLst/>
                          <a:latin typeface="+mn-ea"/>
                          <a:ea typeface="+mn-ea"/>
                        </a:rPr>
                        <a:t>Nexus (host-net)</a:t>
                      </a:r>
                      <a:endParaRPr lang="zh-CN" sz="2200" kern="100" dirty="0">
                        <a:effectLst/>
                        <a:latin typeface="+mn-ea"/>
                        <a:ea typeface="+mn-ea"/>
                        <a:cs typeface="Times New Roman" panose="02020603050405020304" pitchFamily="18" charset="0"/>
                      </a:endParaRPr>
                    </a:p>
                  </a:txBody>
                  <a:tcPr marL="68580" marR="68580" marT="0" marB="0"/>
                </a:tc>
                <a:tc hMerge="1">
                  <a:txBody>
                    <a:bodyPr/>
                    <a:lstStyle/>
                    <a:p>
                      <a:endParaRPr lang="zh-CN" altLang="en-US"/>
                    </a:p>
                  </a:txBody>
                  <a:tcPr/>
                </a:tc>
                <a:tc hMerge="1">
                  <a:txBody>
                    <a:bodyPr/>
                    <a:lstStyle/>
                    <a:p>
                      <a:endParaRPr lang="zh-CN" altLang="en-US"/>
                    </a:p>
                  </a:txBody>
                  <a:tcPr/>
                </a:tc>
                <a:tc gridSpan="3">
                  <a:txBody>
                    <a:bodyPr/>
                    <a:lstStyle/>
                    <a:p>
                      <a:pPr indent="127000" algn="ctr">
                        <a:buNone/>
                      </a:pPr>
                      <a:r>
                        <a:rPr lang="en-US" sz="2200" kern="100">
                          <a:effectLst/>
                          <a:latin typeface="+mn-ea"/>
                          <a:ea typeface="+mn-ea"/>
                        </a:rPr>
                        <a:t>MAGIC (host only)</a:t>
                      </a:r>
                      <a:endParaRPr lang="zh-CN" sz="2200" kern="100">
                        <a:effectLst/>
                        <a:latin typeface="+mn-ea"/>
                        <a:ea typeface="+mn-ea"/>
                        <a:cs typeface="Times New Roman" panose="02020603050405020304" pitchFamily="18" charset="0"/>
                      </a:endParaRPr>
                    </a:p>
                  </a:txBody>
                  <a:tcPr marL="68580" marR="68580" marT="0" marB="0"/>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012670175"/>
                  </a:ext>
                </a:extLst>
              </a:tr>
              <a:tr h="360000">
                <a:tc vMerge="1">
                  <a:txBody>
                    <a:bodyPr/>
                    <a:lstStyle/>
                    <a:p>
                      <a:endParaRPr lang="zh-CN" altLang="en-US"/>
                    </a:p>
                  </a:txBody>
                  <a:tcPr/>
                </a:tc>
                <a:tc>
                  <a:txBody>
                    <a:bodyPr/>
                    <a:lstStyle/>
                    <a:p>
                      <a:pPr indent="127000" algn="ctr">
                        <a:buNone/>
                      </a:pPr>
                      <a:r>
                        <a:rPr lang="en-US" altLang="zh-CN" sz="2200" b="1" kern="100" dirty="0">
                          <a:effectLst/>
                          <a:latin typeface="+mn-ea"/>
                          <a:ea typeface="+mn-ea"/>
                          <a:cs typeface="Times New Roman" panose="02020603050405020304" pitchFamily="18" charset="0"/>
                        </a:rPr>
                        <a:t>PRC</a:t>
                      </a:r>
                      <a:endParaRPr lang="zh-CN" sz="2200" b="1"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altLang="zh-CN" sz="2200" b="1" kern="100" dirty="0">
                          <a:effectLst/>
                          <a:latin typeface="+mn-ea"/>
                          <a:ea typeface="+mn-ea"/>
                          <a:cs typeface="Times New Roman" panose="02020603050405020304" pitchFamily="18" charset="0"/>
                        </a:rPr>
                        <a:t>REC</a:t>
                      </a:r>
                      <a:endParaRPr lang="zh-CN" sz="2200" b="1"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altLang="zh-CN" sz="2200" b="1" kern="100" dirty="0">
                          <a:effectLst/>
                          <a:latin typeface="+mn-ea"/>
                          <a:ea typeface="+mn-ea"/>
                          <a:cs typeface="Times New Roman" panose="02020603050405020304" pitchFamily="18" charset="0"/>
                        </a:rPr>
                        <a:t>F1</a:t>
                      </a:r>
                      <a:endParaRPr lang="zh-CN" sz="2200" b="1"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altLang="zh-CN" sz="2200" b="1" kern="100" dirty="0">
                          <a:effectLst/>
                          <a:latin typeface="+mn-ea"/>
                          <a:ea typeface="+mn-ea"/>
                          <a:cs typeface="Times New Roman" panose="02020603050405020304" pitchFamily="18" charset="0"/>
                        </a:rPr>
                        <a:t>PRC</a:t>
                      </a:r>
                      <a:endParaRPr lang="zh-CN" sz="2200" b="1"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altLang="zh-CN" sz="2200" b="1" kern="100" dirty="0">
                          <a:effectLst/>
                          <a:latin typeface="+mn-ea"/>
                          <a:ea typeface="+mn-ea"/>
                          <a:cs typeface="Times New Roman" panose="02020603050405020304" pitchFamily="18" charset="0"/>
                        </a:rPr>
                        <a:t>REC</a:t>
                      </a:r>
                      <a:endParaRPr lang="zh-CN" sz="2200" b="1"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altLang="zh-CN" sz="2200" b="1" kern="100" dirty="0">
                          <a:effectLst/>
                          <a:latin typeface="+mn-ea"/>
                          <a:ea typeface="+mn-ea"/>
                          <a:cs typeface="Times New Roman" panose="02020603050405020304" pitchFamily="18" charset="0"/>
                        </a:rPr>
                        <a:t>F1</a:t>
                      </a:r>
                      <a:endParaRPr lang="zh-CN" sz="2200" b="1" kern="100" dirty="0">
                        <a:effectLst/>
                        <a:latin typeface="+mn-ea"/>
                        <a:ea typeface="+mn-ea"/>
                        <a:cs typeface="Times New Roman" panose="02020603050405020304" pitchFamily="18" charset="0"/>
                      </a:endParaRPr>
                    </a:p>
                  </a:txBody>
                  <a:tcPr marL="68580" marR="68580" marT="0" marB="0"/>
                </a:tc>
                <a:extLst>
                  <a:ext uri="{0D108BD9-81ED-4DB2-BD59-A6C34878D82A}">
                    <a16:rowId xmlns:a16="http://schemas.microsoft.com/office/drawing/2014/main" val="4181093863"/>
                  </a:ext>
                </a:extLst>
              </a:tr>
              <a:tr h="0">
                <a:tc>
                  <a:txBody>
                    <a:bodyPr/>
                    <a:lstStyle/>
                    <a:p>
                      <a:pPr indent="127000" algn="ctr">
                        <a:buNone/>
                      </a:pPr>
                      <a:r>
                        <a:rPr lang="en-US" sz="2200" kern="100" dirty="0">
                          <a:effectLst/>
                          <a:latin typeface="+mn-ea"/>
                          <a:ea typeface="+mn-ea"/>
                        </a:rPr>
                        <a:t>OPTC day23</a:t>
                      </a:r>
                      <a:endParaRPr lang="zh-CN" sz="22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200" kern="100">
                          <a:effectLst/>
                          <a:latin typeface="+mn-ea"/>
                          <a:ea typeface="+mn-ea"/>
                        </a:rPr>
                        <a:t>0.97</a:t>
                      </a:r>
                      <a:endParaRPr lang="zh-CN" sz="2200" kern="10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200" kern="100">
                          <a:effectLst/>
                          <a:latin typeface="+mn-ea"/>
                          <a:ea typeface="+mn-ea"/>
                        </a:rPr>
                        <a:t>0.98</a:t>
                      </a:r>
                      <a:endParaRPr lang="zh-CN" sz="2200" kern="10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200" kern="100">
                          <a:effectLst/>
                          <a:latin typeface="+mn-ea"/>
                          <a:ea typeface="+mn-ea"/>
                        </a:rPr>
                        <a:t>0.98</a:t>
                      </a:r>
                      <a:endParaRPr lang="zh-CN" sz="2200" kern="10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200" kern="100">
                          <a:effectLst/>
                          <a:latin typeface="+mn-ea"/>
                          <a:ea typeface="+mn-ea"/>
                        </a:rPr>
                        <a:t>0.95</a:t>
                      </a:r>
                      <a:endParaRPr lang="zh-CN" sz="2200" kern="10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200" kern="100" dirty="0">
                          <a:effectLst/>
                          <a:latin typeface="+mn-ea"/>
                          <a:ea typeface="+mn-ea"/>
                        </a:rPr>
                        <a:t>0.91</a:t>
                      </a:r>
                      <a:endParaRPr lang="zh-CN" sz="22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200" kern="100" dirty="0">
                          <a:effectLst/>
                          <a:latin typeface="+mn-ea"/>
                          <a:ea typeface="+mn-ea"/>
                        </a:rPr>
                        <a:t>0.93</a:t>
                      </a:r>
                      <a:endParaRPr lang="zh-CN" sz="2200" kern="100" dirty="0">
                        <a:effectLst/>
                        <a:latin typeface="+mn-ea"/>
                        <a:ea typeface="+mn-ea"/>
                        <a:cs typeface="Times New Roman" panose="02020603050405020304" pitchFamily="18" charset="0"/>
                      </a:endParaRPr>
                    </a:p>
                  </a:txBody>
                  <a:tcPr marL="68580" marR="68580" marT="0" marB="0"/>
                </a:tc>
                <a:extLst>
                  <a:ext uri="{0D108BD9-81ED-4DB2-BD59-A6C34878D82A}">
                    <a16:rowId xmlns:a16="http://schemas.microsoft.com/office/drawing/2014/main" val="3703255195"/>
                  </a:ext>
                </a:extLst>
              </a:tr>
              <a:tr h="0">
                <a:tc>
                  <a:txBody>
                    <a:bodyPr/>
                    <a:lstStyle/>
                    <a:p>
                      <a:pPr indent="127000" algn="ctr">
                        <a:buNone/>
                      </a:pPr>
                      <a:r>
                        <a:rPr lang="en-US" sz="2200" kern="100">
                          <a:effectLst/>
                          <a:latin typeface="+mn-ea"/>
                          <a:ea typeface="+mn-ea"/>
                        </a:rPr>
                        <a:t>OPTC day24</a:t>
                      </a:r>
                      <a:endParaRPr lang="zh-CN" sz="2200" kern="10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200" kern="100">
                          <a:effectLst/>
                          <a:latin typeface="+mn-ea"/>
                          <a:ea typeface="+mn-ea"/>
                        </a:rPr>
                        <a:t>0.98</a:t>
                      </a:r>
                      <a:endParaRPr lang="zh-CN" sz="2200" kern="10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200" kern="100">
                          <a:effectLst/>
                          <a:latin typeface="+mn-ea"/>
                          <a:ea typeface="+mn-ea"/>
                        </a:rPr>
                        <a:t>1.00</a:t>
                      </a:r>
                      <a:endParaRPr lang="zh-CN" sz="2200" kern="10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200" kern="100">
                          <a:effectLst/>
                          <a:latin typeface="+mn-ea"/>
                          <a:ea typeface="+mn-ea"/>
                        </a:rPr>
                        <a:t>0.99</a:t>
                      </a:r>
                      <a:endParaRPr lang="zh-CN" sz="2200" kern="10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200" kern="100">
                          <a:effectLst/>
                          <a:latin typeface="+mn-ea"/>
                          <a:ea typeface="+mn-ea"/>
                        </a:rPr>
                        <a:t>0.98</a:t>
                      </a:r>
                      <a:endParaRPr lang="zh-CN" sz="2200" kern="10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200" kern="100">
                          <a:effectLst/>
                          <a:latin typeface="+mn-ea"/>
                          <a:ea typeface="+mn-ea"/>
                        </a:rPr>
                        <a:t>1.00</a:t>
                      </a:r>
                      <a:endParaRPr lang="zh-CN" sz="2200" kern="10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200" kern="100">
                          <a:effectLst/>
                          <a:latin typeface="+mn-ea"/>
                          <a:ea typeface="+mn-ea"/>
                        </a:rPr>
                        <a:t>0.99</a:t>
                      </a:r>
                      <a:endParaRPr lang="zh-CN" sz="2200" kern="100">
                        <a:effectLst/>
                        <a:latin typeface="+mn-ea"/>
                        <a:ea typeface="+mn-ea"/>
                        <a:cs typeface="Times New Roman" panose="02020603050405020304" pitchFamily="18" charset="0"/>
                      </a:endParaRPr>
                    </a:p>
                  </a:txBody>
                  <a:tcPr marL="68580" marR="68580" marT="0" marB="0"/>
                </a:tc>
                <a:extLst>
                  <a:ext uri="{0D108BD9-81ED-4DB2-BD59-A6C34878D82A}">
                    <a16:rowId xmlns:a16="http://schemas.microsoft.com/office/drawing/2014/main" val="3987166924"/>
                  </a:ext>
                </a:extLst>
              </a:tr>
              <a:tr h="0">
                <a:tc>
                  <a:txBody>
                    <a:bodyPr/>
                    <a:lstStyle/>
                    <a:p>
                      <a:pPr indent="127000" algn="ctr">
                        <a:buNone/>
                      </a:pPr>
                      <a:r>
                        <a:rPr lang="en-US" sz="2200" kern="100">
                          <a:effectLst/>
                          <a:latin typeface="+mn-ea"/>
                          <a:ea typeface="+mn-ea"/>
                        </a:rPr>
                        <a:t>OPTC day25</a:t>
                      </a:r>
                      <a:endParaRPr lang="zh-CN" sz="2200" kern="10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200" kern="100">
                          <a:effectLst/>
                          <a:latin typeface="+mn-ea"/>
                          <a:ea typeface="+mn-ea"/>
                        </a:rPr>
                        <a:t>1.00</a:t>
                      </a:r>
                      <a:endParaRPr lang="zh-CN" sz="2200" kern="10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200" kern="100">
                          <a:effectLst/>
                          <a:latin typeface="+mn-ea"/>
                          <a:ea typeface="+mn-ea"/>
                        </a:rPr>
                        <a:t>1.00</a:t>
                      </a:r>
                      <a:endParaRPr lang="zh-CN" sz="2200" kern="10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200" kern="100">
                          <a:effectLst/>
                          <a:latin typeface="+mn-ea"/>
                          <a:ea typeface="+mn-ea"/>
                        </a:rPr>
                        <a:t>1.00</a:t>
                      </a:r>
                      <a:endParaRPr lang="zh-CN" sz="2200" kern="10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200" kern="100">
                          <a:effectLst/>
                          <a:latin typeface="+mn-ea"/>
                          <a:ea typeface="+mn-ea"/>
                        </a:rPr>
                        <a:t>0.83</a:t>
                      </a:r>
                      <a:endParaRPr lang="zh-CN" sz="2200" kern="10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200" kern="100">
                          <a:effectLst/>
                          <a:latin typeface="+mn-ea"/>
                          <a:ea typeface="+mn-ea"/>
                        </a:rPr>
                        <a:t>0.87</a:t>
                      </a:r>
                      <a:endParaRPr lang="zh-CN" sz="2200" kern="10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200" kern="100" dirty="0">
                          <a:effectLst/>
                          <a:latin typeface="+mn-ea"/>
                          <a:ea typeface="+mn-ea"/>
                        </a:rPr>
                        <a:t>0.85</a:t>
                      </a:r>
                      <a:endParaRPr lang="zh-CN" sz="2200" kern="100" dirty="0">
                        <a:effectLst/>
                        <a:latin typeface="+mn-ea"/>
                        <a:ea typeface="+mn-ea"/>
                        <a:cs typeface="Times New Roman" panose="02020603050405020304" pitchFamily="18" charset="0"/>
                      </a:endParaRPr>
                    </a:p>
                  </a:txBody>
                  <a:tcPr marL="68580" marR="68580" marT="0" marB="0"/>
                </a:tc>
                <a:extLst>
                  <a:ext uri="{0D108BD9-81ED-4DB2-BD59-A6C34878D82A}">
                    <a16:rowId xmlns:a16="http://schemas.microsoft.com/office/drawing/2014/main" val="1820016009"/>
                  </a:ext>
                </a:extLst>
              </a:tr>
            </a:tbl>
          </a:graphicData>
        </a:graphic>
      </p:graphicFrame>
    </p:spTree>
    <p:extLst>
      <p:ext uri="{BB962C8B-B14F-4D97-AF65-F5344CB8AC3E}">
        <p14:creationId xmlns:p14="http://schemas.microsoft.com/office/powerpoint/2010/main" val="18077031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EE293-0922-B651-9C40-EB99A027AC4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ECB747C-09E3-3932-22D5-16A864661FF0}"/>
              </a:ext>
            </a:extLst>
          </p:cNvPr>
          <p:cNvSpPr>
            <a:spLocks noGrp="1"/>
          </p:cNvSpPr>
          <p:nvPr>
            <p:ph type="title"/>
          </p:nvPr>
        </p:nvSpPr>
        <p:spPr/>
        <p:txBody>
          <a:bodyPr>
            <a:normAutofit fontScale="90000"/>
          </a:bodyPr>
          <a:lstStyle/>
          <a:p>
            <a:r>
              <a:rPr lang="en-US" altLang="zh-CN" dirty="0">
                <a:latin typeface="微软雅黑" panose="020B0503020204020204" pitchFamily="34" charset="-122"/>
                <a:ea typeface="微软雅黑" panose="020B0503020204020204" pitchFamily="34" charset="-122"/>
              </a:rPr>
              <a:t>Contents</a:t>
            </a:r>
            <a:endParaRPr lang="zh-CN" altLang="en-US" dirty="0">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10545B10-C7D8-151C-A495-E1CCE6B229A7}"/>
              </a:ext>
            </a:extLst>
          </p:cNvPr>
          <p:cNvGrpSpPr/>
          <p:nvPr/>
        </p:nvGrpSpPr>
        <p:grpSpPr>
          <a:xfrm>
            <a:off x="3365536" y="1303550"/>
            <a:ext cx="843427" cy="443226"/>
            <a:chOff x="666810" y="2586037"/>
            <a:chExt cx="468000" cy="245937"/>
          </a:xfrm>
          <a:solidFill>
            <a:schemeClr val="bg2"/>
          </a:solidFill>
        </p:grpSpPr>
        <p:sp>
          <p:nvSpPr>
            <p:cNvPr id="4" name="Freeform 10">
              <a:extLst>
                <a:ext uri="{FF2B5EF4-FFF2-40B4-BE49-F238E27FC236}">
                  <a16:creationId xmlns:a16="http://schemas.microsoft.com/office/drawing/2014/main" id="{2274098A-36CB-2C77-D7F0-EAB99ACA5A47}"/>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grp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5" name="文本框 4">
              <a:extLst>
                <a:ext uri="{FF2B5EF4-FFF2-40B4-BE49-F238E27FC236}">
                  <a16:creationId xmlns:a16="http://schemas.microsoft.com/office/drawing/2014/main" id="{1D0723FD-307E-8430-58F8-E44FDBD3385D}"/>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1</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7" name="直接连接符 6">
            <a:extLst>
              <a:ext uri="{FF2B5EF4-FFF2-40B4-BE49-F238E27FC236}">
                <a16:creationId xmlns:a16="http://schemas.microsoft.com/office/drawing/2014/main" id="{EAEB94FD-AC75-2DA6-788E-5136E6870D27}"/>
              </a:ext>
            </a:extLst>
          </p:cNvPr>
          <p:cNvCxnSpPr>
            <a:stCxn id="4" idx="6"/>
          </p:cNvCxnSpPr>
          <p:nvPr/>
        </p:nvCxnSpPr>
        <p:spPr>
          <a:xfrm>
            <a:off x="4058033" y="1711215"/>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7DEE18F-A111-BCF0-28EB-176D158FF703}"/>
              </a:ext>
            </a:extLst>
          </p:cNvPr>
          <p:cNvSpPr txBox="1"/>
          <p:nvPr/>
        </p:nvSpPr>
        <p:spPr>
          <a:xfrm>
            <a:off x="4439073" y="1274735"/>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Background</a:t>
            </a:r>
            <a:endParaRPr lang="zh-CN" altLang="en-US" sz="2400" b="1" dirty="0">
              <a:latin typeface="+mn-ea"/>
              <a:cs typeface="Times New Roman" panose="02020603050405020304" pitchFamily="18" charset="0"/>
            </a:endParaRPr>
          </a:p>
        </p:txBody>
      </p:sp>
      <p:grpSp>
        <p:nvGrpSpPr>
          <p:cNvPr id="12" name="组合 11">
            <a:extLst>
              <a:ext uri="{FF2B5EF4-FFF2-40B4-BE49-F238E27FC236}">
                <a16:creationId xmlns:a16="http://schemas.microsoft.com/office/drawing/2014/main" id="{FF59E0C6-8739-F4B9-64F7-CD7A3CD6602F}"/>
              </a:ext>
            </a:extLst>
          </p:cNvPr>
          <p:cNvGrpSpPr/>
          <p:nvPr/>
        </p:nvGrpSpPr>
        <p:grpSpPr>
          <a:xfrm>
            <a:off x="3365536" y="2223523"/>
            <a:ext cx="843427" cy="443226"/>
            <a:chOff x="666810" y="2586037"/>
            <a:chExt cx="468000" cy="245937"/>
          </a:xfrm>
          <a:solidFill>
            <a:schemeClr val="accent1"/>
          </a:solidFill>
        </p:grpSpPr>
        <p:sp>
          <p:nvSpPr>
            <p:cNvPr id="13" name="Freeform 10">
              <a:extLst>
                <a:ext uri="{FF2B5EF4-FFF2-40B4-BE49-F238E27FC236}">
                  <a16:creationId xmlns:a16="http://schemas.microsoft.com/office/drawing/2014/main" id="{07D9E327-0C88-ADED-A563-63050BC11F42}"/>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4" name="文本框 13">
              <a:extLst>
                <a:ext uri="{FF2B5EF4-FFF2-40B4-BE49-F238E27FC236}">
                  <a16:creationId xmlns:a16="http://schemas.microsoft.com/office/drawing/2014/main" id="{9FF47C6C-E89B-9141-855B-76284F7E35C1}"/>
                </a:ext>
              </a:extLst>
            </p:cNvPr>
            <p:cNvSpPr txBox="1"/>
            <p:nvPr userDrawn="1"/>
          </p:nvSpPr>
          <p:spPr>
            <a:xfrm>
              <a:off x="794494" y="2586037"/>
              <a:ext cx="212633" cy="245937"/>
            </a:xfrm>
            <a:prstGeom prst="rect">
              <a:avLst/>
            </a:prstGeom>
            <a:noFill/>
            <a:ln>
              <a:noFill/>
            </a:ln>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2</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15" name="直接连接符 14">
            <a:extLst>
              <a:ext uri="{FF2B5EF4-FFF2-40B4-BE49-F238E27FC236}">
                <a16:creationId xmlns:a16="http://schemas.microsoft.com/office/drawing/2014/main" id="{27F6846F-1A63-79BF-281F-F4C7F53E789E}"/>
              </a:ext>
            </a:extLst>
          </p:cNvPr>
          <p:cNvCxnSpPr>
            <a:stCxn id="13" idx="6"/>
          </p:cNvCxnSpPr>
          <p:nvPr/>
        </p:nvCxnSpPr>
        <p:spPr>
          <a:xfrm>
            <a:off x="4058033" y="2631188"/>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92F1E72B-D371-FECC-36F3-77046985DACC}"/>
              </a:ext>
            </a:extLst>
          </p:cNvPr>
          <p:cNvSpPr txBox="1"/>
          <p:nvPr/>
        </p:nvSpPr>
        <p:spPr>
          <a:xfrm>
            <a:off x="4439073" y="2194708"/>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Nexus</a:t>
            </a:r>
            <a:r>
              <a:rPr lang="zh-CN" altLang="en-US" sz="2400" b="1" dirty="0">
                <a:latin typeface="+mn-ea"/>
                <a:cs typeface="Times New Roman" panose="02020603050405020304" pitchFamily="18" charset="0"/>
              </a:rPr>
              <a:t> </a:t>
            </a:r>
            <a:r>
              <a:rPr lang="en-US" altLang="zh-CN" sz="2400" b="1" dirty="0">
                <a:latin typeface="+mn-ea"/>
                <a:cs typeface="Times New Roman" panose="02020603050405020304" pitchFamily="18" charset="0"/>
              </a:rPr>
              <a:t>Design</a:t>
            </a:r>
            <a:endParaRPr lang="zh-CN" altLang="en-US" sz="2400" b="1" dirty="0">
              <a:latin typeface="+mn-ea"/>
              <a:cs typeface="Times New Roman" panose="02020603050405020304" pitchFamily="18" charset="0"/>
            </a:endParaRPr>
          </a:p>
        </p:txBody>
      </p:sp>
      <p:grpSp>
        <p:nvGrpSpPr>
          <p:cNvPr id="17" name="组合 16">
            <a:extLst>
              <a:ext uri="{FF2B5EF4-FFF2-40B4-BE49-F238E27FC236}">
                <a16:creationId xmlns:a16="http://schemas.microsoft.com/office/drawing/2014/main" id="{CD1BA642-9915-535F-8967-1CD30BDA14CE}"/>
              </a:ext>
            </a:extLst>
          </p:cNvPr>
          <p:cNvGrpSpPr/>
          <p:nvPr/>
        </p:nvGrpSpPr>
        <p:grpSpPr>
          <a:xfrm>
            <a:off x="3365536" y="3143496"/>
            <a:ext cx="843427" cy="443226"/>
            <a:chOff x="666810" y="2586037"/>
            <a:chExt cx="468000" cy="245937"/>
          </a:xfrm>
          <a:solidFill>
            <a:schemeClr val="bg2"/>
          </a:solidFill>
        </p:grpSpPr>
        <p:sp>
          <p:nvSpPr>
            <p:cNvPr id="18" name="Freeform 10">
              <a:extLst>
                <a:ext uri="{FF2B5EF4-FFF2-40B4-BE49-F238E27FC236}">
                  <a16:creationId xmlns:a16="http://schemas.microsoft.com/office/drawing/2014/main" id="{76A0BF36-2BDA-21F8-5E03-57BEC1628657}"/>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9" name="文本框 18">
              <a:extLst>
                <a:ext uri="{FF2B5EF4-FFF2-40B4-BE49-F238E27FC236}">
                  <a16:creationId xmlns:a16="http://schemas.microsoft.com/office/drawing/2014/main" id="{2863D8C5-AF0F-A6B4-172F-D4514B466416}"/>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3</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20" name="直接连接符 19">
            <a:extLst>
              <a:ext uri="{FF2B5EF4-FFF2-40B4-BE49-F238E27FC236}">
                <a16:creationId xmlns:a16="http://schemas.microsoft.com/office/drawing/2014/main" id="{8886C0DD-D08F-EB5A-A16C-787CC5CAE993}"/>
              </a:ext>
            </a:extLst>
          </p:cNvPr>
          <p:cNvCxnSpPr>
            <a:stCxn id="18" idx="6"/>
          </p:cNvCxnSpPr>
          <p:nvPr/>
        </p:nvCxnSpPr>
        <p:spPr>
          <a:xfrm>
            <a:off x="4058033" y="3551161"/>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C16633AC-C662-9C77-0CD5-90B9185C7104}"/>
              </a:ext>
            </a:extLst>
          </p:cNvPr>
          <p:cNvSpPr txBox="1"/>
          <p:nvPr/>
        </p:nvSpPr>
        <p:spPr>
          <a:xfrm>
            <a:off x="4439073" y="3114681"/>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Experiment Result</a:t>
            </a:r>
            <a:endParaRPr lang="zh-CN" altLang="en-US" sz="2400" b="1" dirty="0">
              <a:latin typeface="+mn-ea"/>
              <a:cs typeface="Times New Roman" panose="02020603050405020304" pitchFamily="18" charset="0"/>
            </a:endParaRPr>
          </a:p>
        </p:txBody>
      </p:sp>
      <p:grpSp>
        <p:nvGrpSpPr>
          <p:cNvPr id="22" name="组合 21">
            <a:extLst>
              <a:ext uri="{FF2B5EF4-FFF2-40B4-BE49-F238E27FC236}">
                <a16:creationId xmlns:a16="http://schemas.microsoft.com/office/drawing/2014/main" id="{CCFA0C43-2D37-0ADF-D8EE-AC9DAC799A8B}"/>
              </a:ext>
            </a:extLst>
          </p:cNvPr>
          <p:cNvGrpSpPr/>
          <p:nvPr/>
        </p:nvGrpSpPr>
        <p:grpSpPr>
          <a:xfrm>
            <a:off x="3365536" y="4063469"/>
            <a:ext cx="843427" cy="443226"/>
            <a:chOff x="666810" y="2586037"/>
            <a:chExt cx="468000" cy="245937"/>
          </a:xfrm>
          <a:solidFill>
            <a:schemeClr val="bg2"/>
          </a:solidFill>
        </p:grpSpPr>
        <p:sp>
          <p:nvSpPr>
            <p:cNvPr id="23" name="Freeform 10">
              <a:extLst>
                <a:ext uri="{FF2B5EF4-FFF2-40B4-BE49-F238E27FC236}">
                  <a16:creationId xmlns:a16="http://schemas.microsoft.com/office/drawing/2014/main" id="{7AC1F2BD-4A6C-1734-BCDC-FFB5E2866B11}"/>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accent1"/>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24" name="文本框 23">
              <a:extLst>
                <a:ext uri="{FF2B5EF4-FFF2-40B4-BE49-F238E27FC236}">
                  <a16:creationId xmlns:a16="http://schemas.microsoft.com/office/drawing/2014/main" id="{63CB29FC-A854-6CD2-A602-0E67AAEB051E}"/>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4</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25" name="直接连接符 24">
            <a:extLst>
              <a:ext uri="{FF2B5EF4-FFF2-40B4-BE49-F238E27FC236}">
                <a16:creationId xmlns:a16="http://schemas.microsoft.com/office/drawing/2014/main" id="{24ED8338-6133-400B-E2F3-B8C513CC8E26}"/>
              </a:ext>
            </a:extLst>
          </p:cNvPr>
          <p:cNvCxnSpPr>
            <a:stCxn id="23" idx="6"/>
          </p:cNvCxnSpPr>
          <p:nvPr/>
        </p:nvCxnSpPr>
        <p:spPr>
          <a:xfrm>
            <a:off x="4058033" y="4471134"/>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40615B13-0718-0B51-EAF1-A85550343741}"/>
              </a:ext>
            </a:extLst>
          </p:cNvPr>
          <p:cNvSpPr txBox="1"/>
          <p:nvPr/>
        </p:nvSpPr>
        <p:spPr>
          <a:xfrm>
            <a:off x="4439073" y="4034654"/>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Discussion</a:t>
            </a:r>
            <a:endParaRPr lang="zh-CN" altLang="en-US" sz="2400" b="1" dirty="0">
              <a:latin typeface="+mn-ea"/>
              <a:cs typeface="Times New Roman" panose="02020603050405020304" pitchFamily="18" charset="0"/>
            </a:endParaRPr>
          </a:p>
        </p:txBody>
      </p:sp>
      <p:grpSp>
        <p:nvGrpSpPr>
          <p:cNvPr id="32" name="组合 31">
            <a:extLst>
              <a:ext uri="{FF2B5EF4-FFF2-40B4-BE49-F238E27FC236}">
                <a16:creationId xmlns:a16="http://schemas.microsoft.com/office/drawing/2014/main" id="{CEF3B61B-CF72-410F-797D-DA5155DD3583}"/>
              </a:ext>
            </a:extLst>
          </p:cNvPr>
          <p:cNvGrpSpPr/>
          <p:nvPr/>
        </p:nvGrpSpPr>
        <p:grpSpPr>
          <a:xfrm>
            <a:off x="3365536" y="4983444"/>
            <a:ext cx="843427" cy="443226"/>
            <a:chOff x="666810" y="2586037"/>
            <a:chExt cx="468000" cy="245937"/>
          </a:xfrm>
          <a:solidFill>
            <a:schemeClr val="bg2"/>
          </a:solidFill>
        </p:grpSpPr>
        <p:sp>
          <p:nvSpPr>
            <p:cNvPr id="33" name="Freeform 10">
              <a:extLst>
                <a:ext uri="{FF2B5EF4-FFF2-40B4-BE49-F238E27FC236}">
                  <a16:creationId xmlns:a16="http://schemas.microsoft.com/office/drawing/2014/main" id="{A667234B-02A5-059A-FFAD-79019CE660E3}"/>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grp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34" name="文本框 33">
              <a:extLst>
                <a:ext uri="{FF2B5EF4-FFF2-40B4-BE49-F238E27FC236}">
                  <a16:creationId xmlns:a16="http://schemas.microsoft.com/office/drawing/2014/main" id="{58CC2D3C-E5AF-7372-913F-72BD6EE4986D}"/>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5</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35" name="直接连接符 34">
            <a:extLst>
              <a:ext uri="{FF2B5EF4-FFF2-40B4-BE49-F238E27FC236}">
                <a16:creationId xmlns:a16="http://schemas.microsoft.com/office/drawing/2014/main" id="{7EB58236-2FE0-7C47-297A-F77AD75C5829}"/>
              </a:ext>
            </a:extLst>
          </p:cNvPr>
          <p:cNvCxnSpPr>
            <a:stCxn id="33" idx="6"/>
          </p:cNvCxnSpPr>
          <p:nvPr/>
        </p:nvCxnSpPr>
        <p:spPr>
          <a:xfrm>
            <a:off x="4058033" y="5391109"/>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F1A90EB7-35A2-10EF-55E3-9AC78F692759}"/>
              </a:ext>
            </a:extLst>
          </p:cNvPr>
          <p:cNvSpPr txBox="1"/>
          <p:nvPr/>
        </p:nvSpPr>
        <p:spPr>
          <a:xfrm>
            <a:off x="4439073" y="4954629"/>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Conclusion</a:t>
            </a:r>
          </a:p>
        </p:txBody>
      </p:sp>
    </p:spTree>
    <p:extLst>
      <p:ext uri="{BB962C8B-B14F-4D97-AF65-F5344CB8AC3E}">
        <p14:creationId xmlns:p14="http://schemas.microsoft.com/office/powerpoint/2010/main" val="2744168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471503C5-0A27-B3A4-5D78-691EBCF0DD2D}"/>
              </a:ext>
            </a:extLst>
          </p:cNvPr>
          <p:cNvPicPr>
            <a:picLocks noGrp="1" noChangeAspect="1"/>
          </p:cNvPicPr>
          <p:nvPr>
            <p:ph sz="quarter" idx="10"/>
          </p:nvPr>
        </p:nvPicPr>
        <p:blipFill>
          <a:blip r:embed="rId3"/>
          <a:stretch>
            <a:fillRect/>
          </a:stretch>
        </p:blipFill>
        <p:spPr>
          <a:xfrm>
            <a:off x="7611421" y="1605319"/>
            <a:ext cx="3917483" cy="3529679"/>
          </a:xfrm>
          <a:prstGeom prst="rect">
            <a:avLst/>
          </a:prstGeom>
        </p:spPr>
      </p:pic>
      <p:sp>
        <p:nvSpPr>
          <p:cNvPr id="3" name="标题 2">
            <a:extLst>
              <a:ext uri="{FF2B5EF4-FFF2-40B4-BE49-F238E27FC236}">
                <a16:creationId xmlns:a16="http://schemas.microsoft.com/office/drawing/2014/main" id="{F03F5B91-150E-8967-2C41-5149B07BF028}"/>
              </a:ext>
            </a:extLst>
          </p:cNvPr>
          <p:cNvSpPr>
            <a:spLocks noGrp="1"/>
          </p:cNvSpPr>
          <p:nvPr>
            <p:ph type="title"/>
          </p:nvPr>
        </p:nvSpPr>
        <p:spPr/>
        <p:txBody>
          <a:bodyPr/>
          <a:lstStyle/>
          <a:p>
            <a:r>
              <a:rPr lang="en-US" altLang="zh-CN" dirty="0"/>
              <a:t>STP-Algorithm</a:t>
            </a:r>
            <a:endParaRPr lang="zh-CN" altLang="en-US" dirty="0"/>
          </a:p>
        </p:txBody>
      </p:sp>
      <p:graphicFrame>
        <p:nvGraphicFramePr>
          <p:cNvPr id="6" name="表格 5">
            <a:extLst>
              <a:ext uri="{FF2B5EF4-FFF2-40B4-BE49-F238E27FC236}">
                <a16:creationId xmlns:a16="http://schemas.microsoft.com/office/drawing/2014/main" id="{0E96E657-BBDD-7487-1732-742A6EEFFF4A}"/>
              </a:ext>
            </a:extLst>
          </p:cNvPr>
          <p:cNvGraphicFramePr>
            <a:graphicFrameLocks noGrp="1"/>
          </p:cNvGraphicFramePr>
          <p:nvPr>
            <p:extLst>
              <p:ext uri="{D42A27DB-BD31-4B8C-83A1-F6EECF244321}">
                <p14:modId xmlns:p14="http://schemas.microsoft.com/office/powerpoint/2010/main" val="2731820337"/>
              </p:ext>
            </p:extLst>
          </p:nvPr>
        </p:nvGraphicFramePr>
        <p:xfrm>
          <a:off x="1316007" y="5191857"/>
          <a:ext cx="9559986" cy="1219200"/>
        </p:xfrm>
        <a:graphic>
          <a:graphicData uri="http://schemas.openxmlformats.org/drawingml/2006/table">
            <a:tbl>
              <a:tblPr firstRow="1" firstCol="1" bandRow="1">
                <a:tableStyleId>{5C22544A-7EE6-4342-B048-85BDC9FD1C3A}</a:tableStyleId>
              </a:tblPr>
              <a:tblGrid>
                <a:gridCol w="2107986">
                  <a:extLst>
                    <a:ext uri="{9D8B030D-6E8A-4147-A177-3AD203B41FA5}">
                      <a16:colId xmlns:a16="http://schemas.microsoft.com/office/drawing/2014/main" val="2361044485"/>
                    </a:ext>
                  </a:extLst>
                </a:gridCol>
                <a:gridCol w="2484000">
                  <a:extLst>
                    <a:ext uri="{9D8B030D-6E8A-4147-A177-3AD203B41FA5}">
                      <a16:colId xmlns:a16="http://schemas.microsoft.com/office/drawing/2014/main" val="1673846880"/>
                    </a:ext>
                  </a:extLst>
                </a:gridCol>
                <a:gridCol w="2484000">
                  <a:extLst>
                    <a:ext uri="{9D8B030D-6E8A-4147-A177-3AD203B41FA5}">
                      <a16:colId xmlns:a16="http://schemas.microsoft.com/office/drawing/2014/main" val="1268058652"/>
                    </a:ext>
                  </a:extLst>
                </a:gridCol>
                <a:gridCol w="2484000">
                  <a:extLst>
                    <a:ext uri="{9D8B030D-6E8A-4147-A177-3AD203B41FA5}">
                      <a16:colId xmlns:a16="http://schemas.microsoft.com/office/drawing/2014/main" val="2851687277"/>
                    </a:ext>
                  </a:extLst>
                </a:gridCol>
              </a:tblGrid>
              <a:tr h="115453">
                <a:tc>
                  <a:txBody>
                    <a:bodyPr/>
                    <a:lstStyle/>
                    <a:p>
                      <a:pPr indent="127000" algn="ctr">
                        <a:buNone/>
                      </a:pPr>
                      <a:r>
                        <a:rPr lang="en-US" altLang="zh-CN" sz="2000" kern="100" dirty="0">
                          <a:effectLst/>
                          <a:latin typeface="+mn-ea"/>
                          <a:ea typeface="+mn-ea"/>
                        </a:rPr>
                        <a:t>Dataset</a:t>
                      </a:r>
                      <a:endParaRPr lang="zh-CN" sz="24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altLang="zh-CN" sz="2000" kern="100" dirty="0">
                          <a:effectLst/>
                          <a:latin typeface="+mn-ea"/>
                          <a:ea typeface="+mn-ea"/>
                        </a:rPr>
                        <a:t>Host Alert</a:t>
                      </a:r>
                      <a:endParaRPr lang="zh-CN" sz="24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altLang="zh-CN" sz="2000" kern="100" dirty="0">
                          <a:effectLst/>
                          <a:latin typeface="+mn-ea"/>
                          <a:ea typeface="+mn-ea"/>
                        </a:rPr>
                        <a:t>Net Alert</a:t>
                      </a:r>
                      <a:endParaRPr lang="zh-CN" sz="24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altLang="zh-CN" sz="2000" kern="100" dirty="0">
                          <a:effectLst/>
                          <a:latin typeface="+mn-ea"/>
                          <a:ea typeface="+mn-ea"/>
                        </a:rPr>
                        <a:t>Alert in Total</a:t>
                      </a:r>
                      <a:endParaRPr lang="zh-CN" sz="2400" kern="100" dirty="0">
                        <a:effectLst/>
                        <a:latin typeface="+mn-ea"/>
                        <a:ea typeface="+mn-ea"/>
                        <a:cs typeface="Times New Roman" panose="02020603050405020304" pitchFamily="18" charset="0"/>
                      </a:endParaRPr>
                    </a:p>
                  </a:txBody>
                  <a:tcPr marL="68580" marR="68580" marT="0" marB="0"/>
                </a:tc>
                <a:extLst>
                  <a:ext uri="{0D108BD9-81ED-4DB2-BD59-A6C34878D82A}">
                    <a16:rowId xmlns:a16="http://schemas.microsoft.com/office/drawing/2014/main" val="779371704"/>
                  </a:ext>
                </a:extLst>
              </a:tr>
              <a:tr h="0">
                <a:tc>
                  <a:txBody>
                    <a:bodyPr/>
                    <a:lstStyle/>
                    <a:p>
                      <a:pPr indent="127000" algn="ctr">
                        <a:buNone/>
                      </a:pPr>
                      <a:r>
                        <a:rPr lang="en-US" sz="2000" kern="100">
                          <a:effectLst/>
                          <a:latin typeface="+mn-ea"/>
                          <a:ea typeface="+mn-ea"/>
                        </a:rPr>
                        <a:t>OPTC day23</a:t>
                      </a:r>
                      <a:endParaRPr lang="zh-CN" sz="2400" kern="10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000" kern="100" dirty="0">
                          <a:effectLst/>
                          <a:latin typeface="+mn-ea"/>
                          <a:ea typeface="+mn-ea"/>
                        </a:rPr>
                        <a:t>305</a:t>
                      </a:r>
                      <a:endParaRPr lang="zh-CN" sz="24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000" kern="100" dirty="0">
                          <a:effectLst/>
                          <a:latin typeface="+mn-ea"/>
                          <a:ea typeface="+mn-ea"/>
                        </a:rPr>
                        <a:t>6</a:t>
                      </a:r>
                      <a:endParaRPr lang="zh-CN" sz="24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000" kern="100">
                          <a:effectLst/>
                          <a:latin typeface="+mn-ea"/>
                          <a:ea typeface="+mn-ea"/>
                        </a:rPr>
                        <a:t>311</a:t>
                      </a:r>
                      <a:endParaRPr lang="zh-CN" sz="2400" kern="100">
                        <a:effectLst/>
                        <a:latin typeface="+mn-ea"/>
                        <a:ea typeface="+mn-ea"/>
                        <a:cs typeface="Times New Roman" panose="02020603050405020304" pitchFamily="18" charset="0"/>
                      </a:endParaRPr>
                    </a:p>
                  </a:txBody>
                  <a:tcPr marL="68580" marR="68580" marT="0" marB="0"/>
                </a:tc>
                <a:extLst>
                  <a:ext uri="{0D108BD9-81ED-4DB2-BD59-A6C34878D82A}">
                    <a16:rowId xmlns:a16="http://schemas.microsoft.com/office/drawing/2014/main" val="2940488137"/>
                  </a:ext>
                </a:extLst>
              </a:tr>
              <a:tr h="0">
                <a:tc>
                  <a:txBody>
                    <a:bodyPr/>
                    <a:lstStyle/>
                    <a:p>
                      <a:pPr indent="127000" algn="ctr">
                        <a:buNone/>
                      </a:pPr>
                      <a:r>
                        <a:rPr lang="en-US" sz="2000" kern="100">
                          <a:effectLst/>
                          <a:latin typeface="+mn-ea"/>
                          <a:ea typeface="+mn-ea"/>
                        </a:rPr>
                        <a:t>OPTC day24</a:t>
                      </a:r>
                      <a:endParaRPr lang="zh-CN" sz="2400" kern="10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000" kern="100">
                          <a:effectLst/>
                          <a:latin typeface="+mn-ea"/>
                          <a:ea typeface="+mn-ea"/>
                        </a:rPr>
                        <a:t>838</a:t>
                      </a:r>
                      <a:endParaRPr lang="zh-CN" sz="2400" kern="10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000" kern="100" dirty="0">
                          <a:effectLst/>
                          <a:latin typeface="+mn-ea"/>
                          <a:ea typeface="+mn-ea"/>
                        </a:rPr>
                        <a:t>8</a:t>
                      </a:r>
                      <a:endParaRPr lang="zh-CN" sz="24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000" kern="100" dirty="0">
                          <a:effectLst/>
                          <a:latin typeface="+mn-ea"/>
                          <a:ea typeface="+mn-ea"/>
                        </a:rPr>
                        <a:t>846</a:t>
                      </a:r>
                      <a:endParaRPr lang="zh-CN" sz="2400" kern="100" dirty="0">
                        <a:effectLst/>
                        <a:latin typeface="+mn-ea"/>
                        <a:ea typeface="+mn-ea"/>
                        <a:cs typeface="Times New Roman" panose="02020603050405020304" pitchFamily="18" charset="0"/>
                      </a:endParaRPr>
                    </a:p>
                  </a:txBody>
                  <a:tcPr marL="68580" marR="68580" marT="0" marB="0"/>
                </a:tc>
                <a:extLst>
                  <a:ext uri="{0D108BD9-81ED-4DB2-BD59-A6C34878D82A}">
                    <a16:rowId xmlns:a16="http://schemas.microsoft.com/office/drawing/2014/main" val="3740891732"/>
                  </a:ext>
                </a:extLst>
              </a:tr>
              <a:tr h="0">
                <a:tc>
                  <a:txBody>
                    <a:bodyPr/>
                    <a:lstStyle/>
                    <a:p>
                      <a:pPr indent="127000" algn="ctr">
                        <a:buNone/>
                      </a:pPr>
                      <a:r>
                        <a:rPr lang="en-US" sz="2000" kern="100" dirty="0">
                          <a:effectLst/>
                          <a:latin typeface="+mn-ea"/>
                          <a:ea typeface="+mn-ea"/>
                        </a:rPr>
                        <a:t>OPTC day25</a:t>
                      </a:r>
                      <a:endParaRPr lang="zh-CN" sz="24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000" kern="100">
                          <a:effectLst/>
                          <a:latin typeface="+mn-ea"/>
                          <a:ea typeface="+mn-ea"/>
                        </a:rPr>
                        <a:t>472</a:t>
                      </a:r>
                      <a:endParaRPr lang="zh-CN" sz="2400" kern="10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000" kern="100" dirty="0">
                          <a:effectLst/>
                          <a:latin typeface="+mn-ea"/>
                          <a:ea typeface="+mn-ea"/>
                        </a:rPr>
                        <a:t>2</a:t>
                      </a:r>
                      <a:endParaRPr lang="zh-CN" sz="2400" kern="100" dirty="0">
                        <a:effectLst/>
                        <a:latin typeface="+mn-ea"/>
                        <a:ea typeface="+mn-ea"/>
                        <a:cs typeface="Times New Roman" panose="02020603050405020304" pitchFamily="18" charset="0"/>
                      </a:endParaRPr>
                    </a:p>
                  </a:txBody>
                  <a:tcPr marL="68580" marR="68580" marT="0" marB="0"/>
                </a:tc>
                <a:tc>
                  <a:txBody>
                    <a:bodyPr/>
                    <a:lstStyle/>
                    <a:p>
                      <a:pPr indent="127000" algn="ctr">
                        <a:buNone/>
                      </a:pPr>
                      <a:r>
                        <a:rPr lang="en-US" sz="2000" kern="100" dirty="0">
                          <a:effectLst/>
                          <a:latin typeface="+mn-ea"/>
                          <a:ea typeface="+mn-ea"/>
                        </a:rPr>
                        <a:t>474</a:t>
                      </a:r>
                      <a:endParaRPr lang="zh-CN" sz="2400" kern="100" dirty="0">
                        <a:effectLst/>
                        <a:latin typeface="+mn-ea"/>
                        <a:ea typeface="+mn-ea"/>
                        <a:cs typeface="Times New Roman" panose="02020603050405020304" pitchFamily="18" charset="0"/>
                      </a:endParaRPr>
                    </a:p>
                  </a:txBody>
                  <a:tcPr marL="68580" marR="68580" marT="0" marB="0"/>
                </a:tc>
                <a:extLst>
                  <a:ext uri="{0D108BD9-81ED-4DB2-BD59-A6C34878D82A}">
                    <a16:rowId xmlns:a16="http://schemas.microsoft.com/office/drawing/2014/main" val="3398564435"/>
                  </a:ext>
                </a:extLst>
              </a:tr>
            </a:tbl>
          </a:graphicData>
        </a:graphic>
      </p:graphicFrame>
      <p:sp>
        <p:nvSpPr>
          <p:cNvPr id="7" name="文本框 6">
            <a:extLst>
              <a:ext uri="{FF2B5EF4-FFF2-40B4-BE49-F238E27FC236}">
                <a16:creationId xmlns:a16="http://schemas.microsoft.com/office/drawing/2014/main" id="{ABB981CF-AA65-660D-8359-9BF125917BBE}"/>
              </a:ext>
            </a:extLst>
          </p:cNvPr>
          <p:cNvSpPr txBox="1"/>
          <p:nvPr/>
        </p:nvSpPr>
        <p:spPr>
          <a:xfrm>
            <a:off x="213372" y="3028890"/>
            <a:ext cx="1400465" cy="707886"/>
          </a:xfrm>
          <a:prstGeom prst="rect">
            <a:avLst/>
          </a:prstGeom>
          <a:noFill/>
        </p:spPr>
        <p:txBody>
          <a:bodyPr wrap="square" rtlCol="0">
            <a:spAutoFit/>
          </a:bodyPr>
          <a:lstStyle/>
          <a:p>
            <a:pPr algn="ctr"/>
            <a:r>
              <a:rPr lang="en-US" altLang="zh-CN" sz="2000" b="1" dirty="0">
                <a:solidFill>
                  <a:schemeClr val="accent1"/>
                </a:solidFill>
                <a:latin typeface="+mn-ea"/>
                <a:cs typeface="Times New Roman" panose="02020603050405020304" pitchFamily="18" charset="0"/>
              </a:rPr>
              <a:t>STP is </a:t>
            </a:r>
          </a:p>
          <a:p>
            <a:pPr algn="ctr"/>
            <a:r>
              <a:rPr lang="en-US" altLang="zh-CN" sz="2000" b="1" dirty="0">
                <a:solidFill>
                  <a:schemeClr val="accent1"/>
                </a:solidFill>
                <a:latin typeface="+mn-ea"/>
                <a:cs typeface="Times New Roman" panose="02020603050405020304" pitchFamily="18" charset="0"/>
              </a:rPr>
              <a:t>NP-hard</a:t>
            </a:r>
            <a:endParaRPr lang="zh-CN" altLang="en-US" sz="2000" b="1" dirty="0">
              <a:solidFill>
                <a:schemeClr val="accent1"/>
              </a:solidFill>
              <a:latin typeface="+mn-ea"/>
              <a:cs typeface="Times New Roman" panose="02020603050405020304" pitchFamily="18" charset="0"/>
            </a:endParaRPr>
          </a:p>
        </p:txBody>
      </p:sp>
      <p:cxnSp>
        <p:nvCxnSpPr>
          <p:cNvPr id="8" name="直接箭头连接符 7">
            <a:extLst>
              <a:ext uri="{FF2B5EF4-FFF2-40B4-BE49-F238E27FC236}">
                <a16:creationId xmlns:a16="http://schemas.microsoft.com/office/drawing/2014/main" id="{DC14C6E0-2439-98EF-A2D5-6561E99AE241}"/>
              </a:ext>
            </a:extLst>
          </p:cNvPr>
          <p:cNvCxnSpPr>
            <a:cxnSpLocks/>
          </p:cNvCxnSpPr>
          <p:nvPr/>
        </p:nvCxnSpPr>
        <p:spPr>
          <a:xfrm flipV="1">
            <a:off x="1472665" y="2627697"/>
            <a:ext cx="356135" cy="6930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7E9F21D7-3BB0-43F3-D4EF-F3F920DD1E35}"/>
              </a:ext>
            </a:extLst>
          </p:cNvPr>
          <p:cNvSpPr txBox="1"/>
          <p:nvPr/>
        </p:nvSpPr>
        <p:spPr>
          <a:xfrm>
            <a:off x="1472665" y="2921169"/>
            <a:ext cx="1400465" cy="338554"/>
          </a:xfrm>
          <a:prstGeom prst="rect">
            <a:avLst/>
          </a:prstGeom>
          <a:noFill/>
        </p:spPr>
        <p:txBody>
          <a:bodyPr wrap="square" rtlCol="0">
            <a:spAutoFit/>
          </a:bodyPr>
          <a:lstStyle/>
          <a:p>
            <a:pPr algn="ctr"/>
            <a:r>
              <a:rPr lang="en-US" altLang="zh-CN" sz="1600" b="1" dirty="0">
                <a:solidFill>
                  <a:schemeClr val="accent1"/>
                </a:solidFill>
                <a:latin typeface="+mn-ea"/>
                <a:cs typeface="Times New Roman" panose="02020603050405020304" pitchFamily="18" charset="0"/>
              </a:rPr>
              <a:t>Accurate</a:t>
            </a:r>
            <a:endParaRPr lang="zh-CN" altLang="en-US" sz="1600" b="1" dirty="0">
              <a:solidFill>
                <a:schemeClr val="accent1"/>
              </a:solidFill>
              <a:latin typeface="+mn-ea"/>
              <a:cs typeface="Times New Roman" panose="02020603050405020304" pitchFamily="18" charset="0"/>
            </a:endParaRPr>
          </a:p>
        </p:txBody>
      </p:sp>
      <p:sp>
        <p:nvSpPr>
          <p:cNvPr id="14" name="文本框 13">
            <a:extLst>
              <a:ext uri="{FF2B5EF4-FFF2-40B4-BE49-F238E27FC236}">
                <a16:creationId xmlns:a16="http://schemas.microsoft.com/office/drawing/2014/main" id="{680A39A9-7AD3-B83C-473E-8CFDCC4A595A}"/>
              </a:ext>
            </a:extLst>
          </p:cNvPr>
          <p:cNvSpPr txBox="1"/>
          <p:nvPr/>
        </p:nvSpPr>
        <p:spPr>
          <a:xfrm>
            <a:off x="1887645" y="2187550"/>
            <a:ext cx="2963487" cy="400110"/>
          </a:xfrm>
          <a:prstGeom prst="rect">
            <a:avLst/>
          </a:prstGeom>
          <a:noFill/>
        </p:spPr>
        <p:txBody>
          <a:bodyPr wrap="square" rtlCol="0">
            <a:spAutoFit/>
          </a:bodyPr>
          <a:lstStyle/>
          <a:p>
            <a:pPr algn="ctr"/>
            <a:r>
              <a:rPr lang="en-US" altLang="zh-CN" sz="2000" b="1" dirty="0">
                <a:solidFill>
                  <a:schemeClr val="accent1"/>
                </a:solidFill>
                <a:latin typeface="+mn-ea"/>
                <a:cs typeface="Times New Roman" panose="02020603050405020304" pitchFamily="18" charset="0"/>
              </a:rPr>
              <a:t>Exponential time cost!</a:t>
            </a:r>
            <a:endParaRPr lang="zh-CN" altLang="en-US" sz="2000" b="1" dirty="0">
              <a:solidFill>
                <a:schemeClr val="accent1"/>
              </a:solidFill>
              <a:latin typeface="+mn-ea"/>
              <a:cs typeface="Times New Roman" panose="02020603050405020304" pitchFamily="18" charset="0"/>
            </a:endParaRPr>
          </a:p>
        </p:txBody>
      </p:sp>
      <p:cxnSp>
        <p:nvCxnSpPr>
          <p:cNvPr id="15" name="直接箭头连接符 14">
            <a:extLst>
              <a:ext uri="{FF2B5EF4-FFF2-40B4-BE49-F238E27FC236}">
                <a16:creationId xmlns:a16="http://schemas.microsoft.com/office/drawing/2014/main" id="{B2263045-A38E-722C-5484-2C6B6704448A}"/>
              </a:ext>
            </a:extLst>
          </p:cNvPr>
          <p:cNvCxnSpPr>
            <a:cxnSpLocks/>
          </p:cNvCxnSpPr>
          <p:nvPr/>
        </p:nvCxnSpPr>
        <p:spPr>
          <a:xfrm>
            <a:off x="1472664" y="3444950"/>
            <a:ext cx="356135" cy="6930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A9D28B77-0EDF-3726-FF1B-8769516D6C08}"/>
              </a:ext>
            </a:extLst>
          </p:cNvPr>
          <p:cNvSpPr txBox="1"/>
          <p:nvPr/>
        </p:nvSpPr>
        <p:spPr>
          <a:xfrm>
            <a:off x="1650731" y="3537285"/>
            <a:ext cx="1400465" cy="338554"/>
          </a:xfrm>
          <a:prstGeom prst="rect">
            <a:avLst/>
          </a:prstGeom>
          <a:noFill/>
        </p:spPr>
        <p:txBody>
          <a:bodyPr wrap="square" rtlCol="0">
            <a:spAutoFit/>
          </a:bodyPr>
          <a:lstStyle/>
          <a:p>
            <a:pPr algn="ctr"/>
            <a:r>
              <a:rPr lang="en-US" altLang="zh-CN" sz="1600" b="1" dirty="0">
                <a:solidFill>
                  <a:schemeClr val="accent1"/>
                </a:solidFill>
                <a:latin typeface="+mn-ea"/>
                <a:cs typeface="Times New Roman" panose="02020603050405020304" pitchFamily="18" charset="0"/>
              </a:rPr>
              <a:t>Approximate</a:t>
            </a:r>
            <a:endParaRPr lang="zh-CN" altLang="en-US" sz="1600" b="1" dirty="0">
              <a:solidFill>
                <a:schemeClr val="accent1"/>
              </a:solidFill>
              <a:latin typeface="+mn-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8C3C1126-24B1-73CA-54BB-A1EEC2B13BAD}"/>
                  </a:ext>
                </a:extLst>
              </p:cNvPr>
              <p:cNvSpPr txBox="1"/>
              <p:nvPr/>
            </p:nvSpPr>
            <p:spPr>
              <a:xfrm>
                <a:off x="1867341" y="4134670"/>
                <a:ext cx="4495509" cy="439736"/>
              </a:xfrm>
              <a:prstGeom prst="rect">
                <a:avLst/>
              </a:prstGeom>
              <a:noFill/>
            </p:spPr>
            <p:txBody>
              <a:bodyPr wrap="square" rtlCol="0">
                <a:spAutoFit/>
              </a:bodyPr>
              <a:lstStyle/>
              <a:p>
                <a:pPr algn="ctr"/>
                <a14:m>
                  <m:oMath xmlns:m="http://schemas.openxmlformats.org/officeDocument/2006/math">
                    <m:r>
                      <a:rPr lang="en-US" altLang="zh-CN" sz="2000" b="1" i="1" smtClean="0">
                        <a:solidFill>
                          <a:schemeClr val="accent1"/>
                        </a:solidFill>
                        <a:latin typeface="Cambria Math" panose="02040503050406030204" pitchFamily="18" charset="0"/>
                        <a:cs typeface="Times New Roman" panose="02020603050405020304" pitchFamily="18" charset="0"/>
                      </a:rPr>
                      <m:t>𝑶</m:t>
                    </m:r>
                    <m:d>
                      <m:dPr>
                        <m:ctrlPr>
                          <a:rPr lang="en-US" altLang="zh-CN" sz="2000" b="1" i="1" smtClean="0">
                            <a:solidFill>
                              <a:schemeClr val="accent1"/>
                            </a:solidFill>
                            <a:latin typeface="Cambria Math" panose="02040503050406030204" pitchFamily="18" charset="0"/>
                            <a:cs typeface="Times New Roman" panose="02020603050405020304" pitchFamily="18" charset="0"/>
                          </a:rPr>
                        </m:ctrlPr>
                      </m:dPr>
                      <m:e>
                        <m:d>
                          <m:dPr>
                            <m:begChr m:val="|"/>
                            <m:endChr m:val="|"/>
                            <m:ctrlPr>
                              <a:rPr lang="en-US" altLang="zh-CN" sz="2000" b="1" i="1" smtClean="0">
                                <a:solidFill>
                                  <a:schemeClr val="accent1"/>
                                </a:solidFill>
                                <a:latin typeface="Cambria Math" panose="02040503050406030204" pitchFamily="18" charset="0"/>
                                <a:cs typeface="Times New Roman" panose="02020603050405020304" pitchFamily="18" charset="0"/>
                              </a:rPr>
                            </m:ctrlPr>
                          </m:dPr>
                          <m:e>
                            <m:r>
                              <a:rPr lang="en-US" altLang="zh-CN" sz="2000" b="1" i="1" smtClean="0">
                                <a:solidFill>
                                  <a:schemeClr val="accent1"/>
                                </a:solidFill>
                                <a:latin typeface="Cambria Math" panose="02040503050406030204" pitchFamily="18" charset="0"/>
                                <a:cs typeface="Times New Roman" panose="02020603050405020304" pitchFamily="18" charset="0"/>
                              </a:rPr>
                              <m:t>𝑺</m:t>
                            </m:r>
                          </m:e>
                        </m:d>
                        <m:sSup>
                          <m:sSupPr>
                            <m:ctrlPr>
                              <a:rPr lang="en-US" altLang="zh-CN" sz="2000" b="1" i="1" smtClean="0">
                                <a:solidFill>
                                  <a:schemeClr val="accent1"/>
                                </a:solidFill>
                                <a:latin typeface="Cambria Math" panose="02040503050406030204" pitchFamily="18" charset="0"/>
                                <a:cs typeface="Times New Roman" panose="02020603050405020304" pitchFamily="18" charset="0"/>
                              </a:rPr>
                            </m:ctrlPr>
                          </m:sSupPr>
                          <m:e>
                            <m:d>
                              <m:dPr>
                                <m:begChr m:val="|"/>
                                <m:endChr m:val="|"/>
                                <m:ctrlPr>
                                  <a:rPr lang="en-US" altLang="zh-CN" sz="2000" b="1" i="1" smtClean="0">
                                    <a:solidFill>
                                      <a:schemeClr val="accent1"/>
                                    </a:solidFill>
                                    <a:latin typeface="Cambria Math" panose="02040503050406030204" pitchFamily="18" charset="0"/>
                                    <a:cs typeface="Times New Roman" panose="02020603050405020304" pitchFamily="18" charset="0"/>
                                  </a:rPr>
                                </m:ctrlPr>
                              </m:dPr>
                              <m:e>
                                <m:r>
                                  <a:rPr lang="en-US" altLang="zh-CN" sz="2000" b="1" i="1" smtClean="0">
                                    <a:solidFill>
                                      <a:schemeClr val="accent1"/>
                                    </a:solidFill>
                                    <a:latin typeface="Cambria Math" panose="02040503050406030204" pitchFamily="18" charset="0"/>
                                    <a:cs typeface="Times New Roman" panose="02020603050405020304" pitchFamily="18" charset="0"/>
                                  </a:rPr>
                                  <m:t>𝑽</m:t>
                                </m:r>
                              </m:e>
                            </m:d>
                          </m:e>
                          <m:sup>
                            <m:r>
                              <a:rPr lang="en-US" altLang="zh-CN" sz="2000" b="1" i="1" smtClean="0">
                                <a:solidFill>
                                  <a:schemeClr val="accent1"/>
                                </a:solidFill>
                                <a:latin typeface="Cambria Math" panose="02040503050406030204" pitchFamily="18" charset="0"/>
                                <a:cs typeface="Times New Roman" panose="02020603050405020304" pitchFamily="18" charset="0"/>
                              </a:rPr>
                              <m:t>𝟐</m:t>
                            </m:r>
                          </m:sup>
                        </m:sSup>
                      </m:e>
                    </m:d>
                  </m:oMath>
                </a14:m>
                <a:r>
                  <a:rPr lang="en-US" altLang="zh-CN" sz="2000" b="1" dirty="0">
                    <a:solidFill>
                      <a:schemeClr val="accent1"/>
                    </a:solidFill>
                    <a:latin typeface="+mn-ea"/>
                    <a:cs typeface="Times New Roman" panose="02020603050405020304" pitchFamily="18" charset="0"/>
                  </a:rPr>
                  <a:t>(Kou-Markowsky-Berman)</a:t>
                </a:r>
                <a:endParaRPr lang="zh-CN" altLang="en-US" sz="2000" b="1" dirty="0">
                  <a:solidFill>
                    <a:schemeClr val="accent1"/>
                  </a:solidFill>
                  <a:latin typeface="+mn-ea"/>
                  <a:cs typeface="Times New Roman" panose="02020603050405020304" pitchFamily="18" charset="0"/>
                </a:endParaRPr>
              </a:p>
            </p:txBody>
          </p:sp>
        </mc:Choice>
        <mc:Fallback xmlns="">
          <p:sp>
            <p:nvSpPr>
              <p:cNvPr id="17" name="文本框 16">
                <a:extLst>
                  <a:ext uri="{FF2B5EF4-FFF2-40B4-BE49-F238E27FC236}">
                    <a16:creationId xmlns:a16="http://schemas.microsoft.com/office/drawing/2014/main" id="{8C3C1126-24B1-73CA-54BB-A1EEC2B13BAD}"/>
                  </a:ext>
                </a:extLst>
              </p:cNvPr>
              <p:cNvSpPr txBox="1">
                <a:spLocks noRot="1" noChangeAspect="1" noMove="1" noResize="1" noEditPoints="1" noAdjustHandles="1" noChangeArrowheads="1" noChangeShapeType="1" noTextEdit="1"/>
              </p:cNvSpPr>
              <p:nvPr/>
            </p:nvSpPr>
            <p:spPr>
              <a:xfrm>
                <a:off x="1867341" y="4134670"/>
                <a:ext cx="4495509" cy="439736"/>
              </a:xfrm>
              <a:prstGeom prst="rect">
                <a:avLst/>
              </a:prstGeom>
              <a:blipFill>
                <a:blip r:embed="rId4"/>
                <a:stretch>
                  <a:fillRect t="-1389" r="-813" b="-20833"/>
                </a:stretch>
              </a:blipFill>
            </p:spPr>
            <p:txBody>
              <a:bodyPr/>
              <a:lstStyle/>
              <a:p>
                <a:r>
                  <a:rPr lang="zh-CN" altLang="en-US">
                    <a:noFill/>
                  </a:rPr>
                  <a:t> </a:t>
                </a:r>
              </a:p>
            </p:txBody>
          </p:sp>
        </mc:Fallback>
      </mc:AlternateContent>
      <p:cxnSp>
        <p:nvCxnSpPr>
          <p:cNvPr id="18" name="直接箭头连接符 17">
            <a:extLst>
              <a:ext uri="{FF2B5EF4-FFF2-40B4-BE49-F238E27FC236}">
                <a16:creationId xmlns:a16="http://schemas.microsoft.com/office/drawing/2014/main" id="{4DE4962D-9C31-6F71-719D-E76F879A8639}"/>
              </a:ext>
            </a:extLst>
          </p:cNvPr>
          <p:cNvCxnSpPr>
            <a:cxnSpLocks/>
            <a:stCxn id="17" idx="3"/>
            <a:endCxn id="5" idx="1"/>
          </p:cNvCxnSpPr>
          <p:nvPr/>
        </p:nvCxnSpPr>
        <p:spPr>
          <a:xfrm flipV="1">
            <a:off x="6362850" y="3370159"/>
            <a:ext cx="1248571" cy="984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5D66934D-77C6-F672-74C9-73ACA78417E1}"/>
                  </a:ext>
                </a:extLst>
              </p:cNvPr>
              <p:cNvSpPr txBox="1"/>
              <p:nvPr/>
            </p:nvSpPr>
            <p:spPr>
              <a:xfrm>
                <a:off x="5554983" y="3028890"/>
                <a:ext cx="1538650" cy="88614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600" b="1" i="1" smtClean="0">
                              <a:solidFill>
                                <a:schemeClr val="accent1"/>
                              </a:solidFill>
                              <a:latin typeface="Cambria Math" panose="02040503050406030204" pitchFamily="18" charset="0"/>
                              <a:cs typeface="Times New Roman" panose="02020603050405020304" pitchFamily="18" charset="0"/>
                            </a:rPr>
                          </m:ctrlPr>
                        </m:sSubPr>
                        <m:e>
                          <m:r>
                            <a:rPr lang="en-US" altLang="zh-CN" sz="1600" b="1" i="1" smtClean="0">
                              <a:solidFill>
                                <a:schemeClr val="accent1"/>
                              </a:solidFill>
                              <a:latin typeface="Cambria Math" panose="02040503050406030204" pitchFamily="18" charset="0"/>
                              <a:cs typeface="Times New Roman" panose="02020603050405020304" pitchFamily="18" charset="0"/>
                            </a:rPr>
                            <m:t>𝑫</m:t>
                          </m:r>
                        </m:e>
                        <m:sub>
                          <m:r>
                            <a:rPr lang="en-US" altLang="zh-CN" sz="1600" b="1" i="1" smtClean="0">
                              <a:solidFill>
                                <a:schemeClr val="accent1"/>
                              </a:solidFill>
                              <a:latin typeface="Cambria Math" panose="02040503050406030204" pitchFamily="18" charset="0"/>
                              <a:cs typeface="Times New Roman" panose="02020603050405020304" pitchFamily="18" charset="0"/>
                            </a:rPr>
                            <m:t>𝑯</m:t>
                          </m:r>
                        </m:sub>
                      </m:sSub>
                      <m:r>
                        <m:rPr>
                          <m:lit/>
                        </m:rPr>
                        <a:rPr lang="en-US" altLang="zh-CN" sz="1600" b="1" i="1" smtClean="0">
                          <a:solidFill>
                            <a:schemeClr val="accent1"/>
                          </a:solidFill>
                          <a:latin typeface="Cambria Math" panose="02040503050406030204" pitchFamily="18" charset="0"/>
                          <a:cs typeface="Times New Roman" panose="02020603050405020304" pitchFamily="18" charset="0"/>
                        </a:rPr>
                        <m:t>/</m:t>
                      </m:r>
                      <m:sSub>
                        <m:sSubPr>
                          <m:ctrlPr>
                            <a:rPr lang="en-US" altLang="zh-CN" sz="1600" b="1" i="1" smtClean="0">
                              <a:solidFill>
                                <a:schemeClr val="accent1"/>
                              </a:solidFill>
                              <a:latin typeface="Cambria Math" panose="02040503050406030204" pitchFamily="18" charset="0"/>
                              <a:cs typeface="Times New Roman" panose="02020603050405020304" pitchFamily="18" charset="0"/>
                            </a:rPr>
                          </m:ctrlPr>
                        </m:sSubPr>
                        <m:e>
                          <m:r>
                            <a:rPr lang="en-US" altLang="zh-CN" sz="1600" b="1" i="1" smtClean="0">
                              <a:solidFill>
                                <a:schemeClr val="accent1"/>
                              </a:solidFill>
                              <a:latin typeface="Cambria Math" panose="02040503050406030204" pitchFamily="18" charset="0"/>
                              <a:cs typeface="Times New Roman" panose="02020603050405020304" pitchFamily="18" charset="0"/>
                            </a:rPr>
                            <m:t>𝑫</m:t>
                          </m:r>
                        </m:e>
                        <m:sub>
                          <m:r>
                            <a:rPr lang="en-US" altLang="zh-CN" sz="1600" b="1" i="1" smtClean="0">
                              <a:solidFill>
                                <a:schemeClr val="accent1"/>
                              </a:solidFill>
                              <a:latin typeface="Cambria Math" panose="02040503050406030204" pitchFamily="18" charset="0"/>
                              <a:cs typeface="Times New Roman" panose="02020603050405020304" pitchFamily="18" charset="0"/>
                            </a:rPr>
                            <m:t>𝑴𝑰𝑵</m:t>
                          </m:r>
                        </m:sub>
                      </m:sSub>
                      <m:r>
                        <a:rPr lang="en-US" altLang="zh-CN" sz="1600" b="1" i="1" smtClean="0">
                          <a:solidFill>
                            <a:schemeClr val="accent1"/>
                          </a:solidFill>
                          <a:latin typeface="Cambria Math" panose="02040503050406030204" pitchFamily="18" charset="0"/>
                          <a:cs typeface="Times New Roman" panose="02020603050405020304" pitchFamily="18" charset="0"/>
                        </a:rPr>
                        <m:t>≤</m:t>
                      </m:r>
                      <m:r>
                        <a:rPr lang="en-US" altLang="zh-CN" sz="1600" b="1" i="1" smtClean="0">
                          <a:solidFill>
                            <a:schemeClr val="accent1"/>
                          </a:solidFill>
                          <a:latin typeface="Cambria Math" panose="02040503050406030204" pitchFamily="18" charset="0"/>
                          <a:cs typeface="Times New Roman" panose="02020603050405020304" pitchFamily="18" charset="0"/>
                        </a:rPr>
                        <m:t>𝟐</m:t>
                      </m:r>
                      <m:d>
                        <m:dPr>
                          <m:ctrlPr>
                            <a:rPr lang="en-US" altLang="zh-CN" sz="1600" b="1" i="1" smtClean="0">
                              <a:solidFill>
                                <a:schemeClr val="accent1"/>
                              </a:solidFill>
                              <a:latin typeface="Cambria Math" panose="02040503050406030204" pitchFamily="18" charset="0"/>
                              <a:cs typeface="Times New Roman" panose="02020603050405020304" pitchFamily="18" charset="0"/>
                            </a:rPr>
                          </m:ctrlPr>
                        </m:dPr>
                        <m:e>
                          <m:r>
                            <a:rPr lang="en-US" altLang="zh-CN" sz="1600" b="1" i="1" smtClean="0">
                              <a:solidFill>
                                <a:schemeClr val="accent1"/>
                              </a:solidFill>
                              <a:latin typeface="Cambria Math" panose="02040503050406030204" pitchFamily="18" charset="0"/>
                              <a:cs typeface="Times New Roman" panose="02020603050405020304" pitchFamily="18" charset="0"/>
                            </a:rPr>
                            <m:t>𝟏</m:t>
                          </m:r>
                          <m:r>
                            <a:rPr lang="en-US" altLang="zh-CN" sz="1600" b="1" i="1" smtClean="0">
                              <a:solidFill>
                                <a:schemeClr val="accent1"/>
                              </a:solidFill>
                              <a:latin typeface="Cambria Math" panose="02040503050406030204" pitchFamily="18" charset="0"/>
                              <a:cs typeface="Times New Roman" panose="02020603050405020304" pitchFamily="18" charset="0"/>
                            </a:rPr>
                            <m:t>−</m:t>
                          </m:r>
                          <m:f>
                            <m:fPr>
                              <m:ctrlPr>
                                <a:rPr lang="en-US" altLang="zh-CN" sz="1600" b="1" i="1" smtClean="0">
                                  <a:solidFill>
                                    <a:schemeClr val="accent1"/>
                                  </a:solidFill>
                                  <a:latin typeface="Cambria Math" panose="02040503050406030204" pitchFamily="18" charset="0"/>
                                  <a:cs typeface="Times New Roman" panose="02020603050405020304" pitchFamily="18" charset="0"/>
                                </a:rPr>
                              </m:ctrlPr>
                            </m:fPr>
                            <m:num>
                              <m:r>
                                <a:rPr lang="en-US" altLang="zh-CN" sz="1600" b="1" i="1" smtClean="0">
                                  <a:solidFill>
                                    <a:schemeClr val="accent1"/>
                                  </a:solidFill>
                                  <a:latin typeface="Cambria Math" panose="02040503050406030204" pitchFamily="18" charset="0"/>
                                  <a:cs typeface="Times New Roman" panose="02020603050405020304" pitchFamily="18" charset="0"/>
                                </a:rPr>
                                <m:t>𝟏</m:t>
                              </m:r>
                            </m:num>
                            <m:den>
                              <m:d>
                                <m:dPr>
                                  <m:begChr m:val="|"/>
                                  <m:endChr m:val="|"/>
                                  <m:ctrlPr>
                                    <a:rPr lang="en-US" altLang="zh-CN" sz="1600" b="1" i="1" smtClean="0">
                                      <a:solidFill>
                                        <a:schemeClr val="accent1"/>
                                      </a:solidFill>
                                      <a:latin typeface="Cambria Math" panose="02040503050406030204" pitchFamily="18" charset="0"/>
                                      <a:cs typeface="Times New Roman" panose="02020603050405020304" pitchFamily="18" charset="0"/>
                                    </a:rPr>
                                  </m:ctrlPr>
                                </m:dPr>
                                <m:e>
                                  <m:r>
                                    <a:rPr lang="en-US" altLang="zh-CN" sz="1600" b="1" i="1" smtClean="0">
                                      <a:solidFill>
                                        <a:schemeClr val="accent1"/>
                                      </a:solidFill>
                                      <a:latin typeface="Cambria Math" panose="02040503050406030204" pitchFamily="18" charset="0"/>
                                      <a:cs typeface="Times New Roman" panose="02020603050405020304" pitchFamily="18" charset="0"/>
                                    </a:rPr>
                                    <m:t>𝑺</m:t>
                                  </m:r>
                                </m:e>
                              </m:d>
                            </m:den>
                          </m:f>
                        </m:e>
                      </m:d>
                    </m:oMath>
                  </m:oMathPara>
                </a14:m>
                <a:endParaRPr lang="zh-CN" altLang="en-US" sz="1600" b="1" dirty="0">
                  <a:solidFill>
                    <a:schemeClr val="accent1"/>
                  </a:solidFill>
                  <a:latin typeface="+mn-ea"/>
                  <a:cs typeface="Times New Roman" panose="02020603050405020304" pitchFamily="18" charset="0"/>
                </a:endParaRPr>
              </a:p>
            </p:txBody>
          </p:sp>
        </mc:Choice>
        <mc:Fallback xmlns="">
          <p:sp>
            <p:nvSpPr>
              <p:cNvPr id="23" name="文本框 22">
                <a:extLst>
                  <a:ext uri="{FF2B5EF4-FFF2-40B4-BE49-F238E27FC236}">
                    <a16:creationId xmlns:a16="http://schemas.microsoft.com/office/drawing/2014/main" id="{5D66934D-77C6-F672-74C9-73ACA78417E1}"/>
                  </a:ext>
                </a:extLst>
              </p:cNvPr>
              <p:cNvSpPr txBox="1">
                <a:spLocks noRot="1" noChangeAspect="1" noMove="1" noResize="1" noEditPoints="1" noAdjustHandles="1" noChangeArrowheads="1" noChangeShapeType="1" noTextEdit="1"/>
              </p:cNvSpPr>
              <p:nvPr/>
            </p:nvSpPr>
            <p:spPr>
              <a:xfrm>
                <a:off x="5554983" y="3028890"/>
                <a:ext cx="1538650" cy="886140"/>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092004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BCD0D-7C0D-EDBF-8A2D-73D58BFC4E8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2B839B3A-1449-FDCC-6402-9182E5BFDD16}"/>
              </a:ext>
            </a:extLst>
          </p:cNvPr>
          <p:cNvSpPr>
            <a:spLocks noGrp="1"/>
          </p:cNvSpPr>
          <p:nvPr>
            <p:ph type="title"/>
          </p:nvPr>
        </p:nvSpPr>
        <p:spPr/>
        <p:txBody>
          <a:bodyPr/>
          <a:lstStyle/>
          <a:p>
            <a:r>
              <a:rPr lang="en-US" altLang="zh-CN" dirty="0"/>
              <a:t>Time-cost</a:t>
            </a:r>
            <a:endParaRPr lang="zh-CN" altLang="en-US" dirty="0"/>
          </a:p>
        </p:txBody>
      </p:sp>
      <p:pic>
        <p:nvPicPr>
          <p:cNvPr id="9" name="内容占位符 8">
            <a:extLst>
              <a:ext uri="{FF2B5EF4-FFF2-40B4-BE49-F238E27FC236}">
                <a16:creationId xmlns:a16="http://schemas.microsoft.com/office/drawing/2014/main" id="{94F54D33-76A9-BCE2-5854-833E515B331E}"/>
              </a:ext>
            </a:extLst>
          </p:cNvPr>
          <p:cNvPicPr>
            <a:picLocks noGrp="1" noChangeAspect="1"/>
          </p:cNvPicPr>
          <p:nvPr>
            <p:ph sz="quarter" idx="10"/>
          </p:nvPr>
        </p:nvPicPr>
        <p:blipFill>
          <a:blip r:embed="rId3"/>
          <a:stretch>
            <a:fillRect/>
          </a:stretch>
        </p:blipFill>
        <p:spPr>
          <a:xfrm>
            <a:off x="5914093" y="1701881"/>
            <a:ext cx="4574928" cy="2600612"/>
          </a:xfrm>
          <a:prstGeom prst="rect">
            <a:avLst/>
          </a:prstGeom>
        </p:spPr>
      </p:pic>
      <p:pic>
        <p:nvPicPr>
          <p:cNvPr id="11" name="图片 10">
            <a:extLst>
              <a:ext uri="{FF2B5EF4-FFF2-40B4-BE49-F238E27FC236}">
                <a16:creationId xmlns:a16="http://schemas.microsoft.com/office/drawing/2014/main" id="{8A765454-0B28-1CA8-870C-314709751D88}"/>
              </a:ext>
            </a:extLst>
          </p:cNvPr>
          <p:cNvPicPr>
            <a:picLocks noChangeAspect="1"/>
          </p:cNvPicPr>
          <p:nvPr/>
        </p:nvPicPr>
        <p:blipFill>
          <a:blip r:embed="rId4"/>
          <a:stretch>
            <a:fillRect/>
          </a:stretch>
        </p:blipFill>
        <p:spPr>
          <a:xfrm>
            <a:off x="889706" y="1894386"/>
            <a:ext cx="4240559" cy="4364638"/>
          </a:xfrm>
          <a:prstGeom prst="rect">
            <a:avLst/>
          </a:prstGeom>
        </p:spPr>
      </p:pic>
      <p:sp>
        <p:nvSpPr>
          <p:cNvPr id="12" name="矩形 11">
            <a:extLst>
              <a:ext uri="{FF2B5EF4-FFF2-40B4-BE49-F238E27FC236}">
                <a16:creationId xmlns:a16="http://schemas.microsoft.com/office/drawing/2014/main" id="{DF57990D-5297-BFFC-CCA8-FE1FB073E672}"/>
              </a:ext>
            </a:extLst>
          </p:cNvPr>
          <p:cNvSpPr/>
          <p:nvPr/>
        </p:nvSpPr>
        <p:spPr>
          <a:xfrm>
            <a:off x="1702979" y="2772076"/>
            <a:ext cx="963219" cy="144379"/>
          </a:xfrm>
          <a:prstGeom prst="rect">
            <a:avLst/>
          </a:prstGeom>
          <a:noFill/>
          <a:ln>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E5473FF5-4E65-DB7C-F091-665AEF0FD9A6}"/>
              </a:ext>
            </a:extLst>
          </p:cNvPr>
          <p:cNvSpPr/>
          <p:nvPr/>
        </p:nvSpPr>
        <p:spPr>
          <a:xfrm>
            <a:off x="6437005" y="2375836"/>
            <a:ext cx="963219" cy="144379"/>
          </a:xfrm>
          <a:prstGeom prst="rect">
            <a:avLst/>
          </a:prstGeom>
          <a:noFill/>
          <a:ln>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箭头连接符 13">
            <a:extLst>
              <a:ext uri="{FF2B5EF4-FFF2-40B4-BE49-F238E27FC236}">
                <a16:creationId xmlns:a16="http://schemas.microsoft.com/office/drawing/2014/main" id="{4B11B9DF-5E45-6209-F699-41EF59C07765}"/>
              </a:ext>
            </a:extLst>
          </p:cNvPr>
          <p:cNvCxnSpPr>
            <a:cxnSpLocks/>
          </p:cNvCxnSpPr>
          <p:nvPr/>
        </p:nvCxnSpPr>
        <p:spPr>
          <a:xfrm>
            <a:off x="2329314" y="3041583"/>
            <a:ext cx="4107691" cy="1964762"/>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AF1A9116-C415-4A54-0C64-9545CBA30954}"/>
              </a:ext>
            </a:extLst>
          </p:cNvPr>
          <p:cNvCxnSpPr>
            <a:cxnSpLocks/>
          </p:cNvCxnSpPr>
          <p:nvPr/>
        </p:nvCxnSpPr>
        <p:spPr>
          <a:xfrm>
            <a:off x="6930189" y="2695074"/>
            <a:ext cx="159650" cy="2081319"/>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3C2299DD-17DB-2B5B-0A85-F0D01EB0ED89}"/>
              </a:ext>
            </a:extLst>
          </p:cNvPr>
          <p:cNvSpPr txBox="1"/>
          <p:nvPr/>
        </p:nvSpPr>
        <p:spPr>
          <a:xfrm>
            <a:off x="6338866" y="4776393"/>
            <a:ext cx="2963487" cy="400110"/>
          </a:xfrm>
          <a:prstGeom prst="rect">
            <a:avLst/>
          </a:prstGeom>
          <a:noFill/>
        </p:spPr>
        <p:txBody>
          <a:bodyPr wrap="square" rtlCol="0">
            <a:spAutoFit/>
          </a:bodyPr>
          <a:lstStyle/>
          <a:p>
            <a:pPr algn="ctr"/>
            <a:r>
              <a:rPr lang="en-US" altLang="zh-CN" sz="2000" b="1" dirty="0">
                <a:solidFill>
                  <a:schemeClr val="accent1"/>
                </a:solidFill>
                <a:latin typeface="+mn-ea"/>
                <a:cs typeface="Times New Roman" panose="02020603050405020304" pitchFamily="18" charset="0"/>
              </a:rPr>
              <a:t>Too huge time cost!</a:t>
            </a:r>
            <a:endParaRPr lang="zh-CN" altLang="en-US" sz="2000" b="1" dirty="0">
              <a:solidFill>
                <a:schemeClr val="accent1"/>
              </a:solidFill>
              <a:latin typeface="+mn-ea"/>
              <a:cs typeface="Times New Roman" panose="02020603050405020304" pitchFamily="18" charset="0"/>
            </a:endParaRPr>
          </a:p>
        </p:txBody>
      </p:sp>
      <p:sp>
        <p:nvSpPr>
          <p:cNvPr id="24" name="文本框 23">
            <a:extLst>
              <a:ext uri="{FF2B5EF4-FFF2-40B4-BE49-F238E27FC236}">
                <a16:creationId xmlns:a16="http://schemas.microsoft.com/office/drawing/2014/main" id="{69570D28-4C66-244D-0F0A-682F4B20715B}"/>
              </a:ext>
            </a:extLst>
          </p:cNvPr>
          <p:cNvSpPr txBox="1"/>
          <p:nvPr/>
        </p:nvSpPr>
        <p:spPr>
          <a:xfrm>
            <a:off x="5817498" y="5682561"/>
            <a:ext cx="1747959" cy="400110"/>
          </a:xfrm>
          <a:prstGeom prst="rect">
            <a:avLst/>
          </a:prstGeom>
          <a:noFill/>
        </p:spPr>
        <p:txBody>
          <a:bodyPr wrap="square" rtlCol="0">
            <a:spAutoFit/>
          </a:bodyPr>
          <a:lstStyle/>
          <a:p>
            <a:pPr algn="ctr"/>
            <a:r>
              <a:rPr lang="en-US" altLang="zh-CN" sz="2000" b="1">
                <a:solidFill>
                  <a:schemeClr val="accent1"/>
                </a:solidFill>
                <a:latin typeface="+mn-ea"/>
                <a:cs typeface="Times New Roman" panose="02020603050405020304" pitchFamily="18" charset="0"/>
              </a:rPr>
              <a:t>12-core </a:t>
            </a:r>
            <a:r>
              <a:rPr lang="en-US" altLang="zh-CN" sz="2000" b="1" dirty="0">
                <a:solidFill>
                  <a:schemeClr val="accent1"/>
                </a:solidFill>
                <a:latin typeface="+mn-ea"/>
                <a:cs typeface="Times New Roman" panose="02020603050405020304" pitchFamily="18" charset="0"/>
              </a:rPr>
              <a:t>CPU</a:t>
            </a:r>
            <a:endParaRPr lang="zh-CN" altLang="en-US" sz="2000" b="1" dirty="0">
              <a:solidFill>
                <a:schemeClr val="accent1"/>
              </a:solidFill>
              <a:latin typeface="+mn-ea"/>
              <a:cs typeface="Times New Roman" panose="02020603050405020304" pitchFamily="18" charset="0"/>
            </a:endParaRPr>
          </a:p>
        </p:txBody>
      </p:sp>
      <p:sp>
        <p:nvSpPr>
          <p:cNvPr id="25" name="文本框 24">
            <a:extLst>
              <a:ext uri="{FF2B5EF4-FFF2-40B4-BE49-F238E27FC236}">
                <a16:creationId xmlns:a16="http://schemas.microsoft.com/office/drawing/2014/main" id="{8D687DE6-109D-8A1F-A55A-2C5BD5CA003D}"/>
              </a:ext>
            </a:extLst>
          </p:cNvPr>
          <p:cNvSpPr txBox="1"/>
          <p:nvPr/>
        </p:nvSpPr>
        <p:spPr>
          <a:xfrm>
            <a:off x="7820608" y="5229477"/>
            <a:ext cx="3777834" cy="400110"/>
          </a:xfrm>
          <a:prstGeom prst="rect">
            <a:avLst/>
          </a:prstGeom>
          <a:noFill/>
        </p:spPr>
        <p:txBody>
          <a:bodyPr wrap="square" rtlCol="0">
            <a:spAutoFit/>
          </a:bodyPr>
          <a:lstStyle/>
          <a:p>
            <a:pPr algn="ctr"/>
            <a:r>
              <a:rPr lang="en-US" altLang="zh-CN" sz="2000" b="1" dirty="0">
                <a:solidFill>
                  <a:schemeClr val="accent1"/>
                </a:solidFill>
                <a:latin typeface="+mn-ea"/>
                <a:cs typeface="Times New Roman" panose="02020603050405020304" pitchFamily="18" charset="0"/>
              </a:rPr>
              <a:t>Industrial multi-core CPU?</a:t>
            </a:r>
            <a:endParaRPr lang="zh-CN" altLang="en-US" sz="2000" b="1" dirty="0">
              <a:solidFill>
                <a:schemeClr val="accent1"/>
              </a:solidFill>
              <a:latin typeface="+mn-ea"/>
              <a:cs typeface="Times New Roman" panose="02020603050405020304" pitchFamily="18" charset="0"/>
            </a:endParaRPr>
          </a:p>
        </p:txBody>
      </p:sp>
      <p:sp>
        <p:nvSpPr>
          <p:cNvPr id="26" name="左大括号 25">
            <a:extLst>
              <a:ext uri="{FF2B5EF4-FFF2-40B4-BE49-F238E27FC236}">
                <a16:creationId xmlns:a16="http://schemas.microsoft.com/office/drawing/2014/main" id="{C98D5C65-B7F0-1129-4296-8C6E7DDC5270}"/>
              </a:ext>
            </a:extLst>
          </p:cNvPr>
          <p:cNvSpPr/>
          <p:nvPr/>
        </p:nvSpPr>
        <p:spPr>
          <a:xfrm>
            <a:off x="7608484" y="5429637"/>
            <a:ext cx="424249" cy="90595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179487CD-D657-088E-6B56-82FE729F0325}"/>
              </a:ext>
            </a:extLst>
          </p:cNvPr>
          <p:cNvSpPr txBox="1"/>
          <p:nvPr/>
        </p:nvSpPr>
        <p:spPr>
          <a:xfrm>
            <a:off x="7820608" y="6096648"/>
            <a:ext cx="1481745" cy="400110"/>
          </a:xfrm>
          <a:prstGeom prst="rect">
            <a:avLst/>
          </a:prstGeom>
          <a:noFill/>
        </p:spPr>
        <p:txBody>
          <a:bodyPr wrap="square" rtlCol="0">
            <a:spAutoFit/>
          </a:bodyPr>
          <a:lstStyle/>
          <a:p>
            <a:pPr algn="ctr"/>
            <a:r>
              <a:rPr lang="en-US" altLang="zh-CN" sz="2000" b="1" dirty="0">
                <a:solidFill>
                  <a:schemeClr val="accent1"/>
                </a:solidFill>
                <a:latin typeface="+mn-ea"/>
                <a:cs typeface="Times New Roman" panose="02020603050405020304" pitchFamily="18" charset="0"/>
              </a:rPr>
              <a:t>GPU?</a:t>
            </a:r>
            <a:endParaRPr lang="zh-CN" altLang="en-US" sz="2000" b="1" dirty="0">
              <a:solidFill>
                <a:schemeClr val="accent1"/>
              </a:solidFill>
              <a:latin typeface="+mn-ea"/>
              <a:cs typeface="Times New Roman" panose="02020603050405020304" pitchFamily="18" charset="0"/>
            </a:endParaRPr>
          </a:p>
        </p:txBody>
      </p:sp>
    </p:spTree>
    <p:extLst>
      <p:ext uri="{BB962C8B-B14F-4D97-AF65-F5344CB8AC3E}">
        <p14:creationId xmlns:p14="http://schemas.microsoft.com/office/powerpoint/2010/main" val="13323109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082D0-76E3-C76E-102D-350A5C13A91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09EC2AF-229A-357F-B83E-6E3F99867D72}"/>
              </a:ext>
            </a:extLst>
          </p:cNvPr>
          <p:cNvSpPr>
            <a:spLocks noGrp="1"/>
          </p:cNvSpPr>
          <p:nvPr>
            <p:ph type="title"/>
          </p:nvPr>
        </p:nvSpPr>
        <p:spPr/>
        <p:txBody>
          <a:bodyPr/>
          <a:lstStyle/>
          <a:p>
            <a:r>
              <a:rPr lang="en-US" altLang="zh-CN" dirty="0"/>
              <a:t>Dataset</a:t>
            </a:r>
            <a:endParaRPr lang="zh-CN" altLang="en-US" dirty="0"/>
          </a:p>
        </p:txBody>
      </p:sp>
      <p:pic>
        <p:nvPicPr>
          <p:cNvPr id="5" name="图片 4">
            <a:extLst>
              <a:ext uri="{FF2B5EF4-FFF2-40B4-BE49-F238E27FC236}">
                <a16:creationId xmlns:a16="http://schemas.microsoft.com/office/drawing/2014/main" id="{BD283C4D-567D-9C6D-36EB-C1724F0F3D0D}"/>
              </a:ext>
            </a:extLst>
          </p:cNvPr>
          <p:cNvPicPr>
            <a:picLocks noChangeAspect="1"/>
          </p:cNvPicPr>
          <p:nvPr/>
        </p:nvPicPr>
        <p:blipFill>
          <a:blip r:embed="rId3"/>
          <a:stretch>
            <a:fillRect/>
          </a:stretch>
        </p:blipFill>
        <p:spPr>
          <a:xfrm>
            <a:off x="6708809" y="3487778"/>
            <a:ext cx="4879596" cy="2874489"/>
          </a:xfrm>
          <a:prstGeom prst="rect">
            <a:avLst/>
          </a:prstGeom>
        </p:spPr>
      </p:pic>
      <p:pic>
        <p:nvPicPr>
          <p:cNvPr id="7" name="图片 6">
            <a:extLst>
              <a:ext uri="{FF2B5EF4-FFF2-40B4-BE49-F238E27FC236}">
                <a16:creationId xmlns:a16="http://schemas.microsoft.com/office/drawing/2014/main" id="{2A3414B9-D72C-572B-DAA4-D2CF691D2B2D}"/>
              </a:ext>
            </a:extLst>
          </p:cNvPr>
          <p:cNvPicPr>
            <a:picLocks noChangeAspect="1"/>
          </p:cNvPicPr>
          <p:nvPr/>
        </p:nvPicPr>
        <p:blipFill>
          <a:blip r:embed="rId4"/>
          <a:stretch>
            <a:fillRect/>
          </a:stretch>
        </p:blipFill>
        <p:spPr>
          <a:xfrm>
            <a:off x="427693" y="1824443"/>
            <a:ext cx="6281116" cy="2044752"/>
          </a:xfrm>
          <a:prstGeom prst="rect">
            <a:avLst/>
          </a:prstGeom>
        </p:spPr>
      </p:pic>
      <p:sp>
        <p:nvSpPr>
          <p:cNvPr id="8" name="文本框 7">
            <a:extLst>
              <a:ext uri="{FF2B5EF4-FFF2-40B4-BE49-F238E27FC236}">
                <a16:creationId xmlns:a16="http://schemas.microsoft.com/office/drawing/2014/main" id="{0FCB576E-3716-F75C-F738-DF15EF25DBC5}"/>
              </a:ext>
            </a:extLst>
          </p:cNvPr>
          <p:cNvSpPr txBox="1"/>
          <p:nvPr/>
        </p:nvSpPr>
        <p:spPr>
          <a:xfrm>
            <a:off x="743794" y="5046740"/>
            <a:ext cx="1747959" cy="400110"/>
          </a:xfrm>
          <a:prstGeom prst="rect">
            <a:avLst/>
          </a:prstGeom>
          <a:noFill/>
        </p:spPr>
        <p:txBody>
          <a:bodyPr wrap="square" rtlCol="0">
            <a:spAutoFit/>
          </a:bodyPr>
          <a:lstStyle/>
          <a:p>
            <a:pPr algn="ctr"/>
            <a:r>
              <a:rPr lang="en-US" altLang="zh-CN" sz="2000" b="1" dirty="0">
                <a:solidFill>
                  <a:schemeClr val="accent1"/>
                </a:solidFill>
                <a:latin typeface="+mn-ea"/>
                <a:cs typeface="Times New Roman" panose="02020603050405020304" pitchFamily="18" charset="0"/>
              </a:rPr>
              <a:t>Imbalance</a:t>
            </a:r>
            <a:endParaRPr lang="zh-CN" altLang="en-US" sz="2000" b="1" dirty="0">
              <a:solidFill>
                <a:schemeClr val="accent1"/>
              </a:solidFill>
              <a:latin typeface="+mn-ea"/>
              <a:cs typeface="Times New Roman" panose="02020603050405020304" pitchFamily="18" charset="0"/>
            </a:endParaRPr>
          </a:p>
        </p:txBody>
      </p:sp>
      <p:cxnSp>
        <p:nvCxnSpPr>
          <p:cNvPr id="9" name="直接箭头连接符 8">
            <a:extLst>
              <a:ext uri="{FF2B5EF4-FFF2-40B4-BE49-F238E27FC236}">
                <a16:creationId xmlns:a16="http://schemas.microsoft.com/office/drawing/2014/main" id="{A5A33531-CD64-F128-44FB-4CE811DA1DAC}"/>
              </a:ext>
            </a:extLst>
          </p:cNvPr>
          <p:cNvCxnSpPr>
            <a:cxnSpLocks/>
          </p:cNvCxnSpPr>
          <p:nvPr/>
        </p:nvCxnSpPr>
        <p:spPr>
          <a:xfrm flipV="1">
            <a:off x="2382594" y="4553776"/>
            <a:ext cx="356135" cy="6930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BA4B7EFE-240D-7BC5-C2D1-B934D5036C9C}"/>
              </a:ext>
            </a:extLst>
          </p:cNvPr>
          <p:cNvSpPr txBox="1"/>
          <p:nvPr/>
        </p:nvSpPr>
        <p:spPr>
          <a:xfrm>
            <a:off x="2629570" y="4194330"/>
            <a:ext cx="2933832" cy="400110"/>
          </a:xfrm>
          <a:prstGeom prst="rect">
            <a:avLst/>
          </a:prstGeom>
          <a:noFill/>
        </p:spPr>
        <p:txBody>
          <a:bodyPr wrap="square" rtlCol="0">
            <a:spAutoFit/>
          </a:bodyPr>
          <a:lstStyle/>
          <a:p>
            <a:pPr algn="ctr"/>
            <a:r>
              <a:rPr lang="en-US" altLang="zh-CN" sz="2000" b="1" dirty="0">
                <a:solidFill>
                  <a:schemeClr val="accent1"/>
                </a:solidFill>
                <a:latin typeface="+mn-ea"/>
                <a:cs typeface="Times New Roman" panose="02020603050405020304" pitchFamily="18" charset="0"/>
              </a:rPr>
              <a:t>Benign &amp; Malicious</a:t>
            </a:r>
            <a:endParaRPr lang="zh-CN" altLang="en-US" sz="2000" b="1" dirty="0">
              <a:solidFill>
                <a:schemeClr val="accent1"/>
              </a:solidFill>
              <a:latin typeface="+mn-ea"/>
              <a:cs typeface="Times New Roman" panose="02020603050405020304" pitchFamily="18" charset="0"/>
            </a:endParaRPr>
          </a:p>
        </p:txBody>
      </p:sp>
      <p:cxnSp>
        <p:nvCxnSpPr>
          <p:cNvPr id="11" name="直接箭头连接符 10">
            <a:extLst>
              <a:ext uri="{FF2B5EF4-FFF2-40B4-BE49-F238E27FC236}">
                <a16:creationId xmlns:a16="http://schemas.microsoft.com/office/drawing/2014/main" id="{FAB554BF-75C3-8942-27E0-C4258B771C45}"/>
              </a:ext>
            </a:extLst>
          </p:cNvPr>
          <p:cNvCxnSpPr>
            <a:cxnSpLocks/>
          </p:cNvCxnSpPr>
          <p:nvPr/>
        </p:nvCxnSpPr>
        <p:spPr>
          <a:xfrm>
            <a:off x="2382593" y="5393249"/>
            <a:ext cx="356135" cy="6930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9998920E-BDDB-4E9D-9F01-144115899580}"/>
              </a:ext>
            </a:extLst>
          </p:cNvPr>
          <p:cNvSpPr txBox="1"/>
          <p:nvPr/>
        </p:nvSpPr>
        <p:spPr>
          <a:xfrm>
            <a:off x="2417219" y="5939814"/>
            <a:ext cx="2933832" cy="400110"/>
          </a:xfrm>
          <a:prstGeom prst="rect">
            <a:avLst/>
          </a:prstGeom>
          <a:noFill/>
        </p:spPr>
        <p:txBody>
          <a:bodyPr wrap="square" rtlCol="0">
            <a:spAutoFit/>
          </a:bodyPr>
          <a:lstStyle/>
          <a:p>
            <a:pPr algn="ctr"/>
            <a:r>
              <a:rPr lang="en-US" altLang="zh-CN" sz="2000" b="1" dirty="0">
                <a:solidFill>
                  <a:schemeClr val="accent1"/>
                </a:solidFill>
                <a:latin typeface="+mn-ea"/>
                <a:cs typeface="Times New Roman" panose="02020603050405020304" pitchFamily="18" charset="0"/>
              </a:rPr>
              <a:t>The Attack Class</a:t>
            </a:r>
            <a:endParaRPr lang="zh-CN" altLang="en-US" sz="2000" b="1" dirty="0">
              <a:solidFill>
                <a:schemeClr val="accent1"/>
              </a:solidFill>
              <a:latin typeface="+mn-ea"/>
              <a:cs typeface="Times New Roman" panose="02020603050405020304" pitchFamily="18" charset="0"/>
            </a:endParaRPr>
          </a:p>
        </p:txBody>
      </p:sp>
      <p:sp>
        <p:nvSpPr>
          <p:cNvPr id="13" name="文本框 12">
            <a:extLst>
              <a:ext uri="{FF2B5EF4-FFF2-40B4-BE49-F238E27FC236}">
                <a16:creationId xmlns:a16="http://schemas.microsoft.com/office/drawing/2014/main" id="{5023325E-AA4D-AE06-CFC4-06E448009FF9}"/>
              </a:ext>
            </a:extLst>
          </p:cNvPr>
          <p:cNvSpPr txBox="1"/>
          <p:nvPr/>
        </p:nvSpPr>
        <p:spPr>
          <a:xfrm>
            <a:off x="6886670" y="2394501"/>
            <a:ext cx="4523874" cy="523220"/>
          </a:xfrm>
          <a:prstGeom prst="rect">
            <a:avLst/>
          </a:prstGeom>
          <a:noFill/>
        </p:spPr>
        <p:txBody>
          <a:bodyPr wrap="square" rtlCol="0">
            <a:spAutoFit/>
          </a:bodyPr>
          <a:lstStyle/>
          <a:p>
            <a:pPr algn="ctr"/>
            <a:r>
              <a:rPr lang="en-US" altLang="zh-CN" sz="2800" b="1" dirty="0">
                <a:solidFill>
                  <a:schemeClr val="accent1"/>
                </a:solidFill>
                <a:latin typeface="+mn-ea"/>
                <a:cs typeface="Times New Roman" panose="02020603050405020304" pitchFamily="18" charset="0"/>
              </a:rPr>
              <a:t>Real-World Scenario?</a:t>
            </a:r>
            <a:endParaRPr lang="zh-CN" altLang="en-US" sz="2800" b="1" dirty="0">
              <a:solidFill>
                <a:schemeClr val="accent1"/>
              </a:solidFill>
              <a:latin typeface="+mn-ea"/>
              <a:cs typeface="Times New Roman" panose="02020603050405020304" pitchFamily="18" charset="0"/>
            </a:endParaRPr>
          </a:p>
        </p:txBody>
      </p:sp>
    </p:spTree>
    <p:extLst>
      <p:ext uri="{BB962C8B-B14F-4D97-AF65-F5344CB8AC3E}">
        <p14:creationId xmlns:p14="http://schemas.microsoft.com/office/powerpoint/2010/main" val="27128912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DFFCD-8C29-7851-C370-37A885F6CCD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57F7A73-60BE-9360-1B0C-3526C9D9242A}"/>
              </a:ext>
            </a:extLst>
          </p:cNvPr>
          <p:cNvSpPr>
            <a:spLocks noGrp="1"/>
          </p:cNvSpPr>
          <p:nvPr>
            <p:ph type="title"/>
          </p:nvPr>
        </p:nvSpPr>
        <p:spPr/>
        <p:txBody>
          <a:bodyPr>
            <a:normAutofit fontScale="90000"/>
          </a:bodyPr>
          <a:lstStyle/>
          <a:p>
            <a:r>
              <a:rPr lang="en-US" altLang="zh-CN" dirty="0">
                <a:latin typeface="微软雅黑" panose="020B0503020204020204" pitchFamily="34" charset="-122"/>
                <a:ea typeface="微软雅黑" panose="020B0503020204020204" pitchFamily="34" charset="-122"/>
              </a:rPr>
              <a:t>Contents</a:t>
            </a:r>
            <a:endParaRPr lang="zh-CN" altLang="en-US" dirty="0">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E937EEEF-D4BB-A902-37BC-6A83054A56C6}"/>
              </a:ext>
            </a:extLst>
          </p:cNvPr>
          <p:cNvGrpSpPr/>
          <p:nvPr/>
        </p:nvGrpSpPr>
        <p:grpSpPr>
          <a:xfrm>
            <a:off x="3365536" y="1303550"/>
            <a:ext cx="843427" cy="443226"/>
            <a:chOff x="666810" y="2586037"/>
            <a:chExt cx="468000" cy="245937"/>
          </a:xfrm>
          <a:solidFill>
            <a:schemeClr val="bg2"/>
          </a:solidFill>
        </p:grpSpPr>
        <p:sp>
          <p:nvSpPr>
            <p:cNvPr id="4" name="Freeform 10">
              <a:extLst>
                <a:ext uri="{FF2B5EF4-FFF2-40B4-BE49-F238E27FC236}">
                  <a16:creationId xmlns:a16="http://schemas.microsoft.com/office/drawing/2014/main" id="{0F7C63AD-B4B1-3CE0-7692-7A0AF84D0CDA}"/>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grp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5" name="文本框 4">
              <a:extLst>
                <a:ext uri="{FF2B5EF4-FFF2-40B4-BE49-F238E27FC236}">
                  <a16:creationId xmlns:a16="http://schemas.microsoft.com/office/drawing/2014/main" id="{4CE0C8EC-081E-14E7-C7DC-E2C33A3F8CFD}"/>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1</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7" name="直接连接符 6">
            <a:extLst>
              <a:ext uri="{FF2B5EF4-FFF2-40B4-BE49-F238E27FC236}">
                <a16:creationId xmlns:a16="http://schemas.microsoft.com/office/drawing/2014/main" id="{02732E7C-AC81-699D-7D19-870306566596}"/>
              </a:ext>
            </a:extLst>
          </p:cNvPr>
          <p:cNvCxnSpPr>
            <a:stCxn id="4" idx="6"/>
          </p:cNvCxnSpPr>
          <p:nvPr/>
        </p:nvCxnSpPr>
        <p:spPr>
          <a:xfrm>
            <a:off x="4058033" y="1711215"/>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ED66D795-817C-A711-8D9E-A9AD811D04E4}"/>
              </a:ext>
            </a:extLst>
          </p:cNvPr>
          <p:cNvSpPr txBox="1"/>
          <p:nvPr/>
        </p:nvSpPr>
        <p:spPr>
          <a:xfrm>
            <a:off x="4439073" y="1274735"/>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Background</a:t>
            </a:r>
            <a:endParaRPr lang="zh-CN" altLang="en-US" sz="2400" b="1" dirty="0">
              <a:latin typeface="+mn-ea"/>
              <a:cs typeface="Times New Roman" panose="02020603050405020304" pitchFamily="18" charset="0"/>
            </a:endParaRPr>
          </a:p>
        </p:txBody>
      </p:sp>
      <p:grpSp>
        <p:nvGrpSpPr>
          <p:cNvPr id="12" name="组合 11">
            <a:extLst>
              <a:ext uri="{FF2B5EF4-FFF2-40B4-BE49-F238E27FC236}">
                <a16:creationId xmlns:a16="http://schemas.microsoft.com/office/drawing/2014/main" id="{AB3B10D6-1ACD-B654-C77B-ED684DDFAFDE}"/>
              </a:ext>
            </a:extLst>
          </p:cNvPr>
          <p:cNvGrpSpPr/>
          <p:nvPr/>
        </p:nvGrpSpPr>
        <p:grpSpPr>
          <a:xfrm>
            <a:off x="3365536" y="2223523"/>
            <a:ext cx="843427" cy="443226"/>
            <a:chOff x="666810" y="2586037"/>
            <a:chExt cx="468000" cy="245937"/>
          </a:xfrm>
          <a:solidFill>
            <a:schemeClr val="accent1"/>
          </a:solidFill>
        </p:grpSpPr>
        <p:sp>
          <p:nvSpPr>
            <p:cNvPr id="13" name="Freeform 10">
              <a:extLst>
                <a:ext uri="{FF2B5EF4-FFF2-40B4-BE49-F238E27FC236}">
                  <a16:creationId xmlns:a16="http://schemas.microsoft.com/office/drawing/2014/main" id="{97E57BF8-ADCB-BC77-7BCC-83E6359849CC}"/>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4" name="文本框 13">
              <a:extLst>
                <a:ext uri="{FF2B5EF4-FFF2-40B4-BE49-F238E27FC236}">
                  <a16:creationId xmlns:a16="http://schemas.microsoft.com/office/drawing/2014/main" id="{F9218F2C-D650-F9D6-6AAF-3E4BD01EB246}"/>
                </a:ext>
              </a:extLst>
            </p:cNvPr>
            <p:cNvSpPr txBox="1"/>
            <p:nvPr userDrawn="1"/>
          </p:nvSpPr>
          <p:spPr>
            <a:xfrm>
              <a:off x="794494" y="2586037"/>
              <a:ext cx="212633" cy="245937"/>
            </a:xfrm>
            <a:prstGeom prst="rect">
              <a:avLst/>
            </a:prstGeom>
            <a:noFill/>
            <a:ln>
              <a:noFill/>
            </a:ln>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2</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15" name="直接连接符 14">
            <a:extLst>
              <a:ext uri="{FF2B5EF4-FFF2-40B4-BE49-F238E27FC236}">
                <a16:creationId xmlns:a16="http://schemas.microsoft.com/office/drawing/2014/main" id="{53F939F8-4CA5-4DE3-E2F7-D9D1663743A4}"/>
              </a:ext>
            </a:extLst>
          </p:cNvPr>
          <p:cNvCxnSpPr>
            <a:stCxn id="13" idx="6"/>
          </p:cNvCxnSpPr>
          <p:nvPr/>
        </p:nvCxnSpPr>
        <p:spPr>
          <a:xfrm>
            <a:off x="4058033" y="2631188"/>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78592B91-0BB0-4106-FB38-17DC35E2682B}"/>
              </a:ext>
            </a:extLst>
          </p:cNvPr>
          <p:cNvSpPr txBox="1"/>
          <p:nvPr/>
        </p:nvSpPr>
        <p:spPr>
          <a:xfrm>
            <a:off x="4439073" y="2194708"/>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Nexus</a:t>
            </a:r>
            <a:r>
              <a:rPr lang="zh-CN" altLang="en-US" sz="2400" b="1" dirty="0">
                <a:latin typeface="+mn-ea"/>
                <a:cs typeface="Times New Roman" panose="02020603050405020304" pitchFamily="18" charset="0"/>
              </a:rPr>
              <a:t> </a:t>
            </a:r>
            <a:r>
              <a:rPr lang="en-US" altLang="zh-CN" sz="2400" b="1" dirty="0">
                <a:latin typeface="+mn-ea"/>
                <a:cs typeface="Times New Roman" panose="02020603050405020304" pitchFamily="18" charset="0"/>
              </a:rPr>
              <a:t>Design</a:t>
            </a:r>
            <a:endParaRPr lang="zh-CN" altLang="en-US" sz="2400" b="1" dirty="0">
              <a:latin typeface="+mn-ea"/>
              <a:cs typeface="Times New Roman" panose="02020603050405020304" pitchFamily="18" charset="0"/>
            </a:endParaRPr>
          </a:p>
        </p:txBody>
      </p:sp>
      <p:grpSp>
        <p:nvGrpSpPr>
          <p:cNvPr id="17" name="组合 16">
            <a:extLst>
              <a:ext uri="{FF2B5EF4-FFF2-40B4-BE49-F238E27FC236}">
                <a16:creationId xmlns:a16="http://schemas.microsoft.com/office/drawing/2014/main" id="{AB8ED462-6800-8060-2657-A72EB86922DA}"/>
              </a:ext>
            </a:extLst>
          </p:cNvPr>
          <p:cNvGrpSpPr/>
          <p:nvPr/>
        </p:nvGrpSpPr>
        <p:grpSpPr>
          <a:xfrm>
            <a:off x="3365536" y="3143496"/>
            <a:ext cx="843427" cy="443226"/>
            <a:chOff x="666810" y="2586037"/>
            <a:chExt cx="468000" cy="245937"/>
          </a:xfrm>
          <a:solidFill>
            <a:schemeClr val="bg2"/>
          </a:solidFill>
        </p:grpSpPr>
        <p:sp>
          <p:nvSpPr>
            <p:cNvPr id="18" name="Freeform 10">
              <a:extLst>
                <a:ext uri="{FF2B5EF4-FFF2-40B4-BE49-F238E27FC236}">
                  <a16:creationId xmlns:a16="http://schemas.microsoft.com/office/drawing/2014/main" id="{E160E19B-4F12-6B7D-C5CE-54D12B7A79F1}"/>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19" name="文本框 18">
              <a:extLst>
                <a:ext uri="{FF2B5EF4-FFF2-40B4-BE49-F238E27FC236}">
                  <a16:creationId xmlns:a16="http://schemas.microsoft.com/office/drawing/2014/main" id="{AF895945-870E-E027-3CF7-2268C5DE9167}"/>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3</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20" name="直接连接符 19">
            <a:extLst>
              <a:ext uri="{FF2B5EF4-FFF2-40B4-BE49-F238E27FC236}">
                <a16:creationId xmlns:a16="http://schemas.microsoft.com/office/drawing/2014/main" id="{1AE64E3F-DB0B-E67E-4C26-A7222CA4411B}"/>
              </a:ext>
            </a:extLst>
          </p:cNvPr>
          <p:cNvCxnSpPr>
            <a:stCxn id="18" idx="6"/>
          </p:cNvCxnSpPr>
          <p:nvPr/>
        </p:nvCxnSpPr>
        <p:spPr>
          <a:xfrm>
            <a:off x="4058033" y="3551161"/>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2B5A0907-26A1-7B58-1231-F1F21A061427}"/>
              </a:ext>
            </a:extLst>
          </p:cNvPr>
          <p:cNvSpPr txBox="1"/>
          <p:nvPr/>
        </p:nvSpPr>
        <p:spPr>
          <a:xfrm>
            <a:off x="4439073" y="3114681"/>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Experiment Result</a:t>
            </a:r>
            <a:endParaRPr lang="zh-CN" altLang="en-US" sz="2400" b="1" dirty="0">
              <a:latin typeface="+mn-ea"/>
              <a:cs typeface="Times New Roman" panose="02020603050405020304" pitchFamily="18" charset="0"/>
            </a:endParaRPr>
          </a:p>
        </p:txBody>
      </p:sp>
      <p:grpSp>
        <p:nvGrpSpPr>
          <p:cNvPr id="22" name="组合 21">
            <a:extLst>
              <a:ext uri="{FF2B5EF4-FFF2-40B4-BE49-F238E27FC236}">
                <a16:creationId xmlns:a16="http://schemas.microsoft.com/office/drawing/2014/main" id="{8DDF4D47-DAA0-CF9C-FC41-6DA5A8E2FBD4}"/>
              </a:ext>
            </a:extLst>
          </p:cNvPr>
          <p:cNvGrpSpPr/>
          <p:nvPr/>
        </p:nvGrpSpPr>
        <p:grpSpPr>
          <a:xfrm>
            <a:off x="3365536" y="4063469"/>
            <a:ext cx="843427" cy="443226"/>
            <a:chOff x="666810" y="2586037"/>
            <a:chExt cx="468000" cy="245937"/>
          </a:xfrm>
          <a:solidFill>
            <a:schemeClr val="bg2"/>
          </a:solidFill>
        </p:grpSpPr>
        <p:sp>
          <p:nvSpPr>
            <p:cNvPr id="23" name="Freeform 10">
              <a:extLst>
                <a:ext uri="{FF2B5EF4-FFF2-40B4-BE49-F238E27FC236}">
                  <a16:creationId xmlns:a16="http://schemas.microsoft.com/office/drawing/2014/main" id="{8A7A2850-8E79-24F8-957C-0C1907BFA856}"/>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bg2"/>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24" name="文本框 23">
              <a:extLst>
                <a:ext uri="{FF2B5EF4-FFF2-40B4-BE49-F238E27FC236}">
                  <a16:creationId xmlns:a16="http://schemas.microsoft.com/office/drawing/2014/main" id="{5834F639-C277-4EE8-CC84-F060321267CE}"/>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4</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25" name="直接连接符 24">
            <a:extLst>
              <a:ext uri="{FF2B5EF4-FFF2-40B4-BE49-F238E27FC236}">
                <a16:creationId xmlns:a16="http://schemas.microsoft.com/office/drawing/2014/main" id="{79B589CE-8088-A5D0-930F-8F8363AD75D3}"/>
              </a:ext>
            </a:extLst>
          </p:cNvPr>
          <p:cNvCxnSpPr>
            <a:stCxn id="23" idx="6"/>
          </p:cNvCxnSpPr>
          <p:nvPr/>
        </p:nvCxnSpPr>
        <p:spPr>
          <a:xfrm>
            <a:off x="4058033" y="4471134"/>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BE718E37-4608-F518-1CEB-01F206A395A1}"/>
              </a:ext>
            </a:extLst>
          </p:cNvPr>
          <p:cNvSpPr txBox="1"/>
          <p:nvPr/>
        </p:nvSpPr>
        <p:spPr>
          <a:xfrm>
            <a:off x="4439073" y="4034654"/>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Discussion</a:t>
            </a:r>
            <a:endParaRPr lang="zh-CN" altLang="en-US" sz="2400" b="1" dirty="0">
              <a:latin typeface="+mn-ea"/>
              <a:cs typeface="Times New Roman" panose="02020603050405020304" pitchFamily="18" charset="0"/>
            </a:endParaRPr>
          </a:p>
        </p:txBody>
      </p:sp>
      <p:grpSp>
        <p:nvGrpSpPr>
          <p:cNvPr id="32" name="组合 31">
            <a:extLst>
              <a:ext uri="{FF2B5EF4-FFF2-40B4-BE49-F238E27FC236}">
                <a16:creationId xmlns:a16="http://schemas.microsoft.com/office/drawing/2014/main" id="{DDA23AFD-0C8B-9236-2919-A1109A1A303B}"/>
              </a:ext>
            </a:extLst>
          </p:cNvPr>
          <p:cNvGrpSpPr/>
          <p:nvPr/>
        </p:nvGrpSpPr>
        <p:grpSpPr>
          <a:xfrm>
            <a:off x="3365536" y="4983444"/>
            <a:ext cx="843427" cy="443226"/>
            <a:chOff x="666810" y="2586037"/>
            <a:chExt cx="468000" cy="245937"/>
          </a:xfrm>
          <a:solidFill>
            <a:schemeClr val="bg2"/>
          </a:solidFill>
        </p:grpSpPr>
        <p:sp>
          <p:nvSpPr>
            <p:cNvPr id="33" name="Freeform 10">
              <a:extLst>
                <a:ext uri="{FF2B5EF4-FFF2-40B4-BE49-F238E27FC236}">
                  <a16:creationId xmlns:a16="http://schemas.microsoft.com/office/drawing/2014/main" id="{B1B7F949-2E96-ED99-23EB-CE38B5D594D1}"/>
                </a:ext>
              </a:extLst>
            </p:cNvPr>
            <p:cNvSpPr>
              <a:spLocks/>
            </p:cNvSpPr>
            <p:nvPr userDrawn="1"/>
          </p:nvSpPr>
          <p:spPr bwMode="auto">
            <a:xfrm>
              <a:off x="666810" y="2621442"/>
              <a:ext cx="468000" cy="190800"/>
            </a:xfrm>
            <a:custGeom>
              <a:avLst/>
              <a:gdLst>
                <a:gd name="T0" fmla="*/ 3120 w 3800"/>
                <a:gd name="T1" fmla="*/ 0 h 1532"/>
                <a:gd name="T2" fmla="*/ 682 w 3800"/>
                <a:gd name="T3" fmla="*/ 0 h 1532"/>
                <a:gd name="T4" fmla="*/ 682 w 3800"/>
                <a:gd name="T5" fmla="*/ 284 h 1532"/>
                <a:gd name="T6" fmla="*/ 0 w 3800"/>
                <a:gd name="T7" fmla="*/ 766 h 1532"/>
                <a:gd name="T8" fmla="*/ 682 w 3800"/>
                <a:gd name="T9" fmla="*/ 1248 h 1532"/>
                <a:gd name="T10" fmla="*/ 682 w 3800"/>
                <a:gd name="T11" fmla="*/ 1532 h 1532"/>
                <a:gd name="T12" fmla="*/ 3120 w 3800"/>
                <a:gd name="T13" fmla="*/ 1532 h 1532"/>
                <a:gd name="T14" fmla="*/ 3120 w 3800"/>
                <a:gd name="T15" fmla="*/ 1248 h 1532"/>
                <a:gd name="T16" fmla="*/ 3800 w 3800"/>
                <a:gd name="T17" fmla="*/ 766 h 1532"/>
                <a:gd name="T18" fmla="*/ 3120 w 3800"/>
                <a:gd name="T19" fmla="*/ 284 h 1532"/>
                <a:gd name="T20" fmla="*/ 3120 w 3800"/>
                <a:gd name="T21"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0" h="1532">
                  <a:moveTo>
                    <a:pt x="3120" y="0"/>
                  </a:moveTo>
                  <a:lnTo>
                    <a:pt x="682" y="0"/>
                  </a:lnTo>
                  <a:lnTo>
                    <a:pt x="682" y="284"/>
                  </a:lnTo>
                  <a:lnTo>
                    <a:pt x="0" y="766"/>
                  </a:lnTo>
                  <a:lnTo>
                    <a:pt x="682" y="1248"/>
                  </a:lnTo>
                  <a:lnTo>
                    <a:pt x="682" y="1532"/>
                  </a:lnTo>
                  <a:lnTo>
                    <a:pt x="3120" y="1532"/>
                  </a:lnTo>
                  <a:lnTo>
                    <a:pt x="3120" y="1248"/>
                  </a:lnTo>
                  <a:lnTo>
                    <a:pt x="3800" y="766"/>
                  </a:lnTo>
                  <a:lnTo>
                    <a:pt x="3120" y="284"/>
                  </a:lnTo>
                  <a:lnTo>
                    <a:pt x="3120" y="0"/>
                  </a:lnTo>
                  <a:close/>
                </a:path>
              </a:pathLst>
            </a:custGeom>
            <a:solidFill>
              <a:schemeClr val="accent1"/>
            </a:solidFill>
            <a:ln>
              <a:noFill/>
            </a:ln>
          </p:spPr>
          <p:txBody>
            <a:bodyPr vert="horz" wrap="square" lIns="91440" tIns="45720" rIns="91440" bIns="45720" numCol="1" anchor="ctr" anchorCtr="0" compatLnSpc="1">
              <a:prstTxWarp prst="textNoShape">
                <a:avLst/>
              </a:prstTxWarp>
              <a:noAutofit/>
            </a:bodyPr>
            <a:lstStyle/>
            <a:p>
              <a:pPr algn="ctr"/>
              <a:endParaRPr lang="zh-CN" altLang="en-US" sz="3200" b="1"/>
            </a:p>
          </p:txBody>
        </p:sp>
        <p:sp>
          <p:nvSpPr>
            <p:cNvPr id="34" name="文本框 33">
              <a:extLst>
                <a:ext uri="{FF2B5EF4-FFF2-40B4-BE49-F238E27FC236}">
                  <a16:creationId xmlns:a16="http://schemas.microsoft.com/office/drawing/2014/main" id="{68915302-2C68-2807-CF7C-EB96DB003F0C}"/>
                </a:ext>
              </a:extLst>
            </p:cNvPr>
            <p:cNvSpPr txBox="1"/>
            <p:nvPr userDrawn="1"/>
          </p:nvSpPr>
          <p:spPr>
            <a:xfrm>
              <a:off x="794494" y="2586037"/>
              <a:ext cx="212633" cy="245937"/>
            </a:xfrm>
            <a:prstGeom prst="rect">
              <a:avLst/>
            </a:prstGeom>
            <a:noFill/>
          </p:spPr>
          <p:txBody>
            <a:bodyPr wrap="none" rtlCol="0" anchor="ctr">
              <a:no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5</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cxnSp>
        <p:nvCxnSpPr>
          <p:cNvPr id="35" name="直接连接符 34">
            <a:extLst>
              <a:ext uri="{FF2B5EF4-FFF2-40B4-BE49-F238E27FC236}">
                <a16:creationId xmlns:a16="http://schemas.microsoft.com/office/drawing/2014/main" id="{20EFAD38-8F86-1903-37D2-4E20634668CF}"/>
              </a:ext>
            </a:extLst>
          </p:cNvPr>
          <p:cNvCxnSpPr>
            <a:stCxn id="33" idx="6"/>
          </p:cNvCxnSpPr>
          <p:nvPr/>
        </p:nvCxnSpPr>
        <p:spPr>
          <a:xfrm>
            <a:off x="4058033" y="5391109"/>
            <a:ext cx="45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55436A7E-AD50-7F60-32FC-360300ED4929}"/>
              </a:ext>
            </a:extLst>
          </p:cNvPr>
          <p:cNvSpPr txBox="1"/>
          <p:nvPr/>
        </p:nvSpPr>
        <p:spPr>
          <a:xfrm>
            <a:off x="4439073" y="4954629"/>
            <a:ext cx="4387392" cy="461665"/>
          </a:xfrm>
          <a:prstGeom prst="rect">
            <a:avLst/>
          </a:prstGeom>
          <a:noFill/>
        </p:spPr>
        <p:txBody>
          <a:bodyPr wrap="square" rtlCol="0">
            <a:spAutoFit/>
          </a:bodyPr>
          <a:lstStyle/>
          <a:p>
            <a:r>
              <a:rPr lang="en-US" altLang="zh-CN" sz="2400" b="1" dirty="0">
                <a:latin typeface="+mn-ea"/>
                <a:cs typeface="Times New Roman" panose="02020603050405020304" pitchFamily="18" charset="0"/>
              </a:rPr>
              <a:t>Conclusion</a:t>
            </a:r>
            <a:endParaRPr lang="zh-CN" altLang="en-US" sz="2400" b="1" dirty="0">
              <a:latin typeface="+mn-ea"/>
              <a:cs typeface="Times New Roman" panose="02020603050405020304" pitchFamily="18" charset="0"/>
            </a:endParaRPr>
          </a:p>
        </p:txBody>
      </p:sp>
    </p:spTree>
    <p:extLst>
      <p:ext uri="{BB962C8B-B14F-4D97-AF65-F5344CB8AC3E}">
        <p14:creationId xmlns:p14="http://schemas.microsoft.com/office/powerpoint/2010/main" val="30222879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0A1D5F4B-B82A-94B2-E65D-DDB706E48D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334" y="5593975"/>
            <a:ext cx="1049841" cy="1049841"/>
          </a:xfrm>
          <a:prstGeom prst="rect">
            <a:avLst/>
          </a:prstGeom>
        </p:spPr>
      </p:pic>
      <p:pic>
        <p:nvPicPr>
          <p:cNvPr id="12" name="图片 11">
            <a:extLst>
              <a:ext uri="{FF2B5EF4-FFF2-40B4-BE49-F238E27FC236}">
                <a16:creationId xmlns:a16="http://schemas.microsoft.com/office/drawing/2014/main" id="{BC404A5B-CDC7-18F7-D813-581DCE21C58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413961" y="4636653"/>
            <a:ext cx="848498" cy="848498"/>
          </a:xfrm>
          <a:prstGeom prst="rect">
            <a:avLst/>
          </a:prstGeom>
        </p:spPr>
      </p:pic>
      <p:sp>
        <p:nvSpPr>
          <p:cNvPr id="3" name="标题 2">
            <a:extLst>
              <a:ext uri="{FF2B5EF4-FFF2-40B4-BE49-F238E27FC236}">
                <a16:creationId xmlns:a16="http://schemas.microsoft.com/office/drawing/2014/main" id="{E12CF134-0755-AEB5-D35A-97DA4F6D2FF8}"/>
              </a:ext>
            </a:extLst>
          </p:cNvPr>
          <p:cNvSpPr>
            <a:spLocks noGrp="1"/>
          </p:cNvSpPr>
          <p:nvPr>
            <p:ph type="title"/>
          </p:nvPr>
        </p:nvSpPr>
        <p:spPr/>
        <p:txBody>
          <a:bodyPr/>
          <a:lstStyle/>
          <a:p>
            <a:r>
              <a:rPr lang="en-US" altLang="zh-CN" dirty="0"/>
              <a:t>Conclusion</a:t>
            </a:r>
            <a:endParaRPr lang="zh-CN" altLang="en-US" dirty="0"/>
          </a:p>
        </p:txBody>
      </p:sp>
      <p:sp>
        <p:nvSpPr>
          <p:cNvPr id="4" name="矩形: 圆角 3">
            <a:extLst>
              <a:ext uri="{FF2B5EF4-FFF2-40B4-BE49-F238E27FC236}">
                <a16:creationId xmlns:a16="http://schemas.microsoft.com/office/drawing/2014/main" id="{8420C920-2F9B-B69D-6889-5F9BE9C5CF27}"/>
              </a:ext>
            </a:extLst>
          </p:cNvPr>
          <p:cNvSpPr/>
          <p:nvPr/>
        </p:nvSpPr>
        <p:spPr>
          <a:xfrm>
            <a:off x="4808812" y="3669787"/>
            <a:ext cx="2273932" cy="84849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b="1" dirty="0">
                <a:latin typeface="+mn-ea"/>
                <a:cs typeface="Times New Roman" panose="02020603050405020304" pitchFamily="18" charset="0"/>
              </a:rPr>
              <a:t>NEXUS</a:t>
            </a:r>
            <a:endParaRPr lang="zh-CN" altLang="en-US" sz="3200" b="1" dirty="0">
              <a:latin typeface="+mn-ea"/>
              <a:cs typeface="Times New Roman" panose="02020603050405020304" pitchFamily="18" charset="0"/>
            </a:endParaRPr>
          </a:p>
        </p:txBody>
      </p:sp>
      <p:sp>
        <p:nvSpPr>
          <p:cNvPr id="5" name="文本框 4">
            <a:extLst>
              <a:ext uri="{FF2B5EF4-FFF2-40B4-BE49-F238E27FC236}">
                <a16:creationId xmlns:a16="http://schemas.microsoft.com/office/drawing/2014/main" id="{ECE7F48A-076A-9ACF-2793-501F4423EA8E}"/>
              </a:ext>
            </a:extLst>
          </p:cNvPr>
          <p:cNvSpPr txBox="1"/>
          <p:nvPr/>
        </p:nvSpPr>
        <p:spPr>
          <a:xfrm>
            <a:off x="2363749" y="2362740"/>
            <a:ext cx="3373396" cy="954107"/>
          </a:xfrm>
          <a:prstGeom prst="rect">
            <a:avLst/>
          </a:prstGeom>
          <a:noFill/>
        </p:spPr>
        <p:txBody>
          <a:bodyPr wrap="square" rtlCol="0">
            <a:spAutoFit/>
          </a:bodyPr>
          <a:lstStyle/>
          <a:p>
            <a:r>
              <a:rPr lang="en-US" altLang="zh-CN" sz="2800" b="1" dirty="0">
                <a:solidFill>
                  <a:schemeClr val="accent1"/>
                </a:solidFill>
                <a:latin typeface="+mn-ea"/>
                <a:cs typeface="Times New Roman" panose="02020603050405020304" pitchFamily="18" charset="0"/>
              </a:rPr>
              <a:t>Multi-Source Correlation</a:t>
            </a:r>
            <a:endParaRPr lang="zh-CN" altLang="en-US" sz="2800" b="1" dirty="0">
              <a:solidFill>
                <a:schemeClr val="accent1"/>
              </a:solidFill>
              <a:latin typeface="+mn-ea"/>
              <a:cs typeface="Times New Roman" panose="02020603050405020304" pitchFamily="18" charset="0"/>
            </a:endParaRPr>
          </a:p>
        </p:txBody>
      </p:sp>
      <p:sp>
        <p:nvSpPr>
          <p:cNvPr id="6" name="文本框 5">
            <a:extLst>
              <a:ext uri="{FF2B5EF4-FFF2-40B4-BE49-F238E27FC236}">
                <a16:creationId xmlns:a16="http://schemas.microsoft.com/office/drawing/2014/main" id="{1E23F2D9-7053-853D-4AEF-CEEC9163FF43}"/>
              </a:ext>
            </a:extLst>
          </p:cNvPr>
          <p:cNvSpPr txBox="1"/>
          <p:nvPr/>
        </p:nvSpPr>
        <p:spPr>
          <a:xfrm>
            <a:off x="6761489" y="4799292"/>
            <a:ext cx="3373396" cy="523220"/>
          </a:xfrm>
          <a:prstGeom prst="rect">
            <a:avLst/>
          </a:prstGeom>
          <a:noFill/>
        </p:spPr>
        <p:txBody>
          <a:bodyPr wrap="square" rtlCol="0">
            <a:spAutoFit/>
          </a:bodyPr>
          <a:lstStyle/>
          <a:p>
            <a:r>
              <a:rPr lang="en-US" altLang="zh-CN" sz="2800" b="1" dirty="0">
                <a:solidFill>
                  <a:schemeClr val="accent1"/>
                </a:solidFill>
                <a:latin typeface="+mn-ea"/>
                <a:cs typeface="Times New Roman" panose="02020603050405020304" pitchFamily="18" charset="0"/>
              </a:rPr>
              <a:t>Better Accuracy</a:t>
            </a:r>
            <a:endParaRPr lang="zh-CN" altLang="en-US" sz="2800" b="1" dirty="0">
              <a:solidFill>
                <a:schemeClr val="accent1"/>
              </a:solidFill>
              <a:latin typeface="+mn-ea"/>
              <a:cs typeface="Times New Roman" panose="02020603050405020304" pitchFamily="18" charset="0"/>
            </a:endParaRPr>
          </a:p>
        </p:txBody>
      </p:sp>
      <p:sp>
        <p:nvSpPr>
          <p:cNvPr id="7" name="文本框 6">
            <a:extLst>
              <a:ext uri="{FF2B5EF4-FFF2-40B4-BE49-F238E27FC236}">
                <a16:creationId xmlns:a16="http://schemas.microsoft.com/office/drawing/2014/main" id="{F2F4FE95-4201-F53F-BCC6-958C19891D4E}"/>
              </a:ext>
            </a:extLst>
          </p:cNvPr>
          <p:cNvSpPr txBox="1"/>
          <p:nvPr/>
        </p:nvSpPr>
        <p:spPr>
          <a:xfrm>
            <a:off x="1303920" y="5062968"/>
            <a:ext cx="3373396" cy="523220"/>
          </a:xfrm>
          <a:prstGeom prst="rect">
            <a:avLst/>
          </a:prstGeom>
          <a:noFill/>
        </p:spPr>
        <p:txBody>
          <a:bodyPr wrap="square" rtlCol="0">
            <a:spAutoFit/>
          </a:bodyPr>
          <a:lstStyle/>
          <a:p>
            <a:r>
              <a:rPr lang="en-US" altLang="zh-CN" sz="2800" b="1" dirty="0">
                <a:solidFill>
                  <a:schemeClr val="accent1"/>
                </a:solidFill>
                <a:latin typeface="+mn-ea"/>
                <a:cs typeface="Times New Roman" panose="02020603050405020304" pitchFamily="18" charset="0"/>
              </a:rPr>
              <a:t>Further Research</a:t>
            </a:r>
            <a:endParaRPr lang="zh-CN" altLang="en-US" sz="2800" b="1" dirty="0">
              <a:solidFill>
                <a:schemeClr val="accent1"/>
              </a:solidFill>
              <a:latin typeface="+mn-ea"/>
              <a:cs typeface="Times New Roman" panose="02020603050405020304" pitchFamily="18" charset="0"/>
            </a:endParaRPr>
          </a:p>
        </p:txBody>
      </p:sp>
      <p:sp>
        <p:nvSpPr>
          <p:cNvPr id="8" name="文本框 7">
            <a:extLst>
              <a:ext uri="{FF2B5EF4-FFF2-40B4-BE49-F238E27FC236}">
                <a16:creationId xmlns:a16="http://schemas.microsoft.com/office/drawing/2014/main" id="{6F1EDAFF-B9BF-D929-3BF1-CB87F1D951B3}"/>
              </a:ext>
            </a:extLst>
          </p:cNvPr>
          <p:cNvSpPr txBox="1"/>
          <p:nvPr/>
        </p:nvSpPr>
        <p:spPr>
          <a:xfrm>
            <a:off x="8141554" y="3052441"/>
            <a:ext cx="3373396" cy="954107"/>
          </a:xfrm>
          <a:prstGeom prst="rect">
            <a:avLst/>
          </a:prstGeom>
          <a:noFill/>
        </p:spPr>
        <p:txBody>
          <a:bodyPr wrap="square" rtlCol="0">
            <a:spAutoFit/>
          </a:bodyPr>
          <a:lstStyle/>
          <a:p>
            <a:r>
              <a:rPr lang="en-US" altLang="zh-CN" sz="2800" b="1" dirty="0">
                <a:solidFill>
                  <a:schemeClr val="accent1"/>
                </a:solidFill>
                <a:latin typeface="+mn-ea"/>
                <a:cs typeface="Times New Roman" panose="02020603050405020304" pitchFamily="18" charset="0"/>
              </a:rPr>
              <a:t>Attack Chain Reconstruction</a:t>
            </a:r>
            <a:endParaRPr lang="zh-CN" altLang="en-US" sz="2800" b="1" dirty="0">
              <a:solidFill>
                <a:schemeClr val="accent1"/>
              </a:solidFill>
              <a:latin typeface="+mn-ea"/>
              <a:cs typeface="Times New Roman" panose="02020603050405020304" pitchFamily="18" charset="0"/>
            </a:endParaRPr>
          </a:p>
        </p:txBody>
      </p:sp>
      <p:pic>
        <p:nvPicPr>
          <p:cNvPr id="15" name="图片 14">
            <a:extLst>
              <a:ext uri="{FF2B5EF4-FFF2-40B4-BE49-F238E27FC236}">
                <a16:creationId xmlns:a16="http://schemas.microsoft.com/office/drawing/2014/main" id="{E6B6CBFD-B3B8-1E62-563F-3C1C1C54FC7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43508" y="2446084"/>
            <a:ext cx="848498" cy="848498"/>
          </a:xfrm>
          <a:prstGeom prst="rect">
            <a:avLst/>
          </a:prstGeom>
        </p:spPr>
      </p:pic>
      <p:pic>
        <p:nvPicPr>
          <p:cNvPr id="16" name="图片 15">
            <a:extLst>
              <a:ext uri="{FF2B5EF4-FFF2-40B4-BE49-F238E27FC236}">
                <a16:creationId xmlns:a16="http://schemas.microsoft.com/office/drawing/2014/main" id="{0ABA377A-D028-4F1E-A826-7C12387A58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666452" y="3079925"/>
            <a:ext cx="848498" cy="848498"/>
          </a:xfrm>
          <a:prstGeom prst="rect">
            <a:avLst/>
          </a:prstGeom>
        </p:spPr>
      </p:pic>
      <p:sp>
        <p:nvSpPr>
          <p:cNvPr id="17" name="文本框 16">
            <a:extLst>
              <a:ext uri="{FF2B5EF4-FFF2-40B4-BE49-F238E27FC236}">
                <a16:creationId xmlns:a16="http://schemas.microsoft.com/office/drawing/2014/main" id="{136D764C-F412-9B35-560D-9C34A745AF7E}"/>
              </a:ext>
            </a:extLst>
          </p:cNvPr>
          <p:cNvSpPr txBox="1"/>
          <p:nvPr/>
        </p:nvSpPr>
        <p:spPr>
          <a:xfrm>
            <a:off x="1390167" y="5855170"/>
            <a:ext cx="10570825" cy="523220"/>
          </a:xfrm>
          <a:prstGeom prst="rect">
            <a:avLst/>
          </a:prstGeom>
          <a:noFill/>
        </p:spPr>
        <p:txBody>
          <a:bodyPr wrap="square" rtlCol="0">
            <a:spAutoFit/>
          </a:bodyPr>
          <a:lstStyle/>
          <a:p>
            <a:r>
              <a:rPr lang="en-US" altLang="zh-CN" sz="2800" b="1" dirty="0">
                <a:solidFill>
                  <a:schemeClr val="accent1"/>
                </a:solidFill>
                <a:latin typeface="+mn-ea"/>
                <a:cs typeface="Times New Roman" panose="02020603050405020304" pitchFamily="18" charset="0"/>
              </a:rPr>
              <a:t>《IEEE Transactions on Information Forensics &amp; Security (TIFS)》</a:t>
            </a:r>
            <a:endParaRPr lang="zh-CN" altLang="en-US" sz="2800" b="1" dirty="0">
              <a:solidFill>
                <a:schemeClr val="accent1"/>
              </a:solidFill>
              <a:latin typeface="+mn-ea"/>
              <a:cs typeface="Times New Roman" panose="02020603050405020304" pitchFamily="18" charset="0"/>
            </a:endParaRPr>
          </a:p>
        </p:txBody>
      </p:sp>
    </p:spTree>
    <p:extLst>
      <p:ext uri="{BB962C8B-B14F-4D97-AF65-F5344CB8AC3E}">
        <p14:creationId xmlns:p14="http://schemas.microsoft.com/office/powerpoint/2010/main" val="2246323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latin typeface="+mn-ea"/>
                <a:ea typeface="+mn-ea"/>
              </a:rPr>
              <a:t>Thanks</a:t>
            </a:r>
            <a:r>
              <a:rPr lang="zh-CN" altLang="en-US" dirty="0">
                <a:latin typeface="+mn-ea"/>
                <a:ea typeface="+mn-ea"/>
              </a:rPr>
              <a:t>！</a:t>
            </a:r>
          </a:p>
        </p:txBody>
      </p:sp>
    </p:spTree>
    <p:extLst>
      <p:ext uri="{BB962C8B-B14F-4D97-AF65-F5344CB8AC3E}">
        <p14:creationId xmlns:p14="http://schemas.microsoft.com/office/powerpoint/2010/main" val="1362973645"/>
      </p:ext>
    </p:extLst>
  </p:cSld>
  <p:clrMapOvr>
    <a:masterClrMapping/>
  </p:clrMapOvr>
</p:sld>
</file>

<file path=ppt/theme/theme1.xml><?xml version="1.0" encoding="utf-8"?>
<a:theme xmlns:a="http://schemas.openxmlformats.org/drawingml/2006/main" name="2016-VI主题-蓝">
  <a:themeElements>
    <a:clrScheme name="VI蓝色版">
      <a:dk1>
        <a:srgbClr val="000000"/>
      </a:dk1>
      <a:lt1>
        <a:srgbClr val="FFFFFF"/>
      </a:lt1>
      <a:dk2>
        <a:srgbClr val="BD9F68"/>
      </a:dk2>
      <a:lt2>
        <a:srgbClr val="B5B5B6"/>
      </a:lt2>
      <a:accent1>
        <a:srgbClr val="004098"/>
      </a:accent1>
      <a:accent2>
        <a:srgbClr val="0086D1"/>
      </a:accent2>
      <a:accent3>
        <a:srgbClr val="338D27"/>
      </a:accent3>
      <a:accent4>
        <a:srgbClr val="00514E"/>
      </a:accent4>
      <a:accent5>
        <a:srgbClr val="FDD000"/>
      </a:accent5>
      <a:accent6>
        <a:srgbClr val="F08300"/>
      </a:accent6>
      <a:hlink>
        <a:srgbClr val="B5B5B6"/>
      </a:hlink>
      <a:folHlink>
        <a:srgbClr val="BD9F68"/>
      </a:folHlink>
    </a:clrScheme>
    <a:fontScheme name="自定义 7">
      <a:majorFont>
        <a:latin typeface="等线"/>
        <a:ea typeface="等线"/>
        <a:cs typeface=""/>
      </a:majorFont>
      <a:minorFont>
        <a:latin typeface="等线 Light"/>
        <a:ea typeface="等线"/>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SJTU_Academic_16_9.potx" id="{1327D9DD-2B95-432F-9037-D619142060AB}" vid="{28352941-707B-475C-B522-029A3AD0C3E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答辩ppt</Template>
  <TotalTime>751</TotalTime>
  <Words>6542</Words>
  <Application>Microsoft Office PowerPoint</Application>
  <PresentationFormat>宽屏</PresentationFormat>
  <Paragraphs>417</Paragraphs>
  <Slides>30</Slides>
  <Notes>23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30</vt:i4>
      </vt:variant>
    </vt:vector>
  </HeadingPairs>
  <TitlesOfParts>
    <vt:vector size="38" baseType="lpstr">
      <vt:lpstr>等线</vt:lpstr>
      <vt:lpstr>等线 Light</vt:lpstr>
      <vt:lpstr>微软雅黑</vt:lpstr>
      <vt:lpstr>Arial</vt:lpstr>
      <vt:lpstr>Calibri</vt:lpstr>
      <vt:lpstr>Cambria Math</vt:lpstr>
      <vt:lpstr>Times New Roman</vt:lpstr>
      <vt:lpstr>2016-VI主题-蓝</vt:lpstr>
      <vt:lpstr>Multi-alert Correlation in Intrusion Detection System</vt:lpstr>
      <vt:lpstr>Contents</vt:lpstr>
      <vt:lpstr>Contents</vt:lpstr>
      <vt:lpstr>Research Background</vt:lpstr>
      <vt:lpstr>Current Research</vt:lpstr>
      <vt:lpstr>Sticking Points</vt:lpstr>
      <vt:lpstr>Research Goal</vt:lpstr>
      <vt:lpstr>Contents</vt:lpstr>
      <vt:lpstr>Nexus</vt:lpstr>
      <vt:lpstr>Host-detect</vt:lpstr>
      <vt:lpstr>Host-detect: Graph_construct</vt:lpstr>
      <vt:lpstr>Host-detect: GMAE+GAT</vt:lpstr>
      <vt:lpstr>Host-detect: KNN Detection</vt:lpstr>
      <vt:lpstr>Net-detect</vt:lpstr>
      <vt:lpstr>Net-detect: FastText</vt:lpstr>
      <vt:lpstr>Net-detect: Preprocess</vt:lpstr>
      <vt:lpstr>Net-detect: VAE &amp; Evaluation</vt:lpstr>
      <vt:lpstr>Multi-source</vt:lpstr>
      <vt:lpstr>Investigate</vt:lpstr>
      <vt:lpstr>Contents</vt:lpstr>
      <vt:lpstr>DARPA-OPTC</vt:lpstr>
      <vt:lpstr>Result：Accuracy</vt:lpstr>
      <vt:lpstr>Result：Time cost &amp; Comparison</vt:lpstr>
      <vt:lpstr>Contents</vt:lpstr>
      <vt:lpstr>STP-Algorithm</vt:lpstr>
      <vt:lpstr>Time-cost</vt:lpstr>
      <vt:lpstr>Dataset</vt:lpstr>
      <vt:lpstr>Contents</vt:lpstr>
      <vt:lpstr>Conclusion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景韬 陈</dc:creator>
  <cp:lastModifiedBy>佳航 吴</cp:lastModifiedBy>
  <cp:revision>95</cp:revision>
  <dcterms:created xsi:type="dcterms:W3CDTF">2025-10-04T06:18:48Z</dcterms:created>
  <dcterms:modified xsi:type="dcterms:W3CDTF">2025-10-09T13:48:03Z</dcterms:modified>
</cp:coreProperties>
</file>